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pitch. Hold for a beat. 'This is TARS. Cursor solved coding. We're doing it for everything else — wealth, health, business, creative work. One install on your Mac. Voice or chat. Local-first, so your data never has to leave the box. Every consequential action emits a cryptographic receipt anchored on Solana. Billed through meeet.world, my brother's domain. v10.0 release candidate is on the laptop in front of you. We ship general availability tomorrow. The next twenty minutes show you why this is a different shape of product than ChatGPT, Cursor, or Claude Desktop.'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emotional hook. 'How many AI tabs do you have open right now? Be honest.' Pause. 'Mine is twelve. None of them talk to each other. None of them remember what I told the other one five minutes ago. None of them actually do things — they all just tell me how I could do things. Cursor fixed this. For engineers. Inside an IDE. The other eighty percent of my day — running my fund, managing my health, the family calendar — is still ChatGPT-tab-soup. And when an agent finally does take an action, I have no way to prove it actually happened.'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Vision slide. Speak slowly. 'What if you had a Cursor for investing? For your health? For your business? For creative work, civic engagement, family logistics, research? Same cockpit shape, different vocabulary, all on your machine. That's TARS. Seven domain packs shipped today: wealth, health, business, entrepreneur, research, civic — civic is free for every tier because public-records access shouldn't be paywalled — and creative. Each pack knows the vocabulary, the obvious next move, the connectors that matter. Not ask-me-anything. Domain-aware.'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pillars. Read them in order, the order matters. 'Voice-first because the cockpit is ambient — you don't open it, you summon it. Local-first because regulated industries can't send data to OpenAI by default and most of us would prefer not to either. Receipt-anchored because action-taking agents must be auditable; this is the missing primitive. And meeet.world-native because identity and money need a substrate, and my brother runs exactly that substrate. Four pillars, one cockpit. Every feature we ship has to pass all four checks.'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Stop. Take a breath. Make eye contact. 'OK — slides are useful, but you came to see whether the thing works. Let me show you.' Switch to the TARS.app window. Make sure the sidecar dot is green. Make sure the monolith is breathing — that one cyan-violet light strip slowly pulsing. If anything looks frozen, hit Cmd+Shift+Space to refocus. The next slide is the runbook in case something dies. If everything is healthy, hit the global shortcut and start the voice command. The clock starts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Verbal script for the demo. Beat 1: 'Cmd+Shift+Space — and you can see the monolith come alive.' Pause for the breath. Beat 2: say the command verbatim — 'Compose a thank-you to last week's investors.' Don't improvise the phrase, the STT is trained on this one. Beat 3: 'See how the Composer knows the Entrepreneur pack vocabulary — the diff is already written for that audience.' Beat 4: hit Accept, point at Gmail in another window: 'real draft, real OAuth, no mocks.' Beat 5: open Audit. 'Receipt is live and Merkle-chained. Tomorrow it anchors on Solana.'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credibility slide. Walk left to right. 'TARS.app is a Tauri 2 desktop wrapper — Rust shell, web frontend. It talks exclusively to a Python FastAPI sidecar on localhost 8765 — fifty routers, SQLite plus sqlite-vec for the vector index, everything on disk. The sidecar talks to meeet.world for identity, billing, and the $MEEET economy — that's the one cloud surface. From meeet.world we batch daily Merkle roots to Solana as memos. LLM providers are pluggable — Anthropic, OpenAI, OpenRouter, local Ollama, or bring your own key. No vendor lock-in by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vs the competitor everyone knows. 'Cursor is the closest analogue. So we measured. Fifteen capabilities — composer, codebase index, at-mentions, MCP servers, model switcher, usage console, magic-link, privacy mode — that's Cursor parity, shipped. Below the fold, ten things Cursor structurally cannot ship without redirecting their product: voice cockpit, hash-chained receipts, Solana anchor, seven life-domain packs, the meeet.world economy. We play the broader board. Cursor plays the deeper board. The gap matters: regulated buyers, life-ops buyers, on-chain buyers — none of those addressable to Cursor.'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is the moat slide. Walk it fast — these are five sentences. 'One: voice-driven Composer. Two: receipt-anchored audit and the Solana proof — this is the answer to the regulator and the partner asking did the agent really do that. Three: SOC2 + GDPR. Four: seven life-domain packs — Cursor cannot ship a wealth pack without leaving the IDE and disowning their distribution. Five: $MEEET. Each of these is structural, not a roadmap item. Cursor can't ship any of them in twelve months without disowning their core.' Land the line, then go to pricing.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model. Four streams. 'Self-serve subscriptions — $20/mo PRO, $40/seat BUSINESS. Same shape Cursor uses, same shape the market underwrites without question. Alternative payment in $MEEET at a 10% discount — drives ecosystem usage, reduces CAC in the crypto-native segment, never mandatory. On-prem licensing at $1k-plus per seat per month for regulated buyers — highest LTV stream we can charge enterprise-SaaS rates on. And the marketplace, opening v10.5 — we take 30% on third-party skills. Every line on the receipt flow on the right is shipped today.'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Enterprise revenue thesis. 'This is the slide that moves the room if your investor cares about ARR. Cursor is locked out of regulated buyers by design — VS Code fork in a cloud-default posture is a non-starter for a hedge fund's IT review. We ship SOC2 Type II posture today — the readiness doc, the GDPR exporter, the BAA-ready stance, the audit log, and the compliance bundle export. On-prem licensing at $1k-plus per seat-month is the highest-LTV stream. Four buyer segments — funds, healthcare, legal, government — each one a Cursor-blind spot. Three are already in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surfaces. Replace these four placeholders with real screenshots from TARS.app the morning of the demo — they will kill the live deck if they're stale. Capture order: one, the monolith in listening state with the cyan-violet strip visible; two, Audit Explorer with at least one receipt visible plus the Solana TX hash badge; three, the Composer panel with an actual diff in view; four, the Usage tab showing the live token meter and the $MEEET balance. Same crop, same dark theme. Don't show any dev-tools overlay. Capture at 2x then scale for retina.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development as proof of velocity and trust. 'Fifty-three commits between W203 and W269. Roughly thirty-three thousand lines of code. Fifty FastAPI routers. Everything in main. No private repo, no hidden branch — investors and partners can read every line. The receipt primitive is not a marketing claim; it is wired into the orchestrator and visible at github dot com slash alienram slash jarvis. The MIT license on the backend means an on-prem buyer can audit the substrate and fork it if we ever stop being trustworthy. That is the offer.'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we're going. Read the headline themes, not the dates. 'v10.0 ships tomorrow. v10.1 is polish — mobile companion, performance, full five-language i18n. v10.2 opens the marketplace, third parties publishing skills with 70/30 payouts on Solana. v10.5 is the B2B push — workshop cohort dashboard, on-prem deployments at fund-sized contracts. v10.8 lights up federation — agent-to-agent handshake across TARS instances. v11.0 is the inflection: always-on agentic substrate. Not a chat surface — the OS layer for agentic work. This is the eighteen-month bridge.'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 'My brother runs meeet.world. It's not a vendor relationship — it's a coordinated build. He owns identity, billing, the $MEEET token economy, and the marketplace ledger. TARS owns the cockpit and the receipt primitive. Eight endpoints shape the contract — all eight wired on the TARS side, four still in test on his side. Live billing flips on in two weeks. The bigger story: meeet.world becomes the universal substrate for any agent-action product that needs identity, balance, compliance telemetry. We're the first tenant. Not the last.'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momentum, not vanity metrics. Replace the 200 waitlist number with the live count the morning of the pitch — pull from the production dashboard. Replace 3 on-prem leads with whatever is qualified that day. Speak the story: 'v10.0 GA ships tomorrow. Two hundred verified waitlist signups, three warm on-prem leads — a fund, a healthcare org, a civic-tech buyer. What matters more than absolute numbers is velocity: 267 commits in ten months, by one founder running an AI orchestra. Same discipline scales the next 18 months.'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Capital efficiency story. 'This is a tiny team by design. One founder. One brother running the adjacent substrate. An AI orchestra — Claude and Cursor — that we manage like an offshore team. The structure is the story. We built v10 GA, with audit trails and on-prem deployment, at the headcount of a typical seed-stage team that shipped half as much. Series A funds the next layer — distribution, sales, brother's runway, and three first hires. Not engineering — the engineering is already a compounding asset.'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Three specific things. 'We're not raising a round in this meeting — we're asking for the things that compound. One: three design partners for the v10.1 cohort. If you know a fund, a healthcare org, or a civic-tech buyer where receipts move a compliance conversation, introduce us. Two: two on-prem pilots at thousand-dollar-per-seat. Six months, white glove. Three: $MEEET pre-orders at the launch peg — opt-in, never mandatory. Optional but it funds my brother's runway and seeds the ecosystem. Those are the three asks. Series A conversation happens after T+30 traction.'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PRESENTER-ONLY slide. Hide before live delivery — File &gt; Slide Properties &gt; Hidden. If you forget to hide it, no disaster: the answers are honest and concise. Anchor every answer to one of the five lines on the slide rather than improvising. Practiced version: Cursor objection answered first, $MEEET regulatory answered cleanest. Don't speak more than ten seconds per answer in live Q&amp;A — let the room ask follow-ups instead.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word. Pause. Make eye contact across the room. 'Cursor did this for code. We're doing this for everything else. v10 ships tomorrow. We'd love to find out together what an AI cockpit looks like when it owns the whole desk, not just the editor. The contact line is on the screen — email, the brother's domain, the open repository. Thank you.' Then stop talking. Don't fill the silence. Let the room respond. The first question is the one to listen to most carefully — it tells you what the room actually heard.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8572" y="1051560"/>
            <a:ext cx="1331366" cy="4754880"/>
          </a:xfrm>
          <a:prstGeom prst="rect">
            <a:avLst/>
          </a:prstGeom>
          <a:solidFill>
            <a:srgbClr val="050509"/>
          </a:solidFill>
          <a:ln w="12700">
            <a:solidFill>
              <a:srgbClr val="1A1F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34373" y="1431950"/>
            <a:ext cx="159763" cy="199704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734373" y="3524097"/>
            <a:ext cx="159763" cy="190195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02852" y="3392424"/>
            <a:ext cx="1422806"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985455" y="1600200"/>
            <a:ext cx="3657600" cy="3657600"/>
          </a:xfrm>
          <a:prstGeom prst="ellipse">
            <a:avLst/>
          </a:prstGeom>
          <a:noFill/>
          <a:ln w="9525">
            <a:solidFill>
              <a:srgbClr val="3336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28255" y="1143000"/>
            <a:ext cx="4572000" cy="4572000"/>
          </a:xfrm>
          <a:prstGeom prst="ellipse">
            <a:avLst/>
          </a:prstGeom>
          <a:noFill/>
          <a:ln w="6350">
            <a:solidFill>
              <a:srgbClr val="222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731520"/>
            <a:ext cx="36576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TARS  ·  v10.0.0-rc.1</a:t>
            </a:r>
          </a:p>
        </p:txBody>
      </p:sp>
      <p:sp>
        <p:nvSpPr>
          <p:cNvPr id="12" name="TextBox 11"/>
          <p:cNvSpPr txBox="1"/>
          <p:nvPr/>
        </p:nvSpPr>
        <p:spPr>
          <a:xfrm>
            <a:off x="548640" y="1280160"/>
            <a:ext cx="7315200" cy="2377440"/>
          </a:xfrm>
          <a:prstGeom prst="rect">
            <a:avLst/>
          </a:prstGeom>
          <a:noFill/>
        </p:spPr>
        <p:txBody>
          <a:bodyPr wrap="square" lIns="45720" rIns="45720" tIns="18288" bIns="18288" anchor="t">
            <a:spAutoFit/>
          </a:bodyPr>
          <a:lstStyle/>
          <a:p>
            <a:pPr algn="l">
              <a:lnSpc>
                <a:spcPct val="115000"/>
              </a:lnSpc>
            </a:pPr>
            <a:r>
              <a:rPr sz="14000" b="1" i="0">
                <a:solidFill>
                  <a:srgbClr val="FFFFFF"/>
                </a:solidFill>
                <a:latin typeface="Calibri"/>
              </a:rPr>
              <a:t>TARS</a:t>
            </a:r>
          </a:p>
        </p:txBody>
      </p:sp>
      <p:sp>
        <p:nvSpPr>
          <p:cNvPr id="13" name="TextBox 12"/>
          <p:cNvSpPr txBox="1"/>
          <p:nvPr/>
        </p:nvSpPr>
        <p:spPr>
          <a:xfrm>
            <a:off x="731520" y="3703320"/>
            <a:ext cx="7680960" cy="457200"/>
          </a:xfrm>
          <a:prstGeom prst="rect">
            <a:avLst/>
          </a:prstGeom>
          <a:noFill/>
        </p:spPr>
        <p:txBody>
          <a:bodyPr wrap="square" lIns="45720" rIns="45720" tIns="18288" bIns="18288" anchor="t">
            <a:spAutoFit/>
          </a:bodyPr>
          <a:lstStyle/>
          <a:p>
            <a:pPr algn="l">
              <a:lnSpc>
                <a:spcPct val="120000"/>
              </a:lnSpc>
            </a:pPr>
            <a:r>
              <a:rPr sz="2200" b="1" i="0">
                <a:solidFill>
                  <a:srgbClr val="FFFFFF"/>
                </a:solidFill>
                <a:latin typeface="Calibri"/>
              </a:rPr>
              <a:t>AI cockpit </a:t>
            </a:r>
            <a:r>
              <a:rPr sz="2200" b="1" i="1">
                <a:solidFill>
                  <a:srgbClr val="8B5CF6"/>
                </a:solidFill>
                <a:latin typeface="Calibri"/>
              </a:rPr>
              <a:t>for everything not code.</a:t>
            </a:r>
          </a:p>
        </p:txBody>
      </p:sp>
      <p:sp>
        <p:nvSpPr>
          <p:cNvPr id="14" name="TextBox 13"/>
          <p:cNvSpPr txBox="1"/>
          <p:nvPr/>
        </p:nvSpPr>
        <p:spPr>
          <a:xfrm>
            <a:off x="731520" y="4343400"/>
            <a:ext cx="7680960" cy="1371600"/>
          </a:xfrm>
          <a:prstGeom prst="rect">
            <a:avLst/>
          </a:prstGeom>
          <a:noFill/>
        </p:spPr>
        <p:txBody>
          <a:bodyPr wrap="square" lIns="45720" rIns="45720" tIns="18288" bIns="18288" anchor="t">
            <a:spAutoFit/>
          </a:bodyPr>
          <a:lstStyle/>
          <a:p>
            <a:pPr algn="l">
              <a:lnSpc>
                <a:spcPct val="140000"/>
              </a:lnSpc>
            </a:pPr>
            <a:r>
              <a:rPr sz="1700" b="0" i="0">
                <a:solidFill>
                  <a:srgbClr val="CBD5E1"/>
                </a:solidFill>
                <a:latin typeface="Calibri"/>
              </a:rPr>
              <a:t>Local-first. Voice-native. Receipt-anchored.</a:t>
            </a:r>
          </a:p>
          <a:p>
            <a:pPr algn="l">
              <a:lnSpc>
                <a:spcPct val="140000"/>
              </a:lnSpc>
            </a:pPr>
            <a:r>
              <a:rPr sz="1700" b="0" i="0">
                <a:solidFill>
                  <a:srgbClr val="CBD5E1"/>
                </a:solidFill>
                <a:latin typeface="Calibri"/>
              </a:rPr>
              <a:t>Billed through meeet.world.</a:t>
            </a:r>
          </a:p>
        </p:txBody>
      </p:sp>
      <p:sp>
        <p:nvSpPr>
          <p:cNvPr id="15" name="Rounded Rectangle 14"/>
          <p:cNvSpPr/>
          <p:nvPr/>
        </p:nvSpPr>
        <p:spPr>
          <a:xfrm>
            <a:off x="731520" y="5577840"/>
            <a:ext cx="3383280" cy="457200"/>
          </a:xfrm>
          <a:prstGeom prst="roundRect">
            <a:avLst>
              <a:gd name="adj" fmla="val 10000"/>
            </a:avLst>
          </a:prstGeom>
          <a:solidFill>
            <a:srgbClr val="0D111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605272"/>
            <a:ext cx="3383280" cy="365760"/>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  v10.0.0-rc.1  ·  ships tomorrow</a:t>
            </a:r>
          </a:p>
        </p:txBody>
      </p:sp>
      <p:sp>
        <p:nvSpPr>
          <p:cNvPr id="17" name="TextBox 16"/>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18" name="TextBox 17"/>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THE PROBLEM</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4200" b="1" i="0">
                <a:solidFill>
                  <a:srgbClr val="FFFFFF"/>
                </a:solidFill>
                <a:latin typeface="Calibri"/>
              </a:rPr>
              <a:t>Cursor solved coding.</a:t>
            </a:r>
          </a:p>
        </p:txBody>
      </p:sp>
      <p:sp>
        <p:nvSpPr>
          <p:cNvPr id="7" name="TextBox 6"/>
          <p:cNvSpPr txBox="1"/>
          <p:nvPr/>
        </p:nvSpPr>
        <p:spPr>
          <a:xfrm>
            <a:off x="548640" y="1417320"/>
            <a:ext cx="10972800" cy="640080"/>
          </a:xfrm>
          <a:prstGeom prst="rect">
            <a:avLst/>
          </a:prstGeom>
          <a:noFill/>
        </p:spPr>
        <p:txBody>
          <a:bodyPr wrap="square" lIns="45720" rIns="45720" tIns="18288" bIns="18288" anchor="t">
            <a:spAutoFit/>
          </a:bodyPr>
          <a:lstStyle/>
          <a:p>
            <a:pPr algn="l">
              <a:lnSpc>
                <a:spcPct val="115000"/>
              </a:lnSpc>
            </a:pPr>
            <a:r>
              <a:rPr sz="3400" b="1" i="1">
                <a:solidFill>
                  <a:srgbClr val="8B5CF6"/>
                </a:solidFill>
                <a:latin typeface="Calibri"/>
              </a:rPr>
              <a:t>The rest of your life is still ChatGPT tabs.</a:t>
            </a:r>
          </a:p>
        </p:txBody>
      </p:sp>
      <p:sp>
        <p:nvSpPr>
          <p:cNvPr id="8" name="Rounded Rectangle 7"/>
          <p:cNvSpPr/>
          <p:nvPr/>
        </p:nvSpPr>
        <p:spPr>
          <a:xfrm>
            <a:off x="548640" y="2606040"/>
            <a:ext cx="3611880" cy="333756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834640"/>
            <a:ext cx="91440" cy="914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807208"/>
            <a:ext cx="3063240" cy="274320"/>
          </a:xfrm>
          <a:prstGeom prst="rect">
            <a:avLst/>
          </a:prstGeom>
          <a:noFill/>
        </p:spPr>
        <p:txBody>
          <a:bodyPr wrap="square" lIns="45720" rIns="45720" tIns="18288" bIns="18288" anchor="t">
            <a:spAutoFit/>
          </a:bodyPr>
          <a:lstStyle/>
          <a:p>
            <a:pPr algn="l">
              <a:lnSpc>
                <a:spcPct val="115000"/>
              </a:lnSpc>
            </a:pPr>
            <a:r>
              <a:rPr sz="1000" b="1" i="0">
                <a:solidFill>
                  <a:srgbClr val="06B6D4"/>
                </a:solidFill>
                <a:latin typeface="Consolas"/>
              </a:rPr>
              <a:t>FRICTION</a:t>
            </a:r>
          </a:p>
        </p:txBody>
      </p:sp>
      <p:sp>
        <p:nvSpPr>
          <p:cNvPr id="11" name="TextBox 10"/>
          <p:cNvSpPr txBox="1"/>
          <p:nvPr/>
        </p:nvSpPr>
        <p:spPr>
          <a:xfrm>
            <a:off x="822960" y="3200400"/>
            <a:ext cx="306324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7-12 AI tabs.</a:t>
            </a:r>
          </a:p>
          <a:p>
            <a:pPr algn="l">
              <a:lnSpc>
                <a:spcPct val="115000"/>
              </a:lnSpc>
            </a:pPr>
            <a:r>
              <a:rPr sz="2000" b="1" i="0">
                <a:solidFill>
                  <a:srgbClr val="FFFFFF"/>
                </a:solidFill>
                <a:latin typeface="Calibri"/>
              </a:rPr>
              <a:t>Zero memory.</a:t>
            </a:r>
          </a:p>
        </p:txBody>
      </p:sp>
      <p:sp>
        <p:nvSpPr>
          <p:cNvPr id="12" name="TextBox 11"/>
          <p:cNvSpPr txBox="1"/>
          <p:nvPr/>
        </p:nvSpPr>
        <p:spPr>
          <a:xfrm>
            <a:off x="822960" y="3703320"/>
            <a:ext cx="3063240" cy="214884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ChatGPT in one tab. Claude in another. Gemini, Notion AI, Linear AI, Granola, the calendar copilot. None of them remember context across tools. None of them take action — they're all chat surfaces.</a:t>
            </a:r>
          </a:p>
        </p:txBody>
      </p:sp>
      <p:sp>
        <p:nvSpPr>
          <p:cNvPr id="13" name="Rounded Rectangle 12"/>
          <p:cNvSpPr/>
          <p:nvPr/>
        </p:nvSpPr>
        <p:spPr>
          <a:xfrm>
            <a:off x="4315968" y="2606040"/>
            <a:ext cx="3611880" cy="333756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44568" y="2834640"/>
            <a:ext cx="91440" cy="91440"/>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27448" y="2807208"/>
            <a:ext cx="3063240" cy="274320"/>
          </a:xfrm>
          <a:prstGeom prst="rect">
            <a:avLst/>
          </a:prstGeom>
          <a:noFill/>
        </p:spPr>
        <p:txBody>
          <a:bodyPr wrap="square" lIns="45720" rIns="45720" tIns="18288" bIns="18288" anchor="t">
            <a:spAutoFit/>
          </a:bodyPr>
          <a:lstStyle/>
          <a:p>
            <a:pPr algn="l">
              <a:lnSpc>
                <a:spcPct val="115000"/>
              </a:lnSpc>
            </a:pPr>
            <a:r>
              <a:rPr sz="1000" b="1" i="0">
                <a:solidFill>
                  <a:srgbClr val="8B5CF6"/>
                </a:solidFill>
                <a:latin typeface="Consolas"/>
              </a:rPr>
              <a:t>LOCK-IN</a:t>
            </a:r>
          </a:p>
        </p:txBody>
      </p:sp>
      <p:sp>
        <p:nvSpPr>
          <p:cNvPr id="16" name="TextBox 15"/>
          <p:cNvSpPr txBox="1"/>
          <p:nvPr/>
        </p:nvSpPr>
        <p:spPr>
          <a:xfrm>
            <a:off x="4590288" y="3200400"/>
            <a:ext cx="306324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Cursor is for devs.</a:t>
            </a:r>
          </a:p>
          <a:p>
            <a:pPr algn="l">
              <a:lnSpc>
                <a:spcPct val="115000"/>
              </a:lnSpc>
            </a:pPr>
            <a:r>
              <a:rPr sz="2000" b="1" i="0">
                <a:solidFill>
                  <a:srgbClr val="FFFFFF"/>
                </a:solidFill>
                <a:latin typeface="Calibri"/>
              </a:rPr>
              <a:t>Nothing else exists.</a:t>
            </a:r>
          </a:p>
        </p:txBody>
      </p:sp>
      <p:sp>
        <p:nvSpPr>
          <p:cNvPr id="17" name="TextBox 16"/>
          <p:cNvSpPr txBox="1"/>
          <p:nvPr/>
        </p:nvSpPr>
        <p:spPr>
          <a:xfrm>
            <a:off x="4590288" y="3703320"/>
            <a:ext cx="3063240" cy="214884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Cursor proved the cockpit shape works — for engineers, inside an IDE. The other 80% of knowledge work has no equivalent: investing, ops, legal, health, creative, civic — all stuck in chat.</a:t>
            </a:r>
          </a:p>
        </p:txBody>
      </p:sp>
      <p:sp>
        <p:nvSpPr>
          <p:cNvPr id="18" name="Rounded Rectangle 17"/>
          <p:cNvSpPr/>
          <p:nvPr/>
        </p:nvSpPr>
        <p:spPr>
          <a:xfrm>
            <a:off x="8083296" y="2606040"/>
            <a:ext cx="3611880" cy="333756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11896" y="2834640"/>
            <a:ext cx="91440" cy="91440"/>
          </a:xfrm>
          <a:prstGeom prst="roundRect">
            <a:avLst>
              <a:gd name="adj" fmla="val 1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94776" y="2807208"/>
            <a:ext cx="3063240" cy="274320"/>
          </a:xfrm>
          <a:prstGeom prst="rect">
            <a:avLst/>
          </a:prstGeom>
          <a:noFill/>
        </p:spPr>
        <p:txBody>
          <a:bodyPr wrap="square" lIns="45720" rIns="45720" tIns="18288" bIns="18288" anchor="t">
            <a:spAutoFit/>
          </a:bodyPr>
          <a:lstStyle/>
          <a:p>
            <a:pPr algn="l">
              <a:lnSpc>
                <a:spcPct val="115000"/>
              </a:lnSpc>
            </a:pPr>
            <a:r>
              <a:rPr sz="1000" b="1" i="0">
                <a:solidFill>
                  <a:srgbClr val="F43F5E"/>
                </a:solidFill>
                <a:latin typeface="Consolas"/>
              </a:rPr>
              <a:t>NO RECEIPTS</a:t>
            </a:r>
          </a:p>
        </p:txBody>
      </p:sp>
      <p:sp>
        <p:nvSpPr>
          <p:cNvPr id="21" name="TextBox 20"/>
          <p:cNvSpPr txBox="1"/>
          <p:nvPr/>
        </p:nvSpPr>
        <p:spPr>
          <a:xfrm>
            <a:off x="8357616" y="3200400"/>
            <a:ext cx="306324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'Did the agent really do that?'</a:t>
            </a:r>
          </a:p>
        </p:txBody>
      </p:sp>
      <p:sp>
        <p:nvSpPr>
          <p:cNvPr id="22" name="TextBox 21"/>
          <p:cNvSpPr txBox="1"/>
          <p:nvPr/>
        </p:nvSpPr>
        <p:spPr>
          <a:xfrm>
            <a:off x="8357616" y="3703320"/>
            <a:ext cx="3063240" cy="214884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Today the answer is 'check the screenshot.' No tampering detection, no third-party verification, no audit trail regulators or partners can trust. Agents act; nothing proves it.</a:t>
            </a:r>
          </a:p>
        </p:txBody>
      </p:sp>
      <p:sp>
        <p:nvSpPr>
          <p:cNvPr id="23" name="TextBox 22"/>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4" name="TextBox 23"/>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THE THESIS</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600" b="1" i="0">
                <a:solidFill>
                  <a:srgbClr val="FFFFFF"/>
                </a:solidFill>
                <a:latin typeface="Calibri"/>
              </a:rPr>
              <a:t>What if you had a Cursor for everything?</a:t>
            </a:r>
          </a:p>
        </p:txBody>
      </p:sp>
      <p:sp>
        <p:nvSpPr>
          <p:cNvPr id="7" name="TextBox 6"/>
          <p:cNvSpPr txBox="1"/>
          <p:nvPr/>
        </p:nvSpPr>
        <p:spPr>
          <a:xfrm>
            <a:off x="548640" y="1783080"/>
            <a:ext cx="10972800" cy="548640"/>
          </a:xfrm>
          <a:prstGeom prst="rect">
            <a:avLst/>
          </a:prstGeom>
          <a:noFill/>
        </p:spPr>
        <p:txBody>
          <a:bodyPr wrap="square" lIns="45720" rIns="45720" tIns="18288" bIns="18288" anchor="t">
            <a:spAutoFit/>
          </a:bodyPr>
          <a:lstStyle/>
          <a:p>
            <a:pPr algn="l">
              <a:lnSpc>
                <a:spcPct val="115000"/>
              </a:lnSpc>
            </a:pPr>
            <a:r>
              <a:rPr sz="1800" b="0" i="1">
                <a:solidFill>
                  <a:srgbClr val="CBD5E1"/>
                </a:solidFill>
                <a:latin typeface="Calibri"/>
              </a:rPr>
              <a:t>Investing.  Health.  Business.  Creative.  Civic.  Family.  Research.</a:t>
            </a:r>
          </a:p>
        </p:txBody>
      </p:sp>
      <p:sp>
        <p:nvSpPr>
          <p:cNvPr id="8" name="Hexagon 7"/>
          <p:cNvSpPr/>
          <p:nvPr/>
        </p:nvSpPr>
        <p:spPr>
          <a:xfrm>
            <a:off x="3261207" y="3086100"/>
            <a:ext cx="1417320" cy="1417320"/>
          </a:xfrm>
          <a:prstGeom prst="hexagon">
            <a:avLst/>
          </a:prstGeom>
          <a:solidFill>
            <a:srgbClr val="131826"/>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61207" y="359359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WEALTH</a:t>
            </a:r>
          </a:p>
        </p:txBody>
      </p:sp>
      <p:sp>
        <p:nvSpPr>
          <p:cNvPr id="10" name="TextBox 9"/>
          <p:cNvSpPr txBox="1"/>
          <p:nvPr/>
        </p:nvSpPr>
        <p:spPr>
          <a:xfrm>
            <a:off x="3261207" y="384048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F59E0B"/>
                </a:solidFill>
                <a:latin typeface="Consolas"/>
              </a:rPr>
              <a:t>balance/anchor</a:t>
            </a:r>
          </a:p>
        </p:txBody>
      </p:sp>
      <p:sp>
        <p:nvSpPr>
          <p:cNvPr id="11" name="Hexagon 10"/>
          <p:cNvSpPr/>
          <p:nvPr/>
        </p:nvSpPr>
        <p:spPr>
          <a:xfrm>
            <a:off x="4678527" y="3086100"/>
            <a:ext cx="1417320" cy="1417320"/>
          </a:xfrm>
          <a:prstGeom prst="hexagon">
            <a:avLst/>
          </a:prstGeom>
          <a:solidFill>
            <a:srgbClr val="131826"/>
          </a:solidFill>
          <a:ln w="19050">
            <a:solidFill>
              <a:srgbClr val="84C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8527" y="359359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HEALTH</a:t>
            </a:r>
          </a:p>
        </p:txBody>
      </p:sp>
      <p:sp>
        <p:nvSpPr>
          <p:cNvPr id="13" name="TextBox 12"/>
          <p:cNvSpPr txBox="1"/>
          <p:nvPr/>
        </p:nvSpPr>
        <p:spPr>
          <a:xfrm>
            <a:off x="4678527" y="384048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84CC16"/>
                </a:solidFill>
                <a:latin typeface="Consolas"/>
              </a:rPr>
              <a:t>vitals/coach</a:t>
            </a:r>
          </a:p>
        </p:txBody>
      </p:sp>
      <p:sp>
        <p:nvSpPr>
          <p:cNvPr id="14" name="Hexagon 13"/>
          <p:cNvSpPr/>
          <p:nvPr/>
        </p:nvSpPr>
        <p:spPr>
          <a:xfrm>
            <a:off x="6095847" y="3086100"/>
            <a:ext cx="1417320" cy="1417320"/>
          </a:xfrm>
          <a:prstGeom prst="hexagon">
            <a:avLst/>
          </a:prstGeom>
          <a:solidFill>
            <a:srgbClr val="131826"/>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5847" y="359359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BUSINESS</a:t>
            </a:r>
          </a:p>
        </p:txBody>
      </p:sp>
      <p:sp>
        <p:nvSpPr>
          <p:cNvPr id="16" name="TextBox 15"/>
          <p:cNvSpPr txBox="1"/>
          <p:nvPr/>
        </p:nvSpPr>
        <p:spPr>
          <a:xfrm>
            <a:off x="6095847" y="384048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06B6D4"/>
                </a:solidFill>
                <a:latin typeface="Consolas"/>
              </a:rPr>
              <a:t>kpi/brief</a:t>
            </a:r>
          </a:p>
        </p:txBody>
      </p:sp>
      <p:sp>
        <p:nvSpPr>
          <p:cNvPr id="17" name="Hexagon 16"/>
          <p:cNvSpPr/>
          <p:nvPr/>
        </p:nvSpPr>
        <p:spPr>
          <a:xfrm>
            <a:off x="7513167" y="3086100"/>
            <a:ext cx="1417320" cy="1417320"/>
          </a:xfrm>
          <a:prstGeom prst="hexagon">
            <a:avLst/>
          </a:prstGeom>
          <a:solidFill>
            <a:srgbClr val="131826"/>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13167" y="359359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ENTREPRENEUR</a:t>
            </a:r>
          </a:p>
        </p:txBody>
      </p:sp>
      <p:sp>
        <p:nvSpPr>
          <p:cNvPr id="19" name="TextBox 18"/>
          <p:cNvSpPr txBox="1"/>
          <p:nvPr/>
        </p:nvSpPr>
        <p:spPr>
          <a:xfrm>
            <a:off x="7513167" y="384048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8B5CF6"/>
                </a:solidFill>
                <a:latin typeface="Consolas"/>
              </a:rPr>
              <a:t>outreach/pipe</a:t>
            </a:r>
          </a:p>
        </p:txBody>
      </p:sp>
      <p:sp>
        <p:nvSpPr>
          <p:cNvPr id="20" name="Hexagon 19"/>
          <p:cNvSpPr/>
          <p:nvPr/>
        </p:nvSpPr>
        <p:spPr>
          <a:xfrm>
            <a:off x="3969867" y="4320540"/>
            <a:ext cx="1417320" cy="1417320"/>
          </a:xfrm>
          <a:prstGeom prst="hexagon">
            <a:avLst/>
          </a:prstGeom>
          <a:solidFill>
            <a:srgbClr val="131826"/>
          </a:solidFill>
          <a:ln w="1905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69867" y="482803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RESEARCH</a:t>
            </a:r>
          </a:p>
        </p:txBody>
      </p:sp>
      <p:sp>
        <p:nvSpPr>
          <p:cNvPr id="22" name="TextBox 21"/>
          <p:cNvSpPr txBox="1"/>
          <p:nvPr/>
        </p:nvSpPr>
        <p:spPr>
          <a:xfrm>
            <a:off x="3969867" y="507492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6366F1"/>
                </a:solidFill>
                <a:latin typeface="Consolas"/>
              </a:rPr>
              <a:t>arxiv/notes</a:t>
            </a:r>
          </a:p>
        </p:txBody>
      </p:sp>
      <p:sp>
        <p:nvSpPr>
          <p:cNvPr id="23" name="Hexagon 22"/>
          <p:cNvSpPr/>
          <p:nvPr/>
        </p:nvSpPr>
        <p:spPr>
          <a:xfrm>
            <a:off x="5387187" y="4320540"/>
            <a:ext cx="1417320" cy="1417320"/>
          </a:xfrm>
          <a:prstGeom prst="hexagon">
            <a:avLst/>
          </a:prstGeom>
          <a:solidFill>
            <a:srgbClr val="131826"/>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87187" y="482803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CIVIC</a:t>
            </a:r>
          </a:p>
        </p:txBody>
      </p:sp>
      <p:sp>
        <p:nvSpPr>
          <p:cNvPr id="25" name="TextBox 24"/>
          <p:cNvSpPr txBox="1"/>
          <p:nvPr/>
        </p:nvSpPr>
        <p:spPr>
          <a:xfrm>
            <a:off x="5387187" y="507492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10B981"/>
                </a:solidFill>
                <a:latin typeface="Consolas"/>
              </a:rPr>
              <a:t>vote/lookup</a:t>
            </a:r>
          </a:p>
        </p:txBody>
      </p:sp>
      <p:sp>
        <p:nvSpPr>
          <p:cNvPr id="26" name="Hexagon 25"/>
          <p:cNvSpPr/>
          <p:nvPr/>
        </p:nvSpPr>
        <p:spPr>
          <a:xfrm>
            <a:off x="6804507" y="4320540"/>
            <a:ext cx="1417320" cy="1417320"/>
          </a:xfrm>
          <a:prstGeom prst="hexagon">
            <a:avLst/>
          </a:prstGeom>
          <a:solidFill>
            <a:srgbClr val="131826"/>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04507" y="4828032"/>
            <a:ext cx="1417320" cy="292608"/>
          </a:xfrm>
          <a:prstGeom prst="rect">
            <a:avLst/>
          </a:prstGeom>
          <a:noFill/>
        </p:spPr>
        <p:txBody>
          <a:bodyPr wrap="square" lIns="45720" rIns="45720" tIns="18288" bIns="18288" anchor="t">
            <a:spAutoFit/>
          </a:bodyPr>
          <a:lstStyle/>
          <a:p>
            <a:pPr algn="ctr">
              <a:lnSpc>
                <a:spcPct val="115000"/>
              </a:lnSpc>
            </a:pPr>
            <a:r>
              <a:rPr sz="1400" b="1" i="0">
                <a:solidFill>
                  <a:srgbClr val="FFFFFF"/>
                </a:solidFill>
                <a:latin typeface="Calibri"/>
              </a:rPr>
              <a:t>CREATIVE</a:t>
            </a:r>
          </a:p>
        </p:txBody>
      </p:sp>
      <p:sp>
        <p:nvSpPr>
          <p:cNvPr id="28" name="TextBox 27"/>
          <p:cNvSpPr txBox="1"/>
          <p:nvPr/>
        </p:nvSpPr>
        <p:spPr>
          <a:xfrm>
            <a:off x="6804507" y="5074920"/>
            <a:ext cx="1417320" cy="228600"/>
          </a:xfrm>
          <a:prstGeom prst="rect">
            <a:avLst/>
          </a:prstGeom>
          <a:noFill/>
        </p:spPr>
        <p:txBody>
          <a:bodyPr wrap="square" lIns="45720" rIns="45720" tIns="18288" bIns="18288" anchor="t">
            <a:spAutoFit/>
          </a:bodyPr>
          <a:lstStyle/>
          <a:p>
            <a:pPr algn="ctr">
              <a:lnSpc>
                <a:spcPct val="115000"/>
              </a:lnSpc>
            </a:pPr>
            <a:r>
              <a:rPr sz="800" b="0" i="0">
                <a:solidFill>
                  <a:srgbClr val="F43F5E"/>
                </a:solidFill>
                <a:latin typeface="Consolas"/>
              </a:rPr>
              <a:t>brand/draft</a:t>
            </a:r>
          </a:p>
        </p:txBody>
      </p:sp>
      <p:sp>
        <p:nvSpPr>
          <p:cNvPr id="29" name="TextBox 28"/>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30" name="TextBox 29"/>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WHAT TARS IS</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600" b="1" i="0">
                <a:solidFill>
                  <a:srgbClr val="FFFFFF"/>
                </a:solidFill>
                <a:latin typeface="Calibri"/>
              </a:rPr>
              <a:t>Four pillars. One cockpit.</a:t>
            </a:r>
          </a:p>
        </p:txBody>
      </p:sp>
      <p:sp>
        <p:nvSpPr>
          <p:cNvPr id="7" name="Rounded Rectangle 6"/>
          <p:cNvSpPr/>
          <p:nvPr/>
        </p:nvSpPr>
        <p:spPr>
          <a:xfrm>
            <a:off x="548640" y="1691640"/>
            <a:ext cx="5532120" cy="23317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1920240"/>
            <a:ext cx="91440" cy="914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892808"/>
            <a:ext cx="4983480" cy="274320"/>
          </a:xfrm>
          <a:prstGeom prst="rect">
            <a:avLst/>
          </a:prstGeom>
          <a:noFill/>
        </p:spPr>
        <p:txBody>
          <a:bodyPr wrap="square" lIns="45720" rIns="45720" tIns="18288" bIns="18288" anchor="t">
            <a:spAutoFit/>
          </a:bodyPr>
          <a:lstStyle/>
          <a:p>
            <a:pPr algn="l">
              <a:lnSpc>
                <a:spcPct val="115000"/>
              </a:lnSpc>
            </a:pPr>
            <a:r>
              <a:rPr sz="1000" b="1" i="0">
                <a:solidFill>
                  <a:srgbClr val="06B6D4"/>
                </a:solidFill>
                <a:latin typeface="Consolas"/>
              </a:rPr>
              <a:t>PILLAR 1</a:t>
            </a:r>
          </a:p>
        </p:txBody>
      </p:sp>
      <p:sp>
        <p:nvSpPr>
          <p:cNvPr id="10" name="TextBox 9"/>
          <p:cNvSpPr txBox="1"/>
          <p:nvPr/>
        </p:nvSpPr>
        <p:spPr>
          <a:xfrm>
            <a:off x="822960" y="2286000"/>
            <a:ext cx="498348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Voice-first</a:t>
            </a:r>
          </a:p>
        </p:txBody>
      </p:sp>
      <p:sp>
        <p:nvSpPr>
          <p:cNvPr id="11" name="TextBox 10"/>
          <p:cNvSpPr txBox="1"/>
          <p:nvPr/>
        </p:nvSpPr>
        <p:spPr>
          <a:xfrm>
            <a:off x="822960" y="2788920"/>
            <a:ext cx="4983480" cy="114300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Wake-word → STT → router → action → TTS → receipt. Cmd+Shift+Space anywhere on macOS takes you from idle to voice command in 200ms. Cinematic monolith UI — not a chat window with a mic strapped on.</a:t>
            </a:r>
          </a:p>
        </p:txBody>
      </p:sp>
      <p:sp>
        <p:nvSpPr>
          <p:cNvPr id="12" name="Rounded Rectangle 11"/>
          <p:cNvSpPr/>
          <p:nvPr/>
        </p:nvSpPr>
        <p:spPr>
          <a:xfrm>
            <a:off x="6245352" y="1691640"/>
            <a:ext cx="5532120" cy="23317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73952" y="1920240"/>
            <a:ext cx="91440" cy="91440"/>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56832" y="1892808"/>
            <a:ext cx="4983480" cy="274320"/>
          </a:xfrm>
          <a:prstGeom prst="rect">
            <a:avLst/>
          </a:prstGeom>
          <a:noFill/>
        </p:spPr>
        <p:txBody>
          <a:bodyPr wrap="square" lIns="45720" rIns="45720" tIns="18288" bIns="18288" anchor="t">
            <a:spAutoFit/>
          </a:bodyPr>
          <a:lstStyle/>
          <a:p>
            <a:pPr algn="l">
              <a:lnSpc>
                <a:spcPct val="115000"/>
              </a:lnSpc>
            </a:pPr>
            <a:r>
              <a:rPr sz="1000" b="1" i="0">
                <a:solidFill>
                  <a:srgbClr val="8B5CF6"/>
                </a:solidFill>
                <a:latin typeface="Consolas"/>
              </a:rPr>
              <a:t>PILLAR 2</a:t>
            </a:r>
          </a:p>
        </p:txBody>
      </p:sp>
      <p:sp>
        <p:nvSpPr>
          <p:cNvPr id="15" name="TextBox 14"/>
          <p:cNvSpPr txBox="1"/>
          <p:nvPr/>
        </p:nvSpPr>
        <p:spPr>
          <a:xfrm>
            <a:off x="6519672" y="2286000"/>
            <a:ext cx="498348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Local-first</a:t>
            </a:r>
          </a:p>
        </p:txBody>
      </p:sp>
      <p:sp>
        <p:nvSpPr>
          <p:cNvPr id="16" name="TextBox 15"/>
          <p:cNvSpPr txBox="1"/>
          <p:nvPr/>
        </p:nvSpPr>
        <p:spPr>
          <a:xfrm>
            <a:off x="6519672" y="2788920"/>
            <a:ext cx="4983480" cy="114300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Backend is a Python sidecar on 127.0.0.1:8765. Memory, receipts, vector index on disk. Keys in macOS Keychain. Air-gap the laptop and TARS still works for everything that doesn't strictly need a cloud LLM call.</a:t>
            </a:r>
          </a:p>
        </p:txBody>
      </p:sp>
      <p:sp>
        <p:nvSpPr>
          <p:cNvPr id="17" name="Rounded Rectangle 16"/>
          <p:cNvSpPr/>
          <p:nvPr/>
        </p:nvSpPr>
        <p:spPr>
          <a:xfrm>
            <a:off x="548640" y="4187952"/>
            <a:ext cx="5532120" cy="23317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4416552"/>
            <a:ext cx="91440" cy="91440"/>
          </a:xfrm>
          <a:prstGeom prst="roundRect">
            <a:avLst>
              <a:gd name="adj" fmla="val 1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389120"/>
            <a:ext cx="4983480" cy="274320"/>
          </a:xfrm>
          <a:prstGeom prst="rect">
            <a:avLst/>
          </a:prstGeom>
          <a:noFill/>
        </p:spPr>
        <p:txBody>
          <a:bodyPr wrap="square" lIns="45720" rIns="45720" tIns="18288" bIns="18288" anchor="t">
            <a:spAutoFit/>
          </a:bodyPr>
          <a:lstStyle/>
          <a:p>
            <a:pPr algn="l">
              <a:lnSpc>
                <a:spcPct val="115000"/>
              </a:lnSpc>
            </a:pPr>
            <a:r>
              <a:rPr sz="1000" b="1" i="0">
                <a:solidFill>
                  <a:srgbClr val="6366F1"/>
                </a:solidFill>
                <a:latin typeface="Consolas"/>
              </a:rPr>
              <a:t>PILLAR 3</a:t>
            </a:r>
          </a:p>
        </p:txBody>
      </p:sp>
      <p:sp>
        <p:nvSpPr>
          <p:cNvPr id="20" name="TextBox 19"/>
          <p:cNvSpPr txBox="1"/>
          <p:nvPr/>
        </p:nvSpPr>
        <p:spPr>
          <a:xfrm>
            <a:off x="822960" y="4782312"/>
            <a:ext cx="498348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Receipt-anchored</a:t>
            </a:r>
          </a:p>
        </p:txBody>
      </p:sp>
      <p:sp>
        <p:nvSpPr>
          <p:cNvPr id="21" name="TextBox 20"/>
          <p:cNvSpPr txBox="1"/>
          <p:nvPr/>
        </p:nvSpPr>
        <p:spPr>
          <a:xfrm>
            <a:off x="822960" y="5285232"/>
            <a:ext cx="4983480" cy="114300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Every consequential action emits a signed receipt. Receipts hash-chain. Daily Merkle root anchors on Solana as a memo. Public verifier replays the proof with no auth and no access to our database.</a:t>
            </a:r>
          </a:p>
        </p:txBody>
      </p:sp>
      <p:sp>
        <p:nvSpPr>
          <p:cNvPr id="22" name="Rounded Rectangle 21"/>
          <p:cNvSpPr/>
          <p:nvPr/>
        </p:nvSpPr>
        <p:spPr>
          <a:xfrm>
            <a:off x="6245352" y="4187952"/>
            <a:ext cx="5532120" cy="23317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73952" y="4416552"/>
            <a:ext cx="91440" cy="91440"/>
          </a:xfrm>
          <a:prstGeom prst="roundRect">
            <a:avLst>
              <a:gd name="adj" fmla="val 1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56832" y="4389120"/>
            <a:ext cx="4983480" cy="274320"/>
          </a:xfrm>
          <a:prstGeom prst="rect">
            <a:avLst/>
          </a:prstGeom>
          <a:noFill/>
        </p:spPr>
        <p:txBody>
          <a:bodyPr wrap="square" lIns="45720" rIns="45720" tIns="18288" bIns="18288" anchor="t">
            <a:spAutoFit/>
          </a:bodyPr>
          <a:lstStyle/>
          <a:p>
            <a:pPr algn="l">
              <a:lnSpc>
                <a:spcPct val="115000"/>
              </a:lnSpc>
            </a:pPr>
            <a:r>
              <a:rPr sz="1000" b="1" i="0">
                <a:solidFill>
                  <a:srgbClr val="F43F5E"/>
                </a:solidFill>
                <a:latin typeface="Consolas"/>
              </a:rPr>
              <a:t>PILLAR 4</a:t>
            </a:r>
          </a:p>
        </p:txBody>
      </p:sp>
      <p:sp>
        <p:nvSpPr>
          <p:cNvPr id="25" name="TextBox 24"/>
          <p:cNvSpPr txBox="1"/>
          <p:nvPr/>
        </p:nvSpPr>
        <p:spPr>
          <a:xfrm>
            <a:off x="6519672" y="4782312"/>
            <a:ext cx="4983480"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meeet.world-native</a:t>
            </a:r>
          </a:p>
        </p:txBody>
      </p:sp>
      <p:sp>
        <p:nvSpPr>
          <p:cNvPr id="26" name="TextBox 25"/>
          <p:cNvSpPr txBox="1"/>
          <p:nvPr/>
        </p:nvSpPr>
        <p:spPr>
          <a:xfrm>
            <a:off x="6519672" y="5285232"/>
            <a:ext cx="4983480" cy="1143000"/>
          </a:xfrm>
          <a:prstGeom prst="rect">
            <a:avLst/>
          </a:prstGeom>
          <a:noFill/>
        </p:spPr>
        <p:txBody>
          <a:bodyPr wrap="square" lIns="45720" rIns="45720" tIns="18288" bIns="18288" anchor="t">
            <a:spAutoFit/>
          </a:bodyPr>
          <a:lstStyle/>
          <a:p>
            <a:pPr algn="l">
              <a:lnSpc>
                <a:spcPct val="135000"/>
              </a:lnSpc>
            </a:pPr>
            <a:r>
              <a:rPr sz="1300" b="0" i="0">
                <a:solidFill>
                  <a:srgbClr val="CBD5E1"/>
                </a:solidFill>
                <a:latin typeface="Calibri"/>
              </a:rPr>
              <a:t>Identity, billing, balance, entitlements, marketplace payouts, $MEEET economy, compliance telemetry — every cross-machine action flows through my brother's domain. TARS is the cockpit; meeet.world is the ledger and the bank.</a:t>
            </a:r>
          </a:p>
        </p:txBody>
      </p:sp>
      <p:sp>
        <p:nvSpPr>
          <p:cNvPr id="27" name="TextBox 26"/>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8" name="TextBox 27"/>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F59E0B"/>
                </a:solidFill>
                <a:latin typeface="Consolas"/>
              </a:rPr>
              <a:t>LIVE DEMO  ·  PRESENTER CUE</a:t>
            </a:r>
          </a:p>
        </p:txBody>
      </p:sp>
      <p:sp>
        <p:nvSpPr>
          <p:cNvPr id="6" name="TextBox 5"/>
          <p:cNvSpPr txBox="1"/>
          <p:nvPr/>
        </p:nvSpPr>
        <p:spPr>
          <a:xfrm>
            <a:off x="548640" y="960120"/>
            <a:ext cx="11155680" cy="2194560"/>
          </a:xfrm>
          <a:prstGeom prst="rect">
            <a:avLst/>
          </a:prstGeom>
          <a:noFill/>
        </p:spPr>
        <p:txBody>
          <a:bodyPr wrap="square" lIns="45720" rIns="45720" tIns="18288" bIns="18288" anchor="t">
            <a:spAutoFit/>
          </a:bodyPr>
          <a:lstStyle/>
          <a:p>
            <a:pPr algn="l">
              <a:lnSpc>
                <a:spcPct val="115000"/>
              </a:lnSpc>
            </a:pPr>
            <a:r>
              <a:rPr sz="5800" b="1" i="1">
                <a:solidFill>
                  <a:srgbClr val="FFFFFF"/>
                </a:solidFill>
                <a:latin typeface="Calibri"/>
              </a:rPr>
              <a:t>Now let me show you.</a:t>
            </a:r>
          </a:p>
        </p:txBody>
      </p:sp>
      <p:sp>
        <p:nvSpPr>
          <p:cNvPr id="7" name="Rounded Rectangle 6"/>
          <p:cNvSpPr/>
          <p:nvPr/>
        </p:nvSpPr>
        <p:spPr>
          <a:xfrm>
            <a:off x="548640" y="3337560"/>
            <a:ext cx="4754880" cy="2103120"/>
          </a:xfrm>
          <a:prstGeom prst="roundRect">
            <a:avLst>
              <a:gd name="adj" fmla="val 10000"/>
            </a:avLst>
          </a:prstGeom>
          <a:solidFill>
            <a:srgbClr val="0D111B"/>
          </a:solidFill>
          <a:ln w="254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520440"/>
            <a:ext cx="4754880" cy="457200"/>
          </a:xfrm>
          <a:prstGeom prst="rect">
            <a:avLst/>
          </a:prstGeom>
          <a:noFill/>
        </p:spPr>
        <p:txBody>
          <a:bodyPr wrap="square" lIns="45720" rIns="45720" tIns="18288" bIns="18288" anchor="t">
            <a:spAutoFit/>
          </a:bodyPr>
          <a:lstStyle/>
          <a:p>
            <a:pPr algn="ctr">
              <a:lnSpc>
                <a:spcPct val="115000"/>
              </a:lnSpc>
            </a:pPr>
            <a:r>
              <a:rPr sz="7200" b="1" i="0">
                <a:solidFill>
                  <a:srgbClr val="06B6D4"/>
                </a:solidFill>
                <a:latin typeface="Calibri"/>
              </a:rPr>
              <a:t>DEMO</a:t>
            </a:r>
          </a:p>
        </p:txBody>
      </p:sp>
      <p:sp>
        <p:nvSpPr>
          <p:cNvPr id="9" name="TextBox 8"/>
          <p:cNvSpPr txBox="1"/>
          <p:nvPr/>
        </p:nvSpPr>
        <p:spPr>
          <a:xfrm>
            <a:off x="548640" y="4617720"/>
            <a:ext cx="4754880" cy="457200"/>
          </a:xfrm>
          <a:prstGeom prst="rect">
            <a:avLst/>
          </a:prstGeom>
          <a:noFill/>
        </p:spPr>
        <p:txBody>
          <a:bodyPr wrap="square" lIns="45720" rIns="45720" tIns="18288" bIns="18288" anchor="t">
            <a:spAutoFit/>
          </a:bodyPr>
          <a:lstStyle/>
          <a:p>
            <a:pPr algn="ctr">
              <a:lnSpc>
                <a:spcPct val="115000"/>
              </a:lnSpc>
            </a:pPr>
            <a:r>
              <a:rPr sz="1300" b="1" i="0">
                <a:solidFill>
                  <a:srgbClr val="CBD5E1"/>
                </a:solidFill>
                <a:latin typeface="Consolas"/>
              </a:rPr>
              <a:t>60 SECONDS TO FIRST AGENT ACTION</a:t>
            </a:r>
          </a:p>
        </p:txBody>
      </p:sp>
      <p:sp>
        <p:nvSpPr>
          <p:cNvPr id="10" name="TextBox 9"/>
          <p:cNvSpPr txBox="1"/>
          <p:nvPr/>
        </p:nvSpPr>
        <p:spPr>
          <a:xfrm>
            <a:off x="5852160" y="3383280"/>
            <a:ext cx="5852160" cy="365760"/>
          </a:xfrm>
          <a:prstGeom prst="rect">
            <a:avLst/>
          </a:prstGeom>
          <a:noFill/>
        </p:spPr>
        <p:txBody>
          <a:bodyPr wrap="square" lIns="45720" rIns="45720" tIns="18288" bIns="18288" anchor="t">
            <a:spAutoFit/>
          </a:bodyPr>
          <a:lstStyle/>
          <a:p>
            <a:pPr algn="l">
              <a:lnSpc>
                <a:spcPct val="115000"/>
              </a:lnSpc>
            </a:pPr>
            <a:r>
              <a:rPr sz="1200" b="1" i="0">
                <a:solidFill>
                  <a:srgbClr val="F59E0B"/>
                </a:solidFill>
                <a:latin typeface="Consolas"/>
              </a:rPr>
              <a:t>BEFORE YOU CLICK</a:t>
            </a:r>
          </a:p>
        </p:txBody>
      </p:sp>
      <p:sp>
        <p:nvSpPr>
          <p:cNvPr id="11" name="Rounded Rectangle 10"/>
          <p:cNvSpPr/>
          <p:nvPr/>
        </p:nvSpPr>
        <p:spPr>
          <a:xfrm>
            <a:off x="5852160" y="3840479"/>
            <a:ext cx="91440" cy="914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3749039"/>
            <a:ext cx="5577840" cy="411480"/>
          </a:xfrm>
          <a:prstGeom prst="rect">
            <a:avLst/>
          </a:prstGeom>
          <a:noFill/>
        </p:spPr>
        <p:txBody>
          <a:bodyPr wrap="square" lIns="45720" rIns="45720" tIns="18288" bIns="18288" anchor="t">
            <a:spAutoFit/>
          </a:bodyPr>
          <a:lstStyle/>
          <a:p>
            <a:pPr algn="l">
              <a:lnSpc>
                <a:spcPct val="130000"/>
              </a:lnSpc>
            </a:pPr>
            <a:r>
              <a:rPr sz="1300" b="0" i="0">
                <a:solidFill>
                  <a:srgbClr val="CBD5E1"/>
                </a:solidFill>
                <a:latin typeface="Calibri"/>
              </a:rPr>
              <a:t>TARS.app already open, sidecar :8765 green</a:t>
            </a:r>
          </a:p>
        </p:txBody>
      </p:sp>
      <p:sp>
        <p:nvSpPr>
          <p:cNvPr id="13" name="Rounded Rectangle 12"/>
          <p:cNvSpPr/>
          <p:nvPr/>
        </p:nvSpPr>
        <p:spPr>
          <a:xfrm>
            <a:off x="5852160" y="4251959"/>
            <a:ext cx="91440" cy="914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4160519"/>
            <a:ext cx="5577840" cy="411480"/>
          </a:xfrm>
          <a:prstGeom prst="rect">
            <a:avLst/>
          </a:prstGeom>
          <a:noFill/>
        </p:spPr>
        <p:txBody>
          <a:bodyPr wrap="square" lIns="45720" rIns="45720" tIns="18288" bIns="18288" anchor="t">
            <a:spAutoFit/>
          </a:bodyPr>
          <a:lstStyle/>
          <a:p>
            <a:pPr algn="l">
              <a:lnSpc>
                <a:spcPct val="130000"/>
              </a:lnSpc>
            </a:pPr>
            <a:r>
              <a:rPr sz="1300" b="0" i="0">
                <a:solidFill>
                  <a:srgbClr val="CBD5E1"/>
                </a:solidFill>
                <a:latin typeface="Calibri"/>
              </a:rPr>
              <a:t>TARS_DEMO_SEED=1 verified — fixtures loaded</a:t>
            </a:r>
          </a:p>
        </p:txBody>
      </p:sp>
      <p:sp>
        <p:nvSpPr>
          <p:cNvPr id="15" name="Rounded Rectangle 14"/>
          <p:cNvSpPr/>
          <p:nvPr/>
        </p:nvSpPr>
        <p:spPr>
          <a:xfrm>
            <a:off x="5852160" y="4663439"/>
            <a:ext cx="91440" cy="914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4571999"/>
            <a:ext cx="5577840" cy="411480"/>
          </a:xfrm>
          <a:prstGeom prst="rect">
            <a:avLst/>
          </a:prstGeom>
          <a:noFill/>
        </p:spPr>
        <p:txBody>
          <a:bodyPr wrap="square" lIns="45720" rIns="45720" tIns="18288" bIns="18288" anchor="t">
            <a:spAutoFit/>
          </a:bodyPr>
          <a:lstStyle/>
          <a:p>
            <a:pPr algn="l">
              <a:lnSpc>
                <a:spcPct val="130000"/>
              </a:lnSpc>
            </a:pPr>
            <a:r>
              <a:rPr sz="1300" b="0" i="0">
                <a:solidFill>
                  <a:srgbClr val="CBD5E1"/>
                </a:solidFill>
                <a:latin typeface="Calibri"/>
              </a:rPr>
              <a:t>Network OK · LLM_PROVIDER=openrouter live</a:t>
            </a:r>
          </a:p>
        </p:txBody>
      </p:sp>
      <p:sp>
        <p:nvSpPr>
          <p:cNvPr id="17" name="Rounded Rectangle 16"/>
          <p:cNvSpPr/>
          <p:nvPr/>
        </p:nvSpPr>
        <p:spPr>
          <a:xfrm>
            <a:off x="5852160" y="5074919"/>
            <a:ext cx="91440" cy="914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4983479"/>
            <a:ext cx="5577840" cy="411480"/>
          </a:xfrm>
          <a:prstGeom prst="rect">
            <a:avLst/>
          </a:prstGeom>
          <a:noFill/>
        </p:spPr>
        <p:txBody>
          <a:bodyPr wrap="square" lIns="45720" rIns="45720" tIns="18288" bIns="18288" anchor="t">
            <a:spAutoFit/>
          </a:bodyPr>
          <a:lstStyle/>
          <a:p>
            <a:pPr algn="l">
              <a:lnSpc>
                <a:spcPct val="130000"/>
              </a:lnSpc>
            </a:pPr>
            <a:r>
              <a:rPr sz="1300" b="0" i="0">
                <a:solidFill>
                  <a:srgbClr val="CBD5E1"/>
                </a:solidFill>
                <a:latin typeface="Calibri"/>
              </a:rPr>
              <a:t>Audience can see the monolith, the cyan strip is breathing</a:t>
            </a:r>
          </a:p>
        </p:txBody>
      </p:sp>
      <p:sp>
        <p:nvSpPr>
          <p:cNvPr id="19" name="TextBox 18"/>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0" name="TextBox 19"/>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DEMO SCRIPT</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200" b="1" i="0">
                <a:solidFill>
                  <a:srgbClr val="FFFFFF"/>
                </a:solidFill>
                <a:latin typeface="Calibri"/>
              </a:rPr>
              <a:t>Five beats.  Sixty seconds.  One wow.</a:t>
            </a:r>
          </a:p>
        </p:txBody>
      </p:sp>
      <p:sp>
        <p:nvSpPr>
          <p:cNvPr id="7" name="Rounded Rectangle 6"/>
          <p:cNvSpPr/>
          <p:nvPr/>
        </p:nvSpPr>
        <p:spPr>
          <a:xfrm>
            <a:off x="457200" y="1783080"/>
            <a:ext cx="2240280" cy="41605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965960"/>
            <a:ext cx="502920" cy="36576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84248"/>
            <a:ext cx="502920" cy="36576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01</a:t>
            </a:r>
          </a:p>
        </p:txBody>
      </p:sp>
      <p:sp>
        <p:nvSpPr>
          <p:cNvPr id="10" name="TextBox 9"/>
          <p:cNvSpPr txBox="1"/>
          <p:nvPr/>
        </p:nvSpPr>
        <p:spPr>
          <a:xfrm>
            <a:off x="1234440" y="1984248"/>
            <a:ext cx="1371600" cy="365760"/>
          </a:xfrm>
          <a:prstGeom prst="rect">
            <a:avLst/>
          </a:prstGeom>
          <a:noFill/>
        </p:spPr>
        <p:txBody>
          <a:bodyPr wrap="square" lIns="45720" rIns="45720" tIns="18288" bIns="18288" anchor="ctr">
            <a:spAutoFit/>
          </a:bodyPr>
          <a:lstStyle/>
          <a:p>
            <a:pPr algn="l">
              <a:lnSpc>
                <a:spcPct val="115000"/>
              </a:lnSpc>
            </a:pPr>
            <a:r>
              <a:rPr sz="1500" b="1" i="0">
                <a:solidFill>
                  <a:srgbClr val="FFFFFF"/>
                </a:solidFill>
                <a:latin typeface="Calibri"/>
              </a:rPr>
              <a:t>LAUNCH</a:t>
            </a:r>
          </a:p>
        </p:txBody>
      </p:sp>
      <p:sp>
        <p:nvSpPr>
          <p:cNvPr id="11" name="TextBox 10"/>
          <p:cNvSpPr txBox="1"/>
          <p:nvPr/>
        </p:nvSpPr>
        <p:spPr>
          <a:xfrm>
            <a:off x="640080" y="260604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06B6D4"/>
                </a:solidFill>
                <a:latin typeface="Consolas"/>
              </a:rPr>
              <a:t>ACTION</a:t>
            </a:r>
          </a:p>
        </p:txBody>
      </p:sp>
      <p:sp>
        <p:nvSpPr>
          <p:cNvPr id="12" name="TextBox 11"/>
          <p:cNvSpPr txBox="1"/>
          <p:nvPr/>
        </p:nvSpPr>
        <p:spPr>
          <a:xfrm>
            <a:off x="640080" y="2880360"/>
            <a:ext cx="1874520" cy="1097280"/>
          </a:xfrm>
          <a:prstGeom prst="rect">
            <a:avLst/>
          </a:prstGeom>
          <a:noFill/>
        </p:spPr>
        <p:txBody>
          <a:bodyPr wrap="square" lIns="45720" rIns="45720" tIns="18288" bIns="18288" anchor="t">
            <a:spAutoFit/>
          </a:bodyPr>
          <a:lstStyle/>
          <a:p>
            <a:pPr algn="l">
              <a:lnSpc>
                <a:spcPct val="130000"/>
              </a:lnSpc>
            </a:pPr>
            <a:r>
              <a:rPr sz="1200" b="1" i="0">
                <a:solidFill>
                  <a:srgbClr val="FFFFFF"/>
                </a:solidFill>
                <a:latin typeface="Calibri"/>
              </a:rPr>
              <a:t>Cmd+Shift+Space</a:t>
            </a:r>
          </a:p>
        </p:txBody>
      </p:sp>
      <p:sp>
        <p:nvSpPr>
          <p:cNvPr id="13" name="TextBox 12"/>
          <p:cNvSpPr txBox="1"/>
          <p:nvPr/>
        </p:nvSpPr>
        <p:spPr>
          <a:xfrm>
            <a:off x="640080" y="406908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06B6D4"/>
                </a:solidFill>
                <a:latin typeface="Consolas"/>
              </a:rPr>
              <a:t>WOW MOMENT</a:t>
            </a:r>
          </a:p>
        </p:txBody>
      </p:sp>
      <p:sp>
        <p:nvSpPr>
          <p:cNvPr id="14" name="TextBox 13"/>
          <p:cNvSpPr txBox="1"/>
          <p:nvPr/>
        </p:nvSpPr>
        <p:spPr>
          <a:xfrm>
            <a:off x="640080" y="4343400"/>
            <a:ext cx="1874520" cy="1188720"/>
          </a:xfrm>
          <a:prstGeom prst="rect">
            <a:avLst/>
          </a:prstGeom>
          <a:noFill/>
        </p:spPr>
        <p:txBody>
          <a:bodyPr wrap="square" lIns="45720" rIns="45720" tIns="18288" bIns="18288" anchor="t">
            <a:spAutoFit/>
          </a:bodyPr>
          <a:lstStyle/>
          <a:p>
            <a:pPr algn="l">
              <a:lnSpc>
                <a:spcPct val="130000"/>
              </a:lnSpc>
            </a:pPr>
            <a:r>
              <a:rPr sz="1100" b="0" i="1">
                <a:solidFill>
                  <a:srgbClr val="CBD5E1"/>
                </a:solidFill>
                <a:latin typeface="Calibri"/>
              </a:rPr>
              <a:t>Monolith fades in.</a:t>
            </a:r>
          </a:p>
          <a:p>
            <a:pPr algn="l">
              <a:lnSpc>
                <a:spcPct val="130000"/>
              </a:lnSpc>
            </a:pPr>
            <a:r>
              <a:rPr sz="1100" b="0" i="1">
                <a:solidFill>
                  <a:srgbClr val="CBD5E1"/>
                </a:solidFill>
                <a:latin typeface="Calibri"/>
              </a:rPr>
              <a:t>Cyan strip charges.</a:t>
            </a:r>
          </a:p>
        </p:txBody>
      </p:sp>
      <p:sp>
        <p:nvSpPr>
          <p:cNvPr id="15" name="Rounded Rectangle 14"/>
          <p:cNvSpPr/>
          <p:nvPr/>
        </p:nvSpPr>
        <p:spPr>
          <a:xfrm>
            <a:off x="640080" y="5440680"/>
            <a:ext cx="777240" cy="292608"/>
          </a:xfrm>
          <a:prstGeom prst="roundRect">
            <a:avLst>
              <a:gd name="adj" fmla="val 10000"/>
            </a:avLst>
          </a:prstGeom>
          <a:solidFill>
            <a:srgbClr val="131826"/>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5440680"/>
            <a:ext cx="777240" cy="292608"/>
          </a:xfrm>
          <a:prstGeom prst="rect">
            <a:avLst/>
          </a:prstGeom>
          <a:noFill/>
        </p:spPr>
        <p:txBody>
          <a:bodyPr wrap="square" lIns="45720" rIns="45720" tIns="18288" bIns="18288" anchor="ctr">
            <a:spAutoFit/>
          </a:bodyPr>
          <a:lstStyle/>
          <a:p>
            <a:pPr algn="ctr">
              <a:lnSpc>
                <a:spcPct val="115000"/>
              </a:lnSpc>
            </a:pPr>
            <a:r>
              <a:rPr sz="1000" b="1" i="0">
                <a:solidFill>
                  <a:srgbClr val="06B6D4"/>
                </a:solidFill>
                <a:latin typeface="Consolas"/>
              </a:rPr>
              <a:t>~3s</a:t>
            </a:r>
          </a:p>
        </p:txBody>
      </p:sp>
      <p:sp>
        <p:nvSpPr>
          <p:cNvPr id="17" name="Rounded Rectangle 16"/>
          <p:cNvSpPr/>
          <p:nvPr/>
        </p:nvSpPr>
        <p:spPr>
          <a:xfrm>
            <a:off x="2788920" y="1783080"/>
            <a:ext cx="2240280" cy="41605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971800" y="1965960"/>
            <a:ext cx="502920" cy="365760"/>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1984248"/>
            <a:ext cx="502920" cy="36576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02</a:t>
            </a:r>
          </a:p>
        </p:txBody>
      </p:sp>
      <p:sp>
        <p:nvSpPr>
          <p:cNvPr id="20" name="TextBox 19"/>
          <p:cNvSpPr txBox="1"/>
          <p:nvPr/>
        </p:nvSpPr>
        <p:spPr>
          <a:xfrm>
            <a:off x="3566160" y="1984248"/>
            <a:ext cx="1371600" cy="365760"/>
          </a:xfrm>
          <a:prstGeom prst="rect">
            <a:avLst/>
          </a:prstGeom>
          <a:noFill/>
        </p:spPr>
        <p:txBody>
          <a:bodyPr wrap="square" lIns="45720" rIns="45720" tIns="18288" bIns="18288" anchor="ctr">
            <a:spAutoFit/>
          </a:bodyPr>
          <a:lstStyle/>
          <a:p>
            <a:pPr algn="l">
              <a:lnSpc>
                <a:spcPct val="115000"/>
              </a:lnSpc>
            </a:pPr>
            <a:r>
              <a:rPr sz="1500" b="1" i="0">
                <a:solidFill>
                  <a:srgbClr val="FFFFFF"/>
                </a:solidFill>
                <a:latin typeface="Calibri"/>
              </a:rPr>
              <a:t>VOICE</a:t>
            </a:r>
          </a:p>
        </p:txBody>
      </p:sp>
      <p:sp>
        <p:nvSpPr>
          <p:cNvPr id="21" name="TextBox 20"/>
          <p:cNvSpPr txBox="1"/>
          <p:nvPr/>
        </p:nvSpPr>
        <p:spPr>
          <a:xfrm>
            <a:off x="2971800" y="260604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8B5CF6"/>
                </a:solidFill>
                <a:latin typeface="Consolas"/>
              </a:rPr>
              <a:t>ACTION</a:t>
            </a:r>
          </a:p>
        </p:txBody>
      </p:sp>
      <p:sp>
        <p:nvSpPr>
          <p:cNvPr id="22" name="TextBox 21"/>
          <p:cNvSpPr txBox="1"/>
          <p:nvPr/>
        </p:nvSpPr>
        <p:spPr>
          <a:xfrm>
            <a:off x="2971800" y="2880360"/>
            <a:ext cx="1874520" cy="1097280"/>
          </a:xfrm>
          <a:prstGeom prst="rect">
            <a:avLst/>
          </a:prstGeom>
          <a:noFill/>
        </p:spPr>
        <p:txBody>
          <a:bodyPr wrap="square" lIns="45720" rIns="45720" tIns="18288" bIns="18288" anchor="t">
            <a:spAutoFit/>
          </a:bodyPr>
          <a:lstStyle/>
          <a:p>
            <a:pPr algn="l">
              <a:lnSpc>
                <a:spcPct val="130000"/>
              </a:lnSpc>
            </a:pPr>
            <a:r>
              <a:rPr sz="1200" b="1" i="0">
                <a:solidFill>
                  <a:srgbClr val="FFFFFF"/>
                </a:solidFill>
                <a:latin typeface="Calibri"/>
              </a:rPr>
              <a:t>"Compose a thank-you</a:t>
            </a:r>
          </a:p>
          <a:p>
            <a:pPr algn="l">
              <a:lnSpc>
                <a:spcPct val="130000"/>
              </a:lnSpc>
            </a:pPr>
            <a:r>
              <a:rPr sz="1200" b="1" i="0">
                <a:solidFill>
                  <a:srgbClr val="FFFFFF"/>
                </a:solidFill>
                <a:latin typeface="Calibri"/>
              </a:rPr>
              <a:t>to last week's investors."</a:t>
            </a:r>
          </a:p>
        </p:txBody>
      </p:sp>
      <p:sp>
        <p:nvSpPr>
          <p:cNvPr id="23" name="TextBox 22"/>
          <p:cNvSpPr txBox="1"/>
          <p:nvPr/>
        </p:nvSpPr>
        <p:spPr>
          <a:xfrm>
            <a:off x="2971800" y="406908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8B5CF6"/>
                </a:solidFill>
                <a:latin typeface="Consolas"/>
              </a:rPr>
              <a:t>WOW MOMENT</a:t>
            </a:r>
          </a:p>
        </p:txBody>
      </p:sp>
      <p:sp>
        <p:nvSpPr>
          <p:cNvPr id="24" name="TextBox 23"/>
          <p:cNvSpPr txBox="1"/>
          <p:nvPr/>
        </p:nvSpPr>
        <p:spPr>
          <a:xfrm>
            <a:off x="2971800" y="4343400"/>
            <a:ext cx="1874520" cy="1188720"/>
          </a:xfrm>
          <a:prstGeom prst="rect">
            <a:avLst/>
          </a:prstGeom>
          <a:noFill/>
        </p:spPr>
        <p:txBody>
          <a:bodyPr wrap="square" lIns="45720" rIns="45720" tIns="18288" bIns="18288" anchor="t">
            <a:spAutoFit/>
          </a:bodyPr>
          <a:lstStyle/>
          <a:p>
            <a:pPr algn="l">
              <a:lnSpc>
                <a:spcPct val="130000"/>
              </a:lnSpc>
            </a:pPr>
            <a:r>
              <a:rPr sz="1100" b="0" i="1">
                <a:solidFill>
                  <a:srgbClr val="CBD5E1"/>
                </a:solidFill>
                <a:latin typeface="Calibri"/>
              </a:rPr>
              <a:t>STT waveform pulses.</a:t>
            </a:r>
          </a:p>
          <a:p>
            <a:pPr algn="l">
              <a:lnSpc>
                <a:spcPct val="130000"/>
              </a:lnSpc>
            </a:pPr>
            <a:r>
              <a:rPr sz="1100" b="0" i="1">
                <a:solidFill>
                  <a:srgbClr val="CBD5E1"/>
                </a:solidFill>
                <a:latin typeface="Calibri"/>
              </a:rPr>
              <a:t>Router picks Composer.</a:t>
            </a:r>
          </a:p>
        </p:txBody>
      </p:sp>
      <p:sp>
        <p:nvSpPr>
          <p:cNvPr id="25" name="Rounded Rectangle 24"/>
          <p:cNvSpPr/>
          <p:nvPr/>
        </p:nvSpPr>
        <p:spPr>
          <a:xfrm>
            <a:off x="2971800" y="5440680"/>
            <a:ext cx="777240" cy="292608"/>
          </a:xfrm>
          <a:prstGeom prst="roundRect">
            <a:avLst>
              <a:gd name="adj" fmla="val 10000"/>
            </a:avLst>
          </a:prstGeom>
          <a:solidFill>
            <a:srgbClr val="131826"/>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5440680"/>
            <a:ext cx="777240" cy="292608"/>
          </a:xfrm>
          <a:prstGeom prst="rect">
            <a:avLst/>
          </a:prstGeom>
          <a:noFill/>
        </p:spPr>
        <p:txBody>
          <a:bodyPr wrap="square" lIns="45720" rIns="45720" tIns="18288" bIns="18288" anchor="ctr">
            <a:spAutoFit/>
          </a:bodyPr>
          <a:lstStyle/>
          <a:p>
            <a:pPr algn="ctr">
              <a:lnSpc>
                <a:spcPct val="115000"/>
              </a:lnSpc>
            </a:pPr>
            <a:r>
              <a:rPr sz="1000" b="1" i="0">
                <a:solidFill>
                  <a:srgbClr val="8B5CF6"/>
                </a:solidFill>
                <a:latin typeface="Consolas"/>
              </a:rPr>
              <a:t>~8s</a:t>
            </a:r>
          </a:p>
        </p:txBody>
      </p:sp>
      <p:sp>
        <p:nvSpPr>
          <p:cNvPr id="27" name="Rounded Rectangle 26"/>
          <p:cNvSpPr/>
          <p:nvPr/>
        </p:nvSpPr>
        <p:spPr>
          <a:xfrm>
            <a:off x="5120640" y="1783080"/>
            <a:ext cx="2240280" cy="41605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03520" y="1965960"/>
            <a:ext cx="502920" cy="365760"/>
          </a:xfrm>
          <a:prstGeom prst="roundRect">
            <a:avLst>
              <a:gd name="adj" fmla="val 1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0" y="1984248"/>
            <a:ext cx="502920" cy="36576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03</a:t>
            </a:r>
          </a:p>
        </p:txBody>
      </p:sp>
      <p:sp>
        <p:nvSpPr>
          <p:cNvPr id="30" name="TextBox 29"/>
          <p:cNvSpPr txBox="1"/>
          <p:nvPr/>
        </p:nvSpPr>
        <p:spPr>
          <a:xfrm>
            <a:off x="5897880" y="1984248"/>
            <a:ext cx="1371600" cy="365760"/>
          </a:xfrm>
          <a:prstGeom prst="rect">
            <a:avLst/>
          </a:prstGeom>
          <a:noFill/>
        </p:spPr>
        <p:txBody>
          <a:bodyPr wrap="square" lIns="45720" rIns="45720" tIns="18288" bIns="18288" anchor="ctr">
            <a:spAutoFit/>
          </a:bodyPr>
          <a:lstStyle/>
          <a:p>
            <a:pPr algn="l">
              <a:lnSpc>
                <a:spcPct val="115000"/>
              </a:lnSpc>
            </a:pPr>
            <a:r>
              <a:rPr sz="1500" b="1" i="0">
                <a:solidFill>
                  <a:srgbClr val="FFFFFF"/>
                </a:solidFill>
                <a:latin typeface="Calibri"/>
              </a:rPr>
              <a:t>DIFF</a:t>
            </a:r>
          </a:p>
        </p:txBody>
      </p:sp>
      <p:sp>
        <p:nvSpPr>
          <p:cNvPr id="31" name="TextBox 30"/>
          <p:cNvSpPr txBox="1"/>
          <p:nvPr/>
        </p:nvSpPr>
        <p:spPr>
          <a:xfrm>
            <a:off x="5303520" y="260604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6366F1"/>
                </a:solidFill>
                <a:latin typeface="Consolas"/>
              </a:rPr>
              <a:t>ACTION</a:t>
            </a:r>
          </a:p>
        </p:txBody>
      </p:sp>
      <p:sp>
        <p:nvSpPr>
          <p:cNvPr id="32" name="TextBox 31"/>
          <p:cNvSpPr txBox="1"/>
          <p:nvPr/>
        </p:nvSpPr>
        <p:spPr>
          <a:xfrm>
            <a:off x="5303520" y="2880360"/>
            <a:ext cx="1874520" cy="1097280"/>
          </a:xfrm>
          <a:prstGeom prst="rect">
            <a:avLst/>
          </a:prstGeom>
          <a:noFill/>
        </p:spPr>
        <p:txBody>
          <a:bodyPr wrap="square" lIns="45720" rIns="45720" tIns="18288" bIns="18288" anchor="t">
            <a:spAutoFit/>
          </a:bodyPr>
          <a:lstStyle/>
          <a:p>
            <a:pPr algn="l">
              <a:lnSpc>
                <a:spcPct val="130000"/>
              </a:lnSpc>
            </a:pPr>
            <a:r>
              <a:rPr sz="1200" b="1" i="0">
                <a:solidFill>
                  <a:srgbClr val="FFFFFF"/>
                </a:solidFill>
                <a:latin typeface="Calibri"/>
              </a:rPr>
              <a:t>Composer panel opens.</a:t>
            </a:r>
          </a:p>
          <a:p>
            <a:pPr algn="l">
              <a:lnSpc>
                <a:spcPct val="130000"/>
              </a:lnSpc>
            </a:pPr>
            <a:r>
              <a:rPr sz="1200" b="1" i="0">
                <a:solidFill>
                  <a:srgbClr val="FFFFFF"/>
                </a:solidFill>
                <a:latin typeface="Calibri"/>
              </a:rPr>
              <a:t>Multi-file diff preview.</a:t>
            </a:r>
          </a:p>
        </p:txBody>
      </p:sp>
      <p:sp>
        <p:nvSpPr>
          <p:cNvPr id="33" name="TextBox 32"/>
          <p:cNvSpPr txBox="1"/>
          <p:nvPr/>
        </p:nvSpPr>
        <p:spPr>
          <a:xfrm>
            <a:off x="5303520" y="406908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6366F1"/>
                </a:solidFill>
                <a:latin typeface="Consolas"/>
              </a:rPr>
              <a:t>WOW MOMENT</a:t>
            </a:r>
          </a:p>
        </p:txBody>
      </p:sp>
      <p:sp>
        <p:nvSpPr>
          <p:cNvPr id="34" name="TextBox 33"/>
          <p:cNvSpPr txBox="1"/>
          <p:nvPr/>
        </p:nvSpPr>
        <p:spPr>
          <a:xfrm>
            <a:off x="5303520" y="4343400"/>
            <a:ext cx="1874520" cy="1188720"/>
          </a:xfrm>
          <a:prstGeom prst="rect">
            <a:avLst/>
          </a:prstGeom>
          <a:noFill/>
        </p:spPr>
        <p:txBody>
          <a:bodyPr wrap="square" lIns="45720" rIns="45720" tIns="18288" bIns="18288" anchor="t">
            <a:spAutoFit/>
          </a:bodyPr>
          <a:lstStyle/>
          <a:p>
            <a:pPr algn="l">
              <a:lnSpc>
                <a:spcPct val="130000"/>
              </a:lnSpc>
            </a:pPr>
            <a:r>
              <a:rPr sz="1100" b="0" i="1">
                <a:solidFill>
                  <a:srgbClr val="CBD5E1"/>
                </a:solidFill>
                <a:latin typeface="Calibri"/>
              </a:rPr>
              <a:t>Domain-pack aware.</a:t>
            </a:r>
          </a:p>
          <a:p>
            <a:pPr algn="l">
              <a:lnSpc>
                <a:spcPct val="130000"/>
              </a:lnSpc>
            </a:pPr>
            <a:r>
              <a:rPr sz="1100" b="0" i="1">
                <a:solidFill>
                  <a:srgbClr val="CBD5E1"/>
                </a:solidFill>
                <a:latin typeface="Calibri"/>
              </a:rPr>
              <a:t>Entrepreneur vocab.</a:t>
            </a:r>
          </a:p>
        </p:txBody>
      </p:sp>
      <p:sp>
        <p:nvSpPr>
          <p:cNvPr id="35" name="Rounded Rectangle 34"/>
          <p:cNvSpPr/>
          <p:nvPr/>
        </p:nvSpPr>
        <p:spPr>
          <a:xfrm>
            <a:off x="5303520" y="5440680"/>
            <a:ext cx="777240" cy="292608"/>
          </a:xfrm>
          <a:prstGeom prst="roundRect">
            <a:avLst>
              <a:gd name="adj" fmla="val 10000"/>
            </a:avLst>
          </a:prstGeom>
          <a:solidFill>
            <a:srgbClr val="131826"/>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03520" y="5440680"/>
            <a:ext cx="777240" cy="292608"/>
          </a:xfrm>
          <a:prstGeom prst="rect">
            <a:avLst/>
          </a:prstGeom>
          <a:noFill/>
        </p:spPr>
        <p:txBody>
          <a:bodyPr wrap="square" lIns="45720" rIns="45720" tIns="18288" bIns="18288" anchor="ctr">
            <a:spAutoFit/>
          </a:bodyPr>
          <a:lstStyle/>
          <a:p>
            <a:pPr algn="ctr">
              <a:lnSpc>
                <a:spcPct val="115000"/>
              </a:lnSpc>
            </a:pPr>
            <a:r>
              <a:rPr sz="1000" b="1" i="0">
                <a:solidFill>
                  <a:srgbClr val="6366F1"/>
                </a:solidFill>
                <a:latin typeface="Consolas"/>
              </a:rPr>
              <a:t>~15s</a:t>
            </a:r>
          </a:p>
        </p:txBody>
      </p:sp>
      <p:sp>
        <p:nvSpPr>
          <p:cNvPr id="37" name="Rounded Rectangle 36"/>
          <p:cNvSpPr/>
          <p:nvPr/>
        </p:nvSpPr>
        <p:spPr>
          <a:xfrm>
            <a:off x="7452360" y="1783080"/>
            <a:ext cx="2240280" cy="41605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635240" y="1965960"/>
            <a:ext cx="502920" cy="365760"/>
          </a:xfrm>
          <a:prstGeom prst="roundRect">
            <a:avLst>
              <a:gd name="adj" fmla="val 10000"/>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35240" y="1984248"/>
            <a:ext cx="502920" cy="36576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04</a:t>
            </a:r>
          </a:p>
        </p:txBody>
      </p:sp>
      <p:sp>
        <p:nvSpPr>
          <p:cNvPr id="40" name="TextBox 39"/>
          <p:cNvSpPr txBox="1"/>
          <p:nvPr/>
        </p:nvSpPr>
        <p:spPr>
          <a:xfrm>
            <a:off x="8229600" y="1984248"/>
            <a:ext cx="1371600" cy="365760"/>
          </a:xfrm>
          <a:prstGeom prst="rect">
            <a:avLst/>
          </a:prstGeom>
          <a:noFill/>
        </p:spPr>
        <p:txBody>
          <a:bodyPr wrap="square" lIns="45720" rIns="45720" tIns="18288" bIns="18288" anchor="ctr">
            <a:spAutoFit/>
          </a:bodyPr>
          <a:lstStyle/>
          <a:p>
            <a:pPr algn="l">
              <a:lnSpc>
                <a:spcPct val="115000"/>
              </a:lnSpc>
            </a:pPr>
            <a:r>
              <a:rPr sz="1500" b="1" i="0">
                <a:solidFill>
                  <a:srgbClr val="FFFFFF"/>
                </a:solidFill>
                <a:latin typeface="Calibri"/>
              </a:rPr>
              <a:t>APPROVE</a:t>
            </a:r>
          </a:p>
        </p:txBody>
      </p:sp>
      <p:sp>
        <p:nvSpPr>
          <p:cNvPr id="41" name="TextBox 40"/>
          <p:cNvSpPr txBox="1"/>
          <p:nvPr/>
        </p:nvSpPr>
        <p:spPr>
          <a:xfrm>
            <a:off x="7635240" y="260604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84CC16"/>
                </a:solidFill>
                <a:latin typeface="Consolas"/>
              </a:rPr>
              <a:t>ACTION</a:t>
            </a:r>
          </a:p>
        </p:txBody>
      </p:sp>
      <p:sp>
        <p:nvSpPr>
          <p:cNvPr id="42" name="TextBox 41"/>
          <p:cNvSpPr txBox="1"/>
          <p:nvPr/>
        </p:nvSpPr>
        <p:spPr>
          <a:xfrm>
            <a:off x="7635240" y="2880360"/>
            <a:ext cx="1874520" cy="1097280"/>
          </a:xfrm>
          <a:prstGeom prst="rect">
            <a:avLst/>
          </a:prstGeom>
          <a:noFill/>
        </p:spPr>
        <p:txBody>
          <a:bodyPr wrap="square" lIns="45720" rIns="45720" tIns="18288" bIns="18288" anchor="t">
            <a:spAutoFit/>
          </a:bodyPr>
          <a:lstStyle/>
          <a:p>
            <a:pPr algn="l">
              <a:lnSpc>
                <a:spcPct val="130000"/>
              </a:lnSpc>
            </a:pPr>
            <a:r>
              <a:rPr sz="1200" b="1" i="0">
                <a:solidFill>
                  <a:srgbClr val="FFFFFF"/>
                </a:solidFill>
                <a:latin typeface="Calibri"/>
              </a:rPr>
              <a:t>Click  Accept hunks.</a:t>
            </a:r>
          </a:p>
          <a:p>
            <a:pPr algn="l">
              <a:lnSpc>
                <a:spcPct val="130000"/>
              </a:lnSpc>
            </a:pPr>
            <a:r>
              <a:rPr sz="1200" b="1" i="0">
                <a:solidFill>
                  <a:srgbClr val="FFFFFF"/>
                </a:solidFill>
                <a:latin typeface="Calibri"/>
              </a:rPr>
              <a:t>Gmail draft created.</a:t>
            </a:r>
          </a:p>
        </p:txBody>
      </p:sp>
      <p:sp>
        <p:nvSpPr>
          <p:cNvPr id="43" name="TextBox 42"/>
          <p:cNvSpPr txBox="1"/>
          <p:nvPr/>
        </p:nvSpPr>
        <p:spPr>
          <a:xfrm>
            <a:off x="7635240" y="406908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84CC16"/>
                </a:solidFill>
                <a:latin typeface="Consolas"/>
              </a:rPr>
              <a:t>WOW MOMENT</a:t>
            </a:r>
          </a:p>
        </p:txBody>
      </p:sp>
      <p:sp>
        <p:nvSpPr>
          <p:cNvPr id="44" name="TextBox 43"/>
          <p:cNvSpPr txBox="1"/>
          <p:nvPr/>
        </p:nvSpPr>
        <p:spPr>
          <a:xfrm>
            <a:off x="7635240" y="4343400"/>
            <a:ext cx="1874520" cy="1188720"/>
          </a:xfrm>
          <a:prstGeom prst="rect">
            <a:avLst/>
          </a:prstGeom>
          <a:noFill/>
        </p:spPr>
        <p:txBody>
          <a:bodyPr wrap="square" lIns="45720" rIns="45720" tIns="18288" bIns="18288" anchor="t">
            <a:spAutoFit/>
          </a:bodyPr>
          <a:lstStyle/>
          <a:p>
            <a:pPr algn="l">
              <a:lnSpc>
                <a:spcPct val="130000"/>
              </a:lnSpc>
            </a:pPr>
            <a:r>
              <a:rPr sz="1100" b="0" i="1">
                <a:solidFill>
                  <a:srgbClr val="CBD5E1"/>
                </a:solidFill>
                <a:latin typeface="Calibri"/>
              </a:rPr>
              <a:t>Real OAuth.</a:t>
            </a:r>
          </a:p>
          <a:p>
            <a:pPr algn="l">
              <a:lnSpc>
                <a:spcPct val="130000"/>
              </a:lnSpc>
            </a:pPr>
            <a:r>
              <a:rPr sz="1100" b="0" i="1">
                <a:solidFill>
                  <a:srgbClr val="CBD5E1"/>
                </a:solidFill>
                <a:latin typeface="Calibri"/>
              </a:rPr>
              <a:t>Real draft in Drafts folder.</a:t>
            </a:r>
          </a:p>
        </p:txBody>
      </p:sp>
      <p:sp>
        <p:nvSpPr>
          <p:cNvPr id="45" name="Rounded Rectangle 44"/>
          <p:cNvSpPr/>
          <p:nvPr/>
        </p:nvSpPr>
        <p:spPr>
          <a:xfrm>
            <a:off x="7635240" y="5440680"/>
            <a:ext cx="777240" cy="292608"/>
          </a:xfrm>
          <a:prstGeom prst="roundRect">
            <a:avLst>
              <a:gd name="adj" fmla="val 10000"/>
            </a:avLst>
          </a:prstGeom>
          <a:solidFill>
            <a:srgbClr val="131826"/>
          </a:solidFill>
          <a:ln w="12700">
            <a:solidFill>
              <a:srgbClr val="84C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35240" y="5440680"/>
            <a:ext cx="777240" cy="292608"/>
          </a:xfrm>
          <a:prstGeom prst="rect">
            <a:avLst/>
          </a:prstGeom>
          <a:noFill/>
        </p:spPr>
        <p:txBody>
          <a:bodyPr wrap="square" lIns="45720" rIns="45720" tIns="18288" bIns="18288" anchor="ctr">
            <a:spAutoFit/>
          </a:bodyPr>
          <a:lstStyle/>
          <a:p>
            <a:pPr algn="ctr">
              <a:lnSpc>
                <a:spcPct val="115000"/>
              </a:lnSpc>
            </a:pPr>
            <a:r>
              <a:rPr sz="1000" b="1" i="0">
                <a:solidFill>
                  <a:srgbClr val="84CC16"/>
                </a:solidFill>
                <a:latin typeface="Consolas"/>
              </a:rPr>
              <a:t>~10s</a:t>
            </a:r>
          </a:p>
        </p:txBody>
      </p:sp>
      <p:sp>
        <p:nvSpPr>
          <p:cNvPr id="47" name="Rounded Rectangle 46"/>
          <p:cNvSpPr/>
          <p:nvPr/>
        </p:nvSpPr>
        <p:spPr>
          <a:xfrm>
            <a:off x="9784080" y="1783080"/>
            <a:ext cx="2240280" cy="41605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966960" y="1965960"/>
            <a:ext cx="502920" cy="36576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966960" y="1984248"/>
            <a:ext cx="502920" cy="36576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05</a:t>
            </a:r>
          </a:p>
        </p:txBody>
      </p:sp>
      <p:sp>
        <p:nvSpPr>
          <p:cNvPr id="50" name="TextBox 49"/>
          <p:cNvSpPr txBox="1"/>
          <p:nvPr/>
        </p:nvSpPr>
        <p:spPr>
          <a:xfrm>
            <a:off x="10561320" y="1984248"/>
            <a:ext cx="1371600" cy="365760"/>
          </a:xfrm>
          <a:prstGeom prst="rect">
            <a:avLst/>
          </a:prstGeom>
          <a:noFill/>
        </p:spPr>
        <p:txBody>
          <a:bodyPr wrap="square" lIns="45720" rIns="45720" tIns="18288" bIns="18288" anchor="ctr">
            <a:spAutoFit/>
          </a:bodyPr>
          <a:lstStyle/>
          <a:p>
            <a:pPr algn="l">
              <a:lnSpc>
                <a:spcPct val="115000"/>
              </a:lnSpc>
            </a:pPr>
            <a:r>
              <a:rPr sz="1500" b="1" i="0">
                <a:solidFill>
                  <a:srgbClr val="FFFFFF"/>
                </a:solidFill>
                <a:latin typeface="Calibri"/>
              </a:rPr>
              <a:t>AUDIT</a:t>
            </a:r>
          </a:p>
        </p:txBody>
      </p:sp>
      <p:sp>
        <p:nvSpPr>
          <p:cNvPr id="51" name="TextBox 50"/>
          <p:cNvSpPr txBox="1"/>
          <p:nvPr/>
        </p:nvSpPr>
        <p:spPr>
          <a:xfrm>
            <a:off x="9966960" y="260604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F59E0B"/>
                </a:solidFill>
                <a:latin typeface="Consolas"/>
              </a:rPr>
              <a:t>ACTION</a:t>
            </a:r>
          </a:p>
        </p:txBody>
      </p:sp>
      <p:sp>
        <p:nvSpPr>
          <p:cNvPr id="52" name="TextBox 51"/>
          <p:cNvSpPr txBox="1"/>
          <p:nvPr/>
        </p:nvSpPr>
        <p:spPr>
          <a:xfrm>
            <a:off x="9966960" y="2880360"/>
            <a:ext cx="1874520" cy="1097280"/>
          </a:xfrm>
          <a:prstGeom prst="rect">
            <a:avLst/>
          </a:prstGeom>
          <a:noFill/>
        </p:spPr>
        <p:txBody>
          <a:bodyPr wrap="square" lIns="45720" rIns="45720" tIns="18288" bIns="18288" anchor="t">
            <a:spAutoFit/>
          </a:bodyPr>
          <a:lstStyle/>
          <a:p>
            <a:pPr algn="l">
              <a:lnSpc>
                <a:spcPct val="130000"/>
              </a:lnSpc>
            </a:pPr>
            <a:r>
              <a:rPr sz="1200" b="1" i="0">
                <a:solidFill>
                  <a:srgbClr val="FFFFFF"/>
                </a:solidFill>
                <a:latin typeface="Calibri"/>
              </a:rPr>
              <a:t>Open Audit Explorer.</a:t>
            </a:r>
          </a:p>
          <a:p>
            <a:pPr algn="l">
              <a:lnSpc>
                <a:spcPct val="130000"/>
              </a:lnSpc>
            </a:pPr>
            <a:r>
              <a:rPr sz="1200" b="1" i="0">
                <a:solidFill>
                  <a:srgbClr val="FFFFFF"/>
                </a:solidFill>
                <a:latin typeface="Calibri"/>
              </a:rPr>
              <a:t>Receipt #1284 is live.</a:t>
            </a:r>
          </a:p>
        </p:txBody>
      </p:sp>
      <p:sp>
        <p:nvSpPr>
          <p:cNvPr id="53" name="TextBox 52"/>
          <p:cNvSpPr txBox="1"/>
          <p:nvPr/>
        </p:nvSpPr>
        <p:spPr>
          <a:xfrm>
            <a:off x="9966960" y="4069080"/>
            <a:ext cx="1874520" cy="274320"/>
          </a:xfrm>
          <a:prstGeom prst="rect">
            <a:avLst/>
          </a:prstGeom>
          <a:noFill/>
        </p:spPr>
        <p:txBody>
          <a:bodyPr wrap="square" lIns="45720" rIns="45720" tIns="18288" bIns="18288" anchor="t">
            <a:spAutoFit/>
          </a:bodyPr>
          <a:lstStyle/>
          <a:p>
            <a:pPr algn="l">
              <a:lnSpc>
                <a:spcPct val="115000"/>
              </a:lnSpc>
            </a:pPr>
            <a:r>
              <a:rPr sz="900" b="1" i="0">
                <a:solidFill>
                  <a:srgbClr val="F59E0B"/>
                </a:solidFill>
                <a:latin typeface="Consolas"/>
              </a:rPr>
              <a:t>WOW MOMENT</a:t>
            </a:r>
          </a:p>
        </p:txBody>
      </p:sp>
      <p:sp>
        <p:nvSpPr>
          <p:cNvPr id="54" name="TextBox 53"/>
          <p:cNvSpPr txBox="1"/>
          <p:nvPr/>
        </p:nvSpPr>
        <p:spPr>
          <a:xfrm>
            <a:off x="9966960" y="4343400"/>
            <a:ext cx="1874520" cy="1188720"/>
          </a:xfrm>
          <a:prstGeom prst="rect">
            <a:avLst/>
          </a:prstGeom>
          <a:noFill/>
        </p:spPr>
        <p:txBody>
          <a:bodyPr wrap="square" lIns="45720" rIns="45720" tIns="18288" bIns="18288" anchor="t">
            <a:spAutoFit/>
          </a:bodyPr>
          <a:lstStyle/>
          <a:p>
            <a:pPr algn="l">
              <a:lnSpc>
                <a:spcPct val="130000"/>
              </a:lnSpc>
            </a:pPr>
            <a:r>
              <a:rPr sz="1100" b="0" i="1">
                <a:solidFill>
                  <a:srgbClr val="CBD5E1"/>
                </a:solidFill>
                <a:latin typeface="Calibri"/>
              </a:rPr>
              <a:t>Hash chained, ready to</a:t>
            </a:r>
          </a:p>
          <a:p>
            <a:pPr algn="l">
              <a:lnSpc>
                <a:spcPct val="130000"/>
              </a:lnSpc>
            </a:pPr>
            <a:r>
              <a:rPr sz="1100" b="0" i="1">
                <a:solidFill>
                  <a:srgbClr val="CBD5E1"/>
                </a:solidFill>
                <a:latin typeface="Calibri"/>
              </a:rPr>
              <a:t>Merkle-anchor on Solana.</a:t>
            </a:r>
          </a:p>
        </p:txBody>
      </p:sp>
      <p:sp>
        <p:nvSpPr>
          <p:cNvPr id="55" name="Rounded Rectangle 54"/>
          <p:cNvSpPr/>
          <p:nvPr/>
        </p:nvSpPr>
        <p:spPr>
          <a:xfrm>
            <a:off x="9966960" y="5440680"/>
            <a:ext cx="777240" cy="292608"/>
          </a:xfrm>
          <a:prstGeom prst="roundRect">
            <a:avLst>
              <a:gd name="adj" fmla="val 10000"/>
            </a:avLst>
          </a:prstGeom>
          <a:solidFill>
            <a:srgbClr val="13182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66960" y="5440680"/>
            <a:ext cx="777240" cy="292608"/>
          </a:xfrm>
          <a:prstGeom prst="rect">
            <a:avLst/>
          </a:prstGeom>
          <a:noFill/>
        </p:spPr>
        <p:txBody>
          <a:bodyPr wrap="square" lIns="45720" rIns="45720" tIns="18288" bIns="18288" anchor="ctr">
            <a:spAutoFit/>
          </a:bodyPr>
          <a:lstStyle/>
          <a:p>
            <a:pPr algn="ctr">
              <a:lnSpc>
                <a:spcPct val="115000"/>
              </a:lnSpc>
            </a:pPr>
            <a:r>
              <a:rPr sz="1000" b="1" i="0">
                <a:solidFill>
                  <a:srgbClr val="F59E0B"/>
                </a:solidFill>
                <a:latin typeface="Consolas"/>
              </a:rPr>
              <a:t>~5s</a:t>
            </a:r>
          </a:p>
        </p:txBody>
      </p:sp>
      <p:sp>
        <p:nvSpPr>
          <p:cNvPr id="57" name="TextBox 56"/>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58" name="TextBox 57"/>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ARCHITECTURE</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000" b="1" i="0">
                <a:solidFill>
                  <a:srgbClr val="FFFFFF"/>
                </a:solidFill>
                <a:latin typeface="Calibri"/>
              </a:rPr>
              <a:t>Local sidecar.  Receipt anchor.  Token rails.</a:t>
            </a:r>
          </a:p>
        </p:txBody>
      </p:sp>
      <p:sp>
        <p:nvSpPr>
          <p:cNvPr id="7" name="Rounded Rectangle 6"/>
          <p:cNvSpPr/>
          <p:nvPr/>
        </p:nvSpPr>
        <p:spPr>
          <a:xfrm>
            <a:off x="548640" y="2103120"/>
            <a:ext cx="2011680" cy="1691640"/>
          </a:xfrm>
          <a:prstGeom prst="roundRect">
            <a:avLst>
              <a:gd name="adj" fmla="val 10000"/>
            </a:avLst>
          </a:prstGeom>
          <a:solidFill>
            <a:srgbClr val="0D111B"/>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286000"/>
            <a:ext cx="109728" cy="109728"/>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9424"/>
            <a:ext cx="1554480" cy="365760"/>
          </a:xfrm>
          <a:prstGeom prst="rect">
            <a:avLst/>
          </a:prstGeom>
          <a:noFill/>
        </p:spPr>
        <p:txBody>
          <a:bodyPr wrap="square" lIns="45720" rIns="45720" tIns="18288" bIns="18288" anchor="t">
            <a:spAutoFit/>
          </a:bodyPr>
          <a:lstStyle/>
          <a:p>
            <a:pPr algn="l">
              <a:lnSpc>
                <a:spcPct val="115000"/>
              </a:lnSpc>
            </a:pPr>
            <a:r>
              <a:rPr sz="1400" b="1" i="0">
                <a:solidFill>
                  <a:srgbClr val="FFFFFF"/>
                </a:solidFill>
                <a:latin typeface="Calibri"/>
              </a:rPr>
              <a:t>TARS.app</a:t>
            </a:r>
          </a:p>
        </p:txBody>
      </p:sp>
      <p:sp>
        <p:nvSpPr>
          <p:cNvPr id="10" name="TextBox 9"/>
          <p:cNvSpPr txBox="1"/>
          <p:nvPr/>
        </p:nvSpPr>
        <p:spPr>
          <a:xfrm>
            <a:off x="731520" y="2651760"/>
            <a:ext cx="1645920" cy="105156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onsolas"/>
              </a:rPr>
              <a:t>Tauri 2 desktop</a:t>
            </a:r>
          </a:p>
          <a:p>
            <a:pPr algn="l">
              <a:lnSpc>
                <a:spcPct val="130000"/>
              </a:lnSpc>
            </a:pPr>
            <a:r>
              <a:rPr sz="1000" b="0" i="0">
                <a:solidFill>
                  <a:srgbClr val="CBD5E1"/>
                </a:solidFill>
                <a:latin typeface="Consolas"/>
              </a:rPr>
              <a:t>Voice cockpit</a:t>
            </a:r>
          </a:p>
          <a:p>
            <a:pPr algn="l">
              <a:lnSpc>
                <a:spcPct val="130000"/>
              </a:lnSpc>
            </a:pPr>
            <a:r>
              <a:rPr sz="1000" b="0" i="0">
                <a:solidFill>
                  <a:srgbClr val="CBD5E1"/>
                </a:solidFill>
                <a:latin typeface="Consolas"/>
              </a:rPr>
              <a:t>Cmd+Shift+Space</a:t>
            </a:r>
          </a:p>
        </p:txBody>
      </p:sp>
      <p:sp>
        <p:nvSpPr>
          <p:cNvPr id="11" name="Rounded Rectangle 10"/>
          <p:cNvSpPr/>
          <p:nvPr/>
        </p:nvSpPr>
        <p:spPr>
          <a:xfrm>
            <a:off x="2926080" y="2103120"/>
            <a:ext cx="2011680" cy="1691640"/>
          </a:xfrm>
          <a:prstGeom prst="roundRect">
            <a:avLst>
              <a:gd name="adj" fmla="val 10000"/>
            </a:avLst>
          </a:prstGeom>
          <a:solidFill>
            <a:srgbClr val="0D111B"/>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108960" y="2286000"/>
            <a:ext cx="109728" cy="109728"/>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91840" y="2249424"/>
            <a:ext cx="1554480" cy="365760"/>
          </a:xfrm>
          <a:prstGeom prst="rect">
            <a:avLst/>
          </a:prstGeom>
          <a:noFill/>
        </p:spPr>
        <p:txBody>
          <a:bodyPr wrap="square" lIns="45720" rIns="45720" tIns="18288" bIns="18288" anchor="t">
            <a:spAutoFit/>
          </a:bodyPr>
          <a:lstStyle/>
          <a:p>
            <a:pPr algn="l">
              <a:lnSpc>
                <a:spcPct val="115000"/>
              </a:lnSpc>
            </a:pPr>
            <a:r>
              <a:rPr sz="1400" b="1" i="0">
                <a:solidFill>
                  <a:srgbClr val="FFFFFF"/>
                </a:solidFill>
                <a:latin typeface="Calibri"/>
              </a:rPr>
              <a:t>Backend</a:t>
            </a:r>
          </a:p>
        </p:txBody>
      </p:sp>
      <p:sp>
        <p:nvSpPr>
          <p:cNvPr id="14" name="TextBox 13"/>
          <p:cNvSpPr txBox="1"/>
          <p:nvPr/>
        </p:nvSpPr>
        <p:spPr>
          <a:xfrm>
            <a:off x="3108960" y="2651760"/>
            <a:ext cx="1645920" cy="105156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onsolas"/>
              </a:rPr>
              <a:t>FastAPI :8765</a:t>
            </a:r>
          </a:p>
          <a:p>
            <a:pPr algn="l">
              <a:lnSpc>
                <a:spcPct val="130000"/>
              </a:lnSpc>
            </a:pPr>
            <a:r>
              <a:rPr sz="1000" b="0" i="0">
                <a:solidFill>
                  <a:srgbClr val="CBD5E1"/>
                </a:solidFill>
                <a:latin typeface="Consolas"/>
              </a:rPr>
              <a:t>50 routers</a:t>
            </a:r>
          </a:p>
          <a:p>
            <a:pPr algn="l">
              <a:lnSpc>
                <a:spcPct val="130000"/>
              </a:lnSpc>
            </a:pPr>
            <a:r>
              <a:rPr sz="1000" b="0" i="0">
                <a:solidFill>
                  <a:srgbClr val="CBD5E1"/>
                </a:solidFill>
                <a:latin typeface="Consolas"/>
              </a:rPr>
              <a:t>SQLite + sqlite-vec</a:t>
            </a:r>
          </a:p>
        </p:txBody>
      </p:sp>
      <p:sp>
        <p:nvSpPr>
          <p:cNvPr id="15" name="Rounded Rectangle 14"/>
          <p:cNvSpPr/>
          <p:nvPr/>
        </p:nvSpPr>
        <p:spPr>
          <a:xfrm>
            <a:off x="5303520" y="2103120"/>
            <a:ext cx="2011680" cy="1691640"/>
          </a:xfrm>
          <a:prstGeom prst="roundRect">
            <a:avLst>
              <a:gd name="adj" fmla="val 10000"/>
            </a:avLst>
          </a:prstGeom>
          <a:solidFill>
            <a:srgbClr val="0D111B"/>
          </a:solidFill>
          <a:ln w="1905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0" y="2286000"/>
            <a:ext cx="109728" cy="109728"/>
          </a:xfrm>
          <a:prstGeom prst="roundRect">
            <a:avLst>
              <a:gd name="adj" fmla="val 1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2249424"/>
            <a:ext cx="1554480" cy="365760"/>
          </a:xfrm>
          <a:prstGeom prst="rect">
            <a:avLst/>
          </a:prstGeom>
          <a:noFill/>
        </p:spPr>
        <p:txBody>
          <a:bodyPr wrap="square" lIns="45720" rIns="45720" tIns="18288" bIns="18288" anchor="t">
            <a:spAutoFit/>
          </a:bodyPr>
          <a:lstStyle/>
          <a:p>
            <a:pPr algn="l">
              <a:lnSpc>
                <a:spcPct val="115000"/>
              </a:lnSpc>
            </a:pPr>
            <a:r>
              <a:rPr sz="1400" b="1" i="0">
                <a:solidFill>
                  <a:srgbClr val="FFFFFF"/>
                </a:solidFill>
                <a:latin typeface="Calibri"/>
              </a:rPr>
              <a:t>meeet.world</a:t>
            </a:r>
          </a:p>
        </p:txBody>
      </p:sp>
      <p:sp>
        <p:nvSpPr>
          <p:cNvPr id="18" name="TextBox 17"/>
          <p:cNvSpPr txBox="1"/>
          <p:nvPr/>
        </p:nvSpPr>
        <p:spPr>
          <a:xfrm>
            <a:off x="5486400" y="2651760"/>
            <a:ext cx="1645920" cy="105156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onsolas"/>
              </a:rPr>
              <a:t>Identity / Billing</a:t>
            </a:r>
          </a:p>
          <a:p>
            <a:pPr algn="l">
              <a:lnSpc>
                <a:spcPct val="130000"/>
              </a:lnSpc>
            </a:pPr>
            <a:r>
              <a:rPr sz="1000" b="0" i="0">
                <a:solidFill>
                  <a:srgbClr val="CBD5E1"/>
                </a:solidFill>
                <a:latin typeface="Consolas"/>
              </a:rPr>
              <a:t>$MEEET economy</a:t>
            </a:r>
          </a:p>
          <a:p>
            <a:pPr algn="l">
              <a:lnSpc>
                <a:spcPct val="130000"/>
              </a:lnSpc>
            </a:pPr>
            <a:r>
              <a:rPr sz="1000" b="0" i="0">
                <a:solidFill>
                  <a:srgbClr val="CBD5E1"/>
                </a:solidFill>
                <a:latin typeface="Consolas"/>
              </a:rPr>
              <a:t>Marketplace 70/30</a:t>
            </a:r>
          </a:p>
        </p:txBody>
      </p:sp>
      <p:sp>
        <p:nvSpPr>
          <p:cNvPr id="19" name="Rounded Rectangle 18"/>
          <p:cNvSpPr/>
          <p:nvPr/>
        </p:nvSpPr>
        <p:spPr>
          <a:xfrm>
            <a:off x="7680960" y="2103120"/>
            <a:ext cx="2011680" cy="1691640"/>
          </a:xfrm>
          <a:prstGeom prst="roundRect">
            <a:avLst>
              <a:gd name="adj" fmla="val 10000"/>
            </a:avLst>
          </a:prstGeom>
          <a:solidFill>
            <a:srgbClr val="0D111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863840" y="2286000"/>
            <a:ext cx="109728" cy="109728"/>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0" y="2249424"/>
            <a:ext cx="1554480" cy="365760"/>
          </a:xfrm>
          <a:prstGeom prst="rect">
            <a:avLst/>
          </a:prstGeom>
          <a:noFill/>
        </p:spPr>
        <p:txBody>
          <a:bodyPr wrap="square" lIns="45720" rIns="45720" tIns="18288" bIns="18288" anchor="t">
            <a:spAutoFit/>
          </a:bodyPr>
          <a:lstStyle/>
          <a:p>
            <a:pPr algn="l">
              <a:lnSpc>
                <a:spcPct val="115000"/>
              </a:lnSpc>
            </a:pPr>
            <a:r>
              <a:rPr sz="1400" b="1" i="0">
                <a:solidFill>
                  <a:srgbClr val="FFFFFF"/>
                </a:solidFill>
                <a:latin typeface="Calibri"/>
              </a:rPr>
              <a:t>Solana</a:t>
            </a:r>
          </a:p>
        </p:txBody>
      </p:sp>
      <p:sp>
        <p:nvSpPr>
          <p:cNvPr id="22" name="TextBox 21"/>
          <p:cNvSpPr txBox="1"/>
          <p:nvPr/>
        </p:nvSpPr>
        <p:spPr>
          <a:xfrm>
            <a:off x="7863840" y="2651760"/>
            <a:ext cx="1645920" cy="105156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onsolas"/>
              </a:rPr>
              <a:t>Memo program</a:t>
            </a:r>
          </a:p>
          <a:p>
            <a:pPr algn="l">
              <a:lnSpc>
                <a:spcPct val="130000"/>
              </a:lnSpc>
            </a:pPr>
            <a:r>
              <a:rPr sz="1000" b="0" i="0">
                <a:solidFill>
                  <a:srgbClr val="CBD5E1"/>
                </a:solidFill>
                <a:latin typeface="Consolas"/>
              </a:rPr>
              <a:t>Daily Merkle root</a:t>
            </a:r>
          </a:p>
          <a:p>
            <a:pPr algn="l">
              <a:lnSpc>
                <a:spcPct val="130000"/>
              </a:lnSpc>
            </a:pPr>
            <a:r>
              <a:rPr sz="1000" b="0" i="0">
                <a:solidFill>
                  <a:srgbClr val="CBD5E1"/>
                </a:solidFill>
                <a:latin typeface="Consolas"/>
              </a:rPr>
              <a:t>Public verifier</a:t>
            </a:r>
          </a:p>
        </p:txBody>
      </p:sp>
      <p:sp>
        <p:nvSpPr>
          <p:cNvPr id="23" name="Rounded Rectangle 22"/>
          <p:cNvSpPr/>
          <p:nvPr/>
        </p:nvSpPr>
        <p:spPr>
          <a:xfrm>
            <a:off x="10058400" y="2103120"/>
            <a:ext cx="2011680" cy="1691640"/>
          </a:xfrm>
          <a:prstGeom prst="roundRect">
            <a:avLst>
              <a:gd name="adj" fmla="val 10000"/>
            </a:avLst>
          </a:prstGeom>
          <a:solidFill>
            <a:srgbClr val="0D111B"/>
          </a:solidFill>
          <a:ln w="1905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241280" y="2286000"/>
            <a:ext cx="109728" cy="109728"/>
          </a:xfrm>
          <a:prstGeom prst="roundRect">
            <a:avLst>
              <a:gd name="adj" fmla="val 1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24160" y="2249424"/>
            <a:ext cx="1554480" cy="365760"/>
          </a:xfrm>
          <a:prstGeom prst="rect">
            <a:avLst/>
          </a:prstGeom>
          <a:noFill/>
        </p:spPr>
        <p:txBody>
          <a:bodyPr wrap="square" lIns="45720" rIns="45720" tIns="18288" bIns="18288" anchor="t">
            <a:spAutoFit/>
          </a:bodyPr>
          <a:lstStyle/>
          <a:p>
            <a:pPr algn="l">
              <a:lnSpc>
                <a:spcPct val="115000"/>
              </a:lnSpc>
            </a:pPr>
            <a:r>
              <a:rPr sz="1400" b="1" i="0">
                <a:solidFill>
                  <a:srgbClr val="FFFFFF"/>
                </a:solidFill>
                <a:latin typeface="Calibri"/>
              </a:rPr>
              <a:t>LLM providers</a:t>
            </a:r>
          </a:p>
        </p:txBody>
      </p:sp>
      <p:sp>
        <p:nvSpPr>
          <p:cNvPr id="26" name="TextBox 25"/>
          <p:cNvSpPr txBox="1"/>
          <p:nvPr/>
        </p:nvSpPr>
        <p:spPr>
          <a:xfrm>
            <a:off x="10241280" y="2651760"/>
            <a:ext cx="1645920" cy="105156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onsolas"/>
              </a:rPr>
              <a:t>Anthropic / OpenAI</a:t>
            </a:r>
          </a:p>
          <a:p>
            <a:pPr algn="l">
              <a:lnSpc>
                <a:spcPct val="130000"/>
              </a:lnSpc>
            </a:pPr>
            <a:r>
              <a:rPr sz="1000" b="0" i="0">
                <a:solidFill>
                  <a:srgbClr val="CBD5E1"/>
                </a:solidFill>
                <a:latin typeface="Consolas"/>
              </a:rPr>
              <a:t>OpenRouter / Ollama</a:t>
            </a:r>
          </a:p>
          <a:p>
            <a:pPr algn="l">
              <a:lnSpc>
                <a:spcPct val="130000"/>
              </a:lnSpc>
            </a:pPr>
            <a:r>
              <a:rPr sz="1000" b="0" i="0">
                <a:solidFill>
                  <a:srgbClr val="CBD5E1"/>
                </a:solidFill>
                <a:latin typeface="Consolas"/>
              </a:rPr>
              <a:t>BYO key</a:t>
            </a:r>
          </a:p>
        </p:txBody>
      </p:sp>
      <p:sp>
        <p:nvSpPr>
          <p:cNvPr id="27" name="Right Arrow 26"/>
          <p:cNvSpPr/>
          <p:nvPr/>
        </p:nvSpPr>
        <p:spPr>
          <a:xfrm>
            <a:off x="2560320" y="2857500"/>
            <a:ext cx="36576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ight Arrow 27"/>
          <p:cNvSpPr/>
          <p:nvPr/>
        </p:nvSpPr>
        <p:spPr>
          <a:xfrm>
            <a:off x="4937760" y="2857500"/>
            <a:ext cx="36576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7315200" y="2857500"/>
            <a:ext cx="36576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ight Arrow 29"/>
          <p:cNvSpPr/>
          <p:nvPr/>
        </p:nvSpPr>
        <p:spPr>
          <a:xfrm>
            <a:off x="9692640" y="2857500"/>
            <a:ext cx="365760" cy="1828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4617720"/>
            <a:ext cx="11155680" cy="365760"/>
          </a:xfrm>
          <a:prstGeom prst="rect">
            <a:avLst/>
          </a:prstGeom>
          <a:noFill/>
        </p:spPr>
        <p:txBody>
          <a:bodyPr wrap="square" lIns="45720" rIns="45720" tIns="18288" bIns="18288" anchor="t">
            <a:spAutoFit/>
          </a:bodyPr>
          <a:lstStyle/>
          <a:p>
            <a:pPr algn="l">
              <a:lnSpc>
                <a:spcPct val="115000"/>
              </a:lnSpc>
            </a:pPr>
            <a:r>
              <a:rPr sz="1000" b="1" i="0">
                <a:solidFill>
                  <a:srgbClr val="06B6D4"/>
                </a:solidFill>
                <a:latin typeface="Consolas"/>
              </a:rPr>
              <a:t>DATA PATH</a:t>
            </a:r>
          </a:p>
        </p:txBody>
      </p:sp>
      <p:sp>
        <p:nvSpPr>
          <p:cNvPr id="32" name="TextBox 31"/>
          <p:cNvSpPr txBox="1"/>
          <p:nvPr/>
        </p:nvSpPr>
        <p:spPr>
          <a:xfrm>
            <a:off x="548640" y="4937760"/>
            <a:ext cx="11155680" cy="457200"/>
          </a:xfrm>
          <a:prstGeom prst="rect">
            <a:avLst/>
          </a:prstGeom>
          <a:noFill/>
        </p:spPr>
        <p:txBody>
          <a:bodyPr wrap="square" lIns="45720" rIns="45720" tIns="18288" bIns="18288" anchor="t">
            <a:spAutoFit/>
          </a:bodyPr>
          <a:lstStyle/>
          <a:p>
            <a:pPr algn="l">
              <a:lnSpc>
                <a:spcPct val="115000"/>
              </a:lnSpc>
            </a:pPr>
            <a:r>
              <a:rPr sz="1400" b="0" i="0">
                <a:solidFill>
                  <a:srgbClr val="CBD5E1"/>
                </a:solidFill>
                <a:latin typeface="Calibri"/>
              </a:rPr>
              <a:t>Voice/chat → router → agent → action → signed receipt → daily Merkle root → Solana memo.</a:t>
            </a:r>
          </a:p>
        </p:txBody>
      </p:sp>
      <p:sp>
        <p:nvSpPr>
          <p:cNvPr id="33" name="TextBox 32"/>
          <p:cNvSpPr txBox="1"/>
          <p:nvPr/>
        </p:nvSpPr>
        <p:spPr>
          <a:xfrm>
            <a:off x="548640" y="5532120"/>
            <a:ext cx="11155680" cy="365760"/>
          </a:xfrm>
          <a:prstGeom prst="rect">
            <a:avLst/>
          </a:prstGeom>
          <a:noFill/>
        </p:spPr>
        <p:txBody>
          <a:bodyPr wrap="square" lIns="45720" rIns="45720" tIns="18288" bIns="18288" anchor="t">
            <a:spAutoFit/>
          </a:bodyPr>
          <a:lstStyle/>
          <a:p>
            <a:pPr algn="l">
              <a:lnSpc>
                <a:spcPct val="115000"/>
              </a:lnSpc>
            </a:pPr>
            <a:r>
              <a:rPr sz="1000" b="1" i="0">
                <a:solidFill>
                  <a:srgbClr val="8B5CF6"/>
                </a:solidFill>
                <a:latin typeface="Consolas"/>
              </a:rPr>
              <a:t>AUTHORITY</a:t>
            </a:r>
          </a:p>
        </p:txBody>
      </p:sp>
      <p:sp>
        <p:nvSpPr>
          <p:cNvPr id="34" name="TextBox 33"/>
          <p:cNvSpPr txBox="1"/>
          <p:nvPr/>
        </p:nvSpPr>
        <p:spPr>
          <a:xfrm>
            <a:off x="548640" y="5852160"/>
            <a:ext cx="11155680" cy="457200"/>
          </a:xfrm>
          <a:prstGeom prst="rect">
            <a:avLst/>
          </a:prstGeom>
          <a:noFill/>
        </p:spPr>
        <p:txBody>
          <a:bodyPr wrap="square" lIns="45720" rIns="45720" tIns="18288" bIns="18288" anchor="t">
            <a:spAutoFit/>
          </a:bodyPr>
          <a:lstStyle/>
          <a:p>
            <a:pPr algn="l">
              <a:lnSpc>
                <a:spcPct val="115000"/>
              </a:lnSpc>
            </a:pPr>
            <a:r>
              <a:rPr sz="1400" b="0" i="0">
                <a:solidFill>
                  <a:srgbClr val="CBD5E1"/>
                </a:solidFill>
                <a:latin typeface="Calibri"/>
              </a:rPr>
              <a:t>meeet.world holds identity, balance, entitlements, compliance telemetry — the only cloud surface.</a:t>
            </a:r>
          </a:p>
        </p:txBody>
      </p:sp>
      <p:sp>
        <p:nvSpPr>
          <p:cNvPr id="35" name="TextBox 34"/>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36" name="TextBox 35"/>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SCORECARD</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200" b="1" i="0">
                <a:solidFill>
                  <a:srgbClr val="FFFFFF"/>
                </a:solidFill>
                <a:latin typeface="Calibri"/>
              </a:rPr>
              <a:t>Cursor parity + TARS-only edge.</a:t>
            </a:r>
          </a:p>
        </p:txBody>
      </p:sp>
      <p:sp>
        <p:nvSpPr>
          <p:cNvPr id="7" name="Rounded Rectangle 6"/>
          <p:cNvSpPr/>
          <p:nvPr/>
        </p:nvSpPr>
        <p:spPr>
          <a:xfrm>
            <a:off x="8595360" y="1417320"/>
            <a:ext cx="1600200" cy="128016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527048"/>
            <a:ext cx="1417320" cy="793699"/>
          </a:xfrm>
          <a:prstGeom prst="rect">
            <a:avLst/>
          </a:prstGeom>
          <a:noFill/>
        </p:spPr>
        <p:txBody>
          <a:bodyPr wrap="square" lIns="45720" rIns="45720" tIns="18288" bIns="18288" anchor="ctr">
            <a:spAutoFit/>
          </a:bodyPr>
          <a:lstStyle/>
          <a:p>
            <a:pPr algn="ctr">
              <a:lnSpc>
                <a:spcPct val="115000"/>
              </a:lnSpc>
            </a:pPr>
            <a:r>
              <a:rPr sz="4600" b="1" i="0">
                <a:solidFill>
                  <a:srgbClr val="84CC16"/>
                </a:solidFill>
                <a:latin typeface="Calibri"/>
              </a:rPr>
              <a:t>15</a:t>
            </a:r>
          </a:p>
        </p:txBody>
      </p:sp>
      <p:sp>
        <p:nvSpPr>
          <p:cNvPr id="9" name="TextBox 8"/>
          <p:cNvSpPr txBox="1"/>
          <p:nvPr/>
        </p:nvSpPr>
        <p:spPr>
          <a:xfrm>
            <a:off x="8686800" y="2256739"/>
            <a:ext cx="1417320" cy="395020"/>
          </a:xfrm>
          <a:prstGeom prst="rect">
            <a:avLst/>
          </a:prstGeom>
          <a:noFill/>
        </p:spPr>
        <p:txBody>
          <a:bodyPr wrap="square" lIns="45720" rIns="45720" tIns="18288" bIns="18288" anchor="t">
            <a:spAutoFit/>
          </a:bodyPr>
          <a:lstStyle/>
          <a:p>
            <a:pPr algn="ctr">
              <a:lnSpc>
                <a:spcPct val="115000"/>
              </a:lnSpc>
            </a:pPr>
            <a:r>
              <a:rPr sz="900" b="1" i="0">
                <a:solidFill>
                  <a:srgbClr val="94A3B8"/>
                </a:solidFill>
                <a:latin typeface="Consolas"/>
              </a:rPr>
              <a:t>CURSOR PARITY</a:t>
            </a:r>
          </a:p>
        </p:txBody>
      </p:sp>
      <p:sp>
        <p:nvSpPr>
          <p:cNvPr id="10" name="Rounded Rectangle 9"/>
          <p:cNvSpPr/>
          <p:nvPr/>
        </p:nvSpPr>
        <p:spPr>
          <a:xfrm>
            <a:off x="10287000" y="1417320"/>
            <a:ext cx="1600200" cy="128016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78440" y="1527048"/>
            <a:ext cx="1417320" cy="793699"/>
          </a:xfrm>
          <a:prstGeom prst="rect">
            <a:avLst/>
          </a:prstGeom>
          <a:noFill/>
        </p:spPr>
        <p:txBody>
          <a:bodyPr wrap="square" lIns="45720" rIns="45720" tIns="18288" bIns="18288" anchor="ctr">
            <a:spAutoFit/>
          </a:bodyPr>
          <a:lstStyle/>
          <a:p>
            <a:pPr algn="ctr">
              <a:lnSpc>
                <a:spcPct val="115000"/>
              </a:lnSpc>
            </a:pPr>
            <a:r>
              <a:rPr sz="4600" b="1" i="0">
                <a:solidFill>
                  <a:srgbClr val="8B5CF6"/>
                </a:solidFill>
                <a:latin typeface="Calibri"/>
              </a:rPr>
              <a:t>10</a:t>
            </a:r>
          </a:p>
        </p:txBody>
      </p:sp>
      <p:sp>
        <p:nvSpPr>
          <p:cNvPr id="12" name="TextBox 11"/>
          <p:cNvSpPr txBox="1"/>
          <p:nvPr/>
        </p:nvSpPr>
        <p:spPr>
          <a:xfrm>
            <a:off x="10378440" y="2256739"/>
            <a:ext cx="1417320" cy="395020"/>
          </a:xfrm>
          <a:prstGeom prst="rect">
            <a:avLst/>
          </a:prstGeom>
          <a:noFill/>
        </p:spPr>
        <p:txBody>
          <a:bodyPr wrap="square" lIns="45720" rIns="45720" tIns="18288" bIns="18288" anchor="t">
            <a:spAutoFit/>
          </a:bodyPr>
          <a:lstStyle/>
          <a:p>
            <a:pPr algn="ctr">
              <a:lnSpc>
                <a:spcPct val="115000"/>
              </a:lnSpc>
            </a:pPr>
            <a:r>
              <a:rPr sz="900" b="1" i="0">
                <a:solidFill>
                  <a:srgbClr val="94A3B8"/>
                </a:solidFill>
                <a:latin typeface="Consolas"/>
              </a:rPr>
              <a:t>TARS-ONLY</a:t>
            </a:r>
          </a:p>
        </p:txBody>
      </p:sp>
      <p:sp>
        <p:nvSpPr>
          <p:cNvPr id="13" name="Rectangle 12"/>
          <p:cNvSpPr/>
          <p:nvPr/>
        </p:nvSpPr>
        <p:spPr>
          <a:xfrm>
            <a:off x="548640" y="2788920"/>
            <a:ext cx="11155680" cy="292608"/>
          </a:xfrm>
          <a:prstGeom prst="rect">
            <a:avLst/>
          </a:prstGeom>
          <a:solidFill>
            <a:srgbClr val="131826"/>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88920"/>
            <a:ext cx="5486400" cy="292608"/>
          </a:xfrm>
          <a:prstGeom prst="rect">
            <a:avLst/>
          </a:prstGeom>
          <a:noFill/>
        </p:spPr>
        <p:txBody>
          <a:bodyPr wrap="square" lIns="45720" rIns="45720" tIns="18288" bIns="18288" anchor="ctr">
            <a:spAutoFit/>
          </a:bodyPr>
          <a:lstStyle/>
          <a:p>
            <a:pPr algn="l">
              <a:lnSpc>
                <a:spcPct val="115000"/>
              </a:lnSpc>
            </a:pPr>
            <a:r>
              <a:rPr sz="1000" b="1" i="0">
                <a:solidFill>
                  <a:srgbClr val="06B6D4"/>
                </a:solidFill>
                <a:latin typeface="Consolas"/>
              </a:rPr>
              <a:t>CAPABILITY</a:t>
            </a:r>
          </a:p>
        </p:txBody>
      </p:sp>
      <p:sp>
        <p:nvSpPr>
          <p:cNvPr id="15" name="TextBox 14"/>
          <p:cNvSpPr txBox="1"/>
          <p:nvPr/>
        </p:nvSpPr>
        <p:spPr>
          <a:xfrm>
            <a:off x="6309360" y="2788920"/>
            <a:ext cx="1371600" cy="292608"/>
          </a:xfrm>
          <a:prstGeom prst="rect">
            <a:avLst/>
          </a:prstGeom>
          <a:noFill/>
        </p:spPr>
        <p:txBody>
          <a:bodyPr wrap="square" lIns="45720" rIns="45720" tIns="18288" bIns="18288" anchor="ctr">
            <a:spAutoFit/>
          </a:bodyPr>
          <a:lstStyle/>
          <a:p>
            <a:pPr algn="ctr">
              <a:lnSpc>
                <a:spcPct val="115000"/>
              </a:lnSpc>
            </a:pPr>
            <a:r>
              <a:rPr sz="1000" b="1" i="0">
                <a:solidFill>
                  <a:srgbClr val="06B6D4"/>
                </a:solidFill>
                <a:latin typeface="Consolas"/>
              </a:rPr>
              <a:t>CURSOR</a:t>
            </a:r>
          </a:p>
        </p:txBody>
      </p:sp>
      <p:sp>
        <p:nvSpPr>
          <p:cNvPr id="16" name="TextBox 15"/>
          <p:cNvSpPr txBox="1"/>
          <p:nvPr/>
        </p:nvSpPr>
        <p:spPr>
          <a:xfrm>
            <a:off x="7772400" y="2788920"/>
            <a:ext cx="1371600" cy="292608"/>
          </a:xfrm>
          <a:prstGeom prst="rect">
            <a:avLst/>
          </a:prstGeom>
          <a:noFill/>
        </p:spPr>
        <p:txBody>
          <a:bodyPr wrap="square" lIns="45720" rIns="45720" tIns="18288" bIns="18288" anchor="ctr">
            <a:spAutoFit/>
          </a:bodyPr>
          <a:lstStyle/>
          <a:p>
            <a:pPr algn="ctr">
              <a:lnSpc>
                <a:spcPct val="115000"/>
              </a:lnSpc>
            </a:pPr>
            <a:r>
              <a:rPr sz="1000" b="1" i="0">
                <a:solidFill>
                  <a:srgbClr val="06B6D4"/>
                </a:solidFill>
                <a:latin typeface="Consolas"/>
              </a:rPr>
              <a:t>TARS</a:t>
            </a:r>
          </a:p>
        </p:txBody>
      </p:sp>
      <p:sp>
        <p:nvSpPr>
          <p:cNvPr id="17" name="TextBox 16"/>
          <p:cNvSpPr txBox="1"/>
          <p:nvPr/>
        </p:nvSpPr>
        <p:spPr>
          <a:xfrm>
            <a:off x="9326880" y="2788920"/>
            <a:ext cx="2286000" cy="292608"/>
          </a:xfrm>
          <a:prstGeom prst="rect">
            <a:avLst/>
          </a:prstGeom>
          <a:noFill/>
        </p:spPr>
        <p:txBody>
          <a:bodyPr wrap="square" lIns="45720" rIns="45720" tIns="18288" bIns="18288" anchor="ctr">
            <a:spAutoFit/>
          </a:bodyPr>
          <a:lstStyle/>
          <a:p>
            <a:pPr algn="l">
              <a:lnSpc>
                <a:spcPct val="115000"/>
              </a:lnSpc>
            </a:pPr>
            <a:r>
              <a:rPr sz="1000" b="1" i="0">
                <a:solidFill>
                  <a:srgbClr val="06B6D4"/>
                </a:solidFill>
                <a:latin typeface="Consolas"/>
              </a:rPr>
              <a:t>NOTE</a:t>
            </a:r>
          </a:p>
        </p:txBody>
      </p:sp>
      <p:sp>
        <p:nvSpPr>
          <p:cNvPr id="18" name="Rectangle 17"/>
          <p:cNvSpPr/>
          <p:nvPr/>
        </p:nvSpPr>
        <p:spPr>
          <a:xfrm>
            <a:off x="548640" y="3081528"/>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081528"/>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Code editor</a:t>
            </a:r>
          </a:p>
        </p:txBody>
      </p:sp>
      <p:sp>
        <p:nvSpPr>
          <p:cNvPr id="20" name="TextBox 19"/>
          <p:cNvSpPr txBox="1"/>
          <p:nvPr/>
        </p:nvSpPr>
        <p:spPr>
          <a:xfrm>
            <a:off x="6309360" y="3081528"/>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21" name="TextBox 20"/>
          <p:cNvSpPr txBox="1"/>
          <p:nvPr/>
        </p:nvSpPr>
        <p:spPr>
          <a:xfrm>
            <a:off x="7772400" y="3081528"/>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22" name="TextBox 21"/>
          <p:cNvSpPr txBox="1"/>
          <p:nvPr/>
        </p:nvSpPr>
        <p:spPr>
          <a:xfrm>
            <a:off x="9326880" y="3081528"/>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by design</a:t>
            </a:r>
          </a:p>
        </p:txBody>
      </p:sp>
      <p:sp>
        <p:nvSpPr>
          <p:cNvPr id="23" name="Rectangle 22"/>
          <p:cNvSpPr/>
          <p:nvPr/>
        </p:nvSpPr>
        <p:spPr>
          <a:xfrm>
            <a:off x="548640" y="3305556"/>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3305556"/>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Inline Tab completion</a:t>
            </a:r>
          </a:p>
        </p:txBody>
      </p:sp>
      <p:sp>
        <p:nvSpPr>
          <p:cNvPr id="25" name="TextBox 24"/>
          <p:cNvSpPr txBox="1"/>
          <p:nvPr/>
        </p:nvSpPr>
        <p:spPr>
          <a:xfrm>
            <a:off x="6309360" y="3305556"/>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26" name="TextBox 25"/>
          <p:cNvSpPr txBox="1"/>
          <p:nvPr/>
        </p:nvSpPr>
        <p:spPr>
          <a:xfrm>
            <a:off x="7772400" y="3305556"/>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27" name="TextBox 26"/>
          <p:cNvSpPr txBox="1"/>
          <p:nvPr/>
        </p:nvSpPr>
        <p:spPr>
          <a:xfrm>
            <a:off x="9326880" y="3305556"/>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wraps Cursor</a:t>
            </a:r>
          </a:p>
        </p:txBody>
      </p:sp>
      <p:sp>
        <p:nvSpPr>
          <p:cNvPr id="28" name="Rectangle 27"/>
          <p:cNvSpPr/>
          <p:nvPr/>
        </p:nvSpPr>
        <p:spPr>
          <a:xfrm>
            <a:off x="548640" y="3529584"/>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529584"/>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Composer (multi-file diff)</a:t>
            </a:r>
          </a:p>
        </p:txBody>
      </p:sp>
      <p:sp>
        <p:nvSpPr>
          <p:cNvPr id="30" name="TextBox 29"/>
          <p:cNvSpPr txBox="1"/>
          <p:nvPr/>
        </p:nvSpPr>
        <p:spPr>
          <a:xfrm>
            <a:off x="6309360" y="3529584"/>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31" name="TextBox 30"/>
          <p:cNvSpPr txBox="1"/>
          <p:nvPr/>
        </p:nvSpPr>
        <p:spPr>
          <a:xfrm>
            <a:off x="7772400" y="3529584"/>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32" name="TextBox 31"/>
          <p:cNvSpPr txBox="1"/>
          <p:nvPr/>
        </p:nvSpPr>
        <p:spPr>
          <a:xfrm>
            <a:off x="9326880" y="3529584"/>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W253</a:t>
            </a:r>
          </a:p>
        </p:txBody>
      </p:sp>
      <p:sp>
        <p:nvSpPr>
          <p:cNvPr id="33" name="Rectangle 32"/>
          <p:cNvSpPr/>
          <p:nvPr/>
        </p:nvSpPr>
        <p:spPr>
          <a:xfrm>
            <a:off x="548640" y="3753612"/>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753612"/>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Codebase index</a:t>
            </a:r>
          </a:p>
        </p:txBody>
      </p:sp>
      <p:sp>
        <p:nvSpPr>
          <p:cNvPr id="35" name="TextBox 34"/>
          <p:cNvSpPr txBox="1"/>
          <p:nvPr/>
        </p:nvSpPr>
        <p:spPr>
          <a:xfrm>
            <a:off x="6309360" y="3753612"/>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36" name="TextBox 35"/>
          <p:cNvSpPr txBox="1"/>
          <p:nvPr/>
        </p:nvSpPr>
        <p:spPr>
          <a:xfrm>
            <a:off x="7772400" y="3753612"/>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37" name="TextBox 36"/>
          <p:cNvSpPr txBox="1"/>
          <p:nvPr/>
        </p:nvSpPr>
        <p:spPr>
          <a:xfrm>
            <a:off x="9326880" y="3753612"/>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sqlite-vec</a:t>
            </a:r>
          </a:p>
        </p:txBody>
      </p:sp>
      <p:sp>
        <p:nvSpPr>
          <p:cNvPr id="38" name="Rectangle 37"/>
          <p:cNvSpPr/>
          <p:nvPr/>
        </p:nvSpPr>
        <p:spPr>
          <a:xfrm>
            <a:off x="548640" y="3977640"/>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3977640"/>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@-mention context</a:t>
            </a:r>
          </a:p>
        </p:txBody>
      </p:sp>
      <p:sp>
        <p:nvSpPr>
          <p:cNvPr id="40" name="TextBox 39"/>
          <p:cNvSpPr txBox="1"/>
          <p:nvPr/>
        </p:nvSpPr>
        <p:spPr>
          <a:xfrm>
            <a:off x="6309360" y="3977640"/>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41" name="TextBox 40"/>
          <p:cNvSpPr txBox="1"/>
          <p:nvPr/>
        </p:nvSpPr>
        <p:spPr>
          <a:xfrm>
            <a:off x="7772400" y="3977640"/>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42" name="TextBox 41"/>
          <p:cNvSpPr txBox="1"/>
          <p:nvPr/>
        </p:nvSpPr>
        <p:spPr>
          <a:xfrm>
            <a:off x="9326880" y="3977640"/>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W240</a:t>
            </a:r>
          </a:p>
        </p:txBody>
      </p:sp>
      <p:sp>
        <p:nvSpPr>
          <p:cNvPr id="43" name="Rectangle 42"/>
          <p:cNvSpPr/>
          <p:nvPr/>
        </p:nvSpPr>
        <p:spPr>
          <a:xfrm>
            <a:off x="548640" y="4201668"/>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201668"/>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MCP servers panel</a:t>
            </a:r>
          </a:p>
        </p:txBody>
      </p:sp>
      <p:sp>
        <p:nvSpPr>
          <p:cNvPr id="45" name="TextBox 44"/>
          <p:cNvSpPr txBox="1"/>
          <p:nvPr/>
        </p:nvSpPr>
        <p:spPr>
          <a:xfrm>
            <a:off x="6309360" y="4201668"/>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46" name="TextBox 45"/>
          <p:cNvSpPr txBox="1"/>
          <p:nvPr/>
        </p:nvSpPr>
        <p:spPr>
          <a:xfrm>
            <a:off x="7772400" y="4201668"/>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47" name="TextBox 46"/>
          <p:cNvSpPr txBox="1"/>
          <p:nvPr/>
        </p:nvSpPr>
        <p:spPr>
          <a:xfrm>
            <a:off x="9326880" y="4201668"/>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W238</a:t>
            </a:r>
          </a:p>
        </p:txBody>
      </p:sp>
      <p:sp>
        <p:nvSpPr>
          <p:cNvPr id="48" name="Rectangle 47"/>
          <p:cNvSpPr/>
          <p:nvPr/>
        </p:nvSpPr>
        <p:spPr>
          <a:xfrm>
            <a:off x="548640" y="4425696"/>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4425696"/>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Model switcher + cost label</a:t>
            </a:r>
          </a:p>
        </p:txBody>
      </p:sp>
      <p:sp>
        <p:nvSpPr>
          <p:cNvPr id="50" name="TextBox 49"/>
          <p:cNvSpPr txBox="1"/>
          <p:nvPr/>
        </p:nvSpPr>
        <p:spPr>
          <a:xfrm>
            <a:off x="6309360" y="4425696"/>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51" name="TextBox 50"/>
          <p:cNvSpPr txBox="1"/>
          <p:nvPr/>
        </p:nvSpPr>
        <p:spPr>
          <a:xfrm>
            <a:off x="7772400" y="4425696"/>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52" name="TextBox 51"/>
          <p:cNvSpPr txBox="1"/>
          <p:nvPr/>
        </p:nvSpPr>
        <p:spPr>
          <a:xfrm>
            <a:off x="9326880" y="4425696"/>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W237</a:t>
            </a:r>
          </a:p>
        </p:txBody>
      </p:sp>
      <p:sp>
        <p:nvSpPr>
          <p:cNvPr id="53" name="Rectangle 52"/>
          <p:cNvSpPr/>
          <p:nvPr/>
        </p:nvSpPr>
        <p:spPr>
          <a:xfrm>
            <a:off x="548640" y="4649724"/>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4649724"/>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Usage console</a:t>
            </a:r>
          </a:p>
        </p:txBody>
      </p:sp>
      <p:sp>
        <p:nvSpPr>
          <p:cNvPr id="55" name="TextBox 54"/>
          <p:cNvSpPr txBox="1"/>
          <p:nvPr/>
        </p:nvSpPr>
        <p:spPr>
          <a:xfrm>
            <a:off x="6309360" y="4649724"/>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56" name="TextBox 55"/>
          <p:cNvSpPr txBox="1"/>
          <p:nvPr/>
        </p:nvSpPr>
        <p:spPr>
          <a:xfrm>
            <a:off x="7772400" y="4649724"/>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57" name="TextBox 56"/>
          <p:cNvSpPr txBox="1"/>
          <p:nvPr/>
        </p:nvSpPr>
        <p:spPr>
          <a:xfrm>
            <a:off x="9326880" y="4649724"/>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W235</a:t>
            </a:r>
          </a:p>
        </p:txBody>
      </p:sp>
      <p:sp>
        <p:nvSpPr>
          <p:cNvPr id="58" name="Rectangle 57"/>
          <p:cNvSpPr/>
          <p:nvPr/>
        </p:nvSpPr>
        <p:spPr>
          <a:xfrm>
            <a:off x="548640" y="4873752"/>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 y="4873752"/>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Magic-link auth</a:t>
            </a:r>
          </a:p>
        </p:txBody>
      </p:sp>
      <p:sp>
        <p:nvSpPr>
          <p:cNvPr id="60" name="TextBox 59"/>
          <p:cNvSpPr txBox="1"/>
          <p:nvPr/>
        </p:nvSpPr>
        <p:spPr>
          <a:xfrm>
            <a:off x="6309360" y="4873752"/>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61" name="TextBox 60"/>
          <p:cNvSpPr txBox="1"/>
          <p:nvPr/>
        </p:nvSpPr>
        <p:spPr>
          <a:xfrm>
            <a:off x="7772400" y="4873752"/>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62" name="TextBox 61"/>
          <p:cNvSpPr txBox="1"/>
          <p:nvPr/>
        </p:nvSpPr>
        <p:spPr>
          <a:xfrm>
            <a:off x="9326880" y="4873752"/>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W219</a:t>
            </a:r>
          </a:p>
        </p:txBody>
      </p:sp>
      <p:sp>
        <p:nvSpPr>
          <p:cNvPr id="63" name="Rectangle 62"/>
          <p:cNvSpPr/>
          <p:nvPr/>
        </p:nvSpPr>
        <p:spPr>
          <a:xfrm>
            <a:off x="548640" y="5097780"/>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31520" y="5097780"/>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Privacy mode</a:t>
            </a:r>
          </a:p>
        </p:txBody>
      </p:sp>
      <p:sp>
        <p:nvSpPr>
          <p:cNvPr id="65" name="TextBox 64"/>
          <p:cNvSpPr txBox="1"/>
          <p:nvPr/>
        </p:nvSpPr>
        <p:spPr>
          <a:xfrm>
            <a:off x="6309360" y="5097780"/>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66" name="TextBox 65"/>
          <p:cNvSpPr txBox="1"/>
          <p:nvPr/>
        </p:nvSpPr>
        <p:spPr>
          <a:xfrm>
            <a:off x="7772400" y="5097780"/>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4CC16"/>
                </a:solidFill>
                <a:latin typeface="Calibri"/>
              </a:rPr>
              <a:t>Y</a:t>
            </a:r>
          </a:p>
        </p:txBody>
      </p:sp>
      <p:sp>
        <p:nvSpPr>
          <p:cNvPr id="67" name="TextBox 66"/>
          <p:cNvSpPr txBox="1"/>
          <p:nvPr/>
        </p:nvSpPr>
        <p:spPr>
          <a:xfrm>
            <a:off x="9326880" y="5097780"/>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local-first</a:t>
            </a:r>
          </a:p>
        </p:txBody>
      </p:sp>
      <p:sp>
        <p:nvSpPr>
          <p:cNvPr id="68" name="Rectangle 67"/>
          <p:cNvSpPr/>
          <p:nvPr/>
        </p:nvSpPr>
        <p:spPr>
          <a:xfrm>
            <a:off x="548640" y="5321808"/>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1520" y="5321808"/>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Voice-first cockpit</a:t>
            </a:r>
          </a:p>
        </p:txBody>
      </p:sp>
      <p:sp>
        <p:nvSpPr>
          <p:cNvPr id="70" name="TextBox 69"/>
          <p:cNvSpPr txBox="1"/>
          <p:nvPr/>
        </p:nvSpPr>
        <p:spPr>
          <a:xfrm>
            <a:off x="6309360" y="5321808"/>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71" name="TextBox 70"/>
          <p:cNvSpPr txBox="1"/>
          <p:nvPr/>
        </p:nvSpPr>
        <p:spPr>
          <a:xfrm>
            <a:off x="7772400" y="5321808"/>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B5CF6"/>
                </a:solidFill>
                <a:latin typeface="Calibri"/>
              </a:rPr>
              <a:t>Y</a:t>
            </a:r>
          </a:p>
        </p:txBody>
      </p:sp>
      <p:sp>
        <p:nvSpPr>
          <p:cNvPr id="72" name="TextBox 71"/>
          <p:cNvSpPr txBox="1"/>
          <p:nvPr/>
        </p:nvSpPr>
        <p:spPr>
          <a:xfrm>
            <a:off x="9326880" y="5321808"/>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W220/W230</a:t>
            </a:r>
          </a:p>
        </p:txBody>
      </p:sp>
      <p:sp>
        <p:nvSpPr>
          <p:cNvPr id="73" name="Rectangle 72"/>
          <p:cNvSpPr/>
          <p:nvPr/>
        </p:nvSpPr>
        <p:spPr>
          <a:xfrm>
            <a:off x="548640" y="5545836"/>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 y="5545836"/>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Hash-chained receipts</a:t>
            </a:r>
          </a:p>
        </p:txBody>
      </p:sp>
      <p:sp>
        <p:nvSpPr>
          <p:cNvPr id="75" name="TextBox 74"/>
          <p:cNvSpPr txBox="1"/>
          <p:nvPr/>
        </p:nvSpPr>
        <p:spPr>
          <a:xfrm>
            <a:off x="6309360" y="5545836"/>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76" name="TextBox 75"/>
          <p:cNvSpPr txBox="1"/>
          <p:nvPr/>
        </p:nvSpPr>
        <p:spPr>
          <a:xfrm>
            <a:off x="7772400" y="5545836"/>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B5CF6"/>
                </a:solidFill>
                <a:latin typeface="Calibri"/>
              </a:rPr>
              <a:t>Y</a:t>
            </a:r>
          </a:p>
        </p:txBody>
      </p:sp>
      <p:sp>
        <p:nvSpPr>
          <p:cNvPr id="77" name="TextBox 76"/>
          <p:cNvSpPr txBox="1"/>
          <p:nvPr/>
        </p:nvSpPr>
        <p:spPr>
          <a:xfrm>
            <a:off x="9326880" y="5545836"/>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W67/W95</a:t>
            </a:r>
          </a:p>
        </p:txBody>
      </p:sp>
      <p:sp>
        <p:nvSpPr>
          <p:cNvPr id="78" name="Rectangle 77"/>
          <p:cNvSpPr/>
          <p:nvPr/>
        </p:nvSpPr>
        <p:spPr>
          <a:xfrm>
            <a:off x="548640" y="5769864"/>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31520" y="5769864"/>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Solana anchor</a:t>
            </a:r>
          </a:p>
        </p:txBody>
      </p:sp>
      <p:sp>
        <p:nvSpPr>
          <p:cNvPr id="80" name="TextBox 79"/>
          <p:cNvSpPr txBox="1"/>
          <p:nvPr/>
        </p:nvSpPr>
        <p:spPr>
          <a:xfrm>
            <a:off x="6309360" y="5769864"/>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81" name="TextBox 80"/>
          <p:cNvSpPr txBox="1"/>
          <p:nvPr/>
        </p:nvSpPr>
        <p:spPr>
          <a:xfrm>
            <a:off x="7772400" y="5769864"/>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B5CF6"/>
                </a:solidFill>
                <a:latin typeface="Calibri"/>
              </a:rPr>
              <a:t>Y</a:t>
            </a:r>
          </a:p>
        </p:txBody>
      </p:sp>
      <p:sp>
        <p:nvSpPr>
          <p:cNvPr id="82" name="TextBox 81"/>
          <p:cNvSpPr txBox="1"/>
          <p:nvPr/>
        </p:nvSpPr>
        <p:spPr>
          <a:xfrm>
            <a:off x="9326880" y="5769864"/>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W89</a:t>
            </a:r>
          </a:p>
        </p:txBody>
      </p:sp>
      <p:sp>
        <p:nvSpPr>
          <p:cNvPr id="83" name="Rectangle 82"/>
          <p:cNvSpPr/>
          <p:nvPr/>
        </p:nvSpPr>
        <p:spPr>
          <a:xfrm>
            <a:off x="548640" y="5993892"/>
            <a:ext cx="11155680" cy="224028"/>
          </a:xfrm>
          <a:prstGeom prst="rect">
            <a:avLst/>
          </a:prstGeom>
          <a:solidFill>
            <a:srgbClr val="0D11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1520" y="5993892"/>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7 domain packs</a:t>
            </a:r>
          </a:p>
        </p:txBody>
      </p:sp>
      <p:sp>
        <p:nvSpPr>
          <p:cNvPr id="85" name="TextBox 84"/>
          <p:cNvSpPr txBox="1"/>
          <p:nvPr/>
        </p:nvSpPr>
        <p:spPr>
          <a:xfrm>
            <a:off x="6309360" y="5993892"/>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86" name="TextBox 85"/>
          <p:cNvSpPr txBox="1"/>
          <p:nvPr/>
        </p:nvSpPr>
        <p:spPr>
          <a:xfrm>
            <a:off x="7772400" y="5993892"/>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B5CF6"/>
                </a:solidFill>
                <a:latin typeface="Calibri"/>
              </a:rPr>
              <a:t>Y</a:t>
            </a:r>
          </a:p>
        </p:txBody>
      </p:sp>
      <p:sp>
        <p:nvSpPr>
          <p:cNvPr id="87" name="TextBox 86"/>
          <p:cNvSpPr txBox="1"/>
          <p:nvPr/>
        </p:nvSpPr>
        <p:spPr>
          <a:xfrm>
            <a:off x="9326880" y="5993892"/>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wealth/health/etc</a:t>
            </a:r>
          </a:p>
        </p:txBody>
      </p:sp>
      <p:sp>
        <p:nvSpPr>
          <p:cNvPr id="88" name="Rectangle 87"/>
          <p:cNvSpPr/>
          <p:nvPr/>
        </p:nvSpPr>
        <p:spPr>
          <a:xfrm>
            <a:off x="548640" y="6217920"/>
            <a:ext cx="11155680" cy="224028"/>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31520" y="6217920"/>
            <a:ext cx="5486400" cy="224028"/>
          </a:xfrm>
          <a:prstGeom prst="rect">
            <a:avLst/>
          </a:prstGeom>
          <a:noFill/>
        </p:spPr>
        <p:txBody>
          <a:bodyPr wrap="square" lIns="45720" rIns="45720" tIns="18288" bIns="18288" anchor="ctr">
            <a:spAutoFit/>
          </a:bodyPr>
          <a:lstStyle/>
          <a:p>
            <a:pPr algn="l">
              <a:lnSpc>
                <a:spcPct val="115000"/>
              </a:lnSpc>
            </a:pPr>
            <a:r>
              <a:rPr sz="1100" b="0" i="0">
                <a:solidFill>
                  <a:srgbClr val="FFFFFF"/>
                </a:solidFill>
                <a:latin typeface="Calibri"/>
              </a:rPr>
              <a:t>$MEEET economy + marketplace</a:t>
            </a:r>
          </a:p>
        </p:txBody>
      </p:sp>
      <p:sp>
        <p:nvSpPr>
          <p:cNvPr id="90" name="TextBox 89"/>
          <p:cNvSpPr txBox="1"/>
          <p:nvPr/>
        </p:nvSpPr>
        <p:spPr>
          <a:xfrm>
            <a:off x="6309360" y="6217920"/>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64748B"/>
                </a:solidFill>
                <a:latin typeface="Calibri"/>
              </a:rPr>
              <a:t>—</a:t>
            </a:r>
          </a:p>
        </p:txBody>
      </p:sp>
      <p:sp>
        <p:nvSpPr>
          <p:cNvPr id="91" name="TextBox 90"/>
          <p:cNvSpPr txBox="1"/>
          <p:nvPr/>
        </p:nvSpPr>
        <p:spPr>
          <a:xfrm>
            <a:off x="7772400" y="6217920"/>
            <a:ext cx="1371600" cy="224028"/>
          </a:xfrm>
          <a:prstGeom prst="rect">
            <a:avLst/>
          </a:prstGeom>
          <a:noFill/>
        </p:spPr>
        <p:txBody>
          <a:bodyPr wrap="square" lIns="45720" rIns="45720" tIns="18288" bIns="18288" anchor="ctr">
            <a:spAutoFit/>
          </a:bodyPr>
          <a:lstStyle/>
          <a:p>
            <a:pPr algn="ctr">
              <a:lnSpc>
                <a:spcPct val="115000"/>
              </a:lnSpc>
            </a:pPr>
            <a:r>
              <a:rPr sz="1400" b="1" i="0">
                <a:solidFill>
                  <a:srgbClr val="8B5CF6"/>
                </a:solidFill>
                <a:latin typeface="Calibri"/>
              </a:rPr>
              <a:t>Y</a:t>
            </a:r>
          </a:p>
        </p:txBody>
      </p:sp>
      <p:sp>
        <p:nvSpPr>
          <p:cNvPr id="92" name="TextBox 91"/>
          <p:cNvSpPr txBox="1"/>
          <p:nvPr/>
        </p:nvSpPr>
        <p:spPr>
          <a:xfrm>
            <a:off x="9326880" y="6217920"/>
            <a:ext cx="2286000" cy="224028"/>
          </a:xfrm>
          <a:prstGeom prst="rect">
            <a:avLst/>
          </a:prstGeom>
          <a:noFill/>
        </p:spPr>
        <p:txBody>
          <a:bodyPr wrap="square" lIns="45720" rIns="45720" tIns="18288" bIns="18288" anchor="ctr">
            <a:spAutoFit/>
          </a:bodyPr>
          <a:lstStyle/>
          <a:p>
            <a:pPr algn="l">
              <a:lnSpc>
                <a:spcPct val="115000"/>
              </a:lnSpc>
            </a:pPr>
            <a:r>
              <a:rPr sz="1000" b="0" i="1">
                <a:solidFill>
                  <a:srgbClr val="94A3B8"/>
                </a:solidFill>
                <a:latin typeface="Consolas"/>
              </a:rPr>
              <a:t>70/30 split</a:t>
            </a:r>
          </a:p>
        </p:txBody>
      </p:sp>
      <p:sp>
        <p:nvSpPr>
          <p:cNvPr id="93" name="TextBox 92"/>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94" name="TextBox 93"/>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DIFFERENTIATORS</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400" b="1" i="0">
                <a:solidFill>
                  <a:srgbClr val="FFFFFF"/>
                </a:solidFill>
                <a:latin typeface="Calibri"/>
              </a:rPr>
              <a:t>Five things Cursor cannot ship.</a:t>
            </a:r>
          </a:p>
        </p:txBody>
      </p:sp>
      <p:sp>
        <p:nvSpPr>
          <p:cNvPr id="7" name="TextBox 6"/>
          <p:cNvSpPr txBox="1"/>
          <p:nvPr/>
        </p:nvSpPr>
        <p:spPr>
          <a:xfrm>
            <a:off x="548640" y="1508760"/>
            <a:ext cx="10972800" cy="365760"/>
          </a:xfrm>
          <a:prstGeom prst="rect">
            <a:avLst/>
          </a:prstGeom>
          <a:noFill/>
        </p:spPr>
        <p:txBody>
          <a:bodyPr wrap="square" lIns="45720" rIns="45720" tIns="18288" bIns="18288" anchor="t">
            <a:spAutoFit/>
          </a:bodyPr>
          <a:lstStyle/>
          <a:p>
            <a:pPr algn="l">
              <a:lnSpc>
                <a:spcPct val="115000"/>
              </a:lnSpc>
            </a:pPr>
            <a:r>
              <a:rPr sz="1300" b="0" i="1">
                <a:solidFill>
                  <a:srgbClr val="94A3B8"/>
                </a:solidFill>
                <a:latin typeface="Calibri"/>
              </a:rPr>
              <a:t>Structural — not roadmap items.</a:t>
            </a:r>
          </a:p>
        </p:txBody>
      </p:sp>
      <p:sp>
        <p:nvSpPr>
          <p:cNvPr id="8" name="Rounded Rectangle 7"/>
          <p:cNvSpPr/>
          <p:nvPr/>
        </p:nvSpPr>
        <p:spPr>
          <a:xfrm>
            <a:off x="548640" y="1874519"/>
            <a:ext cx="11155680" cy="804672"/>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057399"/>
            <a:ext cx="502920" cy="50292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057399"/>
            <a:ext cx="502920" cy="50292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01</a:t>
            </a:r>
          </a:p>
        </p:txBody>
      </p:sp>
      <p:sp>
        <p:nvSpPr>
          <p:cNvPr id="11" name="TextBox 10"/>
          <p:cNvSpPr txBox="1"/>
          <p:nvPr/>
        </p:nvSpPr>
        <p:spPr>
          <a:xfrm>
            <a:off x="1417320" y="1965959"/>
            <a:ext cx="6400800" cy="365760"/>
          </a:xfrm>
          <a:prstGeom prst="rect">
            <a:avLst/>
          </a:prstGeom>
          <a:noFill/>
        </p:spPr>
        <p:txBody>
          <a:bodyPr wrap="square" lIns="45720" rIns="45720" tIns="18288" bIns="18288" anchor="t">
            <a:spAutoFit/>
          </a:bodyPr>
          <a:lstStyle/>
          <a:p>
            <a:pPr algn="l">
              <a:lnSpc>
                <a:spcPct val="115000"/>
              </a:lnSpc>
            </a:pPr>
            <a:r>
              <a:rPr sz="1600" b="1" i="0">
                <a:solidFill>
                  <a:srgbClr val="FFFFFF"/>
                </a:solidFill>
                <a:latin typeface="Calibri"/>
              </a:rPr>
              <a:t>Voice-driven Composer</a:t>
            </a:r>
          </a:p>
        </p:txBody>
      </p:sp>
      <p:sp>
        <p:nvSpPr>
          <p:cNvPr id="12" name="TextBox 11"/>
          <p:cNvSpPr txBox="1"/>
          <p:nvPr/>
        </p:nvSpPr>
        <p:spPr>
          <a:xfrm>
            <a:off x="1417320" y="2285999"/>
            <a:ext cx="6858000" cy="457200"/>
          </a:xfrm>
          <a:prstGeom prst="rect">
            <a:avLst/>
          </a:prstGeom>
          <a:noFill/>
        </p:spPr>
        <p:txBody>
          <a:bodyPr wrap="square" lIns="45720" rIns="45720" tIns="18288" bIns="18288" anchor="t">
            <a:spAutoFit/>
          </a:bodyPr>
          <a:lstStyle/>
          <a:p>
            <a:pPr algn="l">
              <a:lnSpc>
                <a:spcPct val="130000"/>
              </a:lnSpc>
            </a:pPr>
            <a:r>
              <a:rPr sz="1100" b="0" i="0">
                <a:solidFill>
                  <a:srgbClr val="CBD5E1"/>
                </a:solidFill>
                <a:latin typeface="Calibri"/>
              </a:rPr>
              <a:t>Cmd+Shift+Space → voice prompt → multi-file diff → approve → receipt. Same loop, no keyboard.</a:t>
            </a:r>
          </a:p>
        </p:txBody>
      </p:sp>
      <p:sp>
        <p:nvSpPr>
          <p:cNvPr id="13" name="TextBox 12"/>
          <p:cNvSpPr txBox="1"/>
          <p:nvPr/>
        </p:nvSpPr>
        <p:spPr>
          <a:xfrm>
            <a:off x="8503920" y="2130551"/>
            <a:ext cx="3108960" cy="457200"/>
          </a:xfrm>
          <a:prstGeom prst="rect">
            <a:avLst/>
          </a:prstGeom>
          <a:noFill/>
        </p:spPr>
        <p:txBody>
          <a:bodyPr wrap="square" lIns="45720" rIns="45720" tIns="18288" bIns="18288" anchor="ctr">
            <a:spAutoFit/>
          </a:bodyPr>
          <a:lstStyle/>
          <a:p>
            <a:pPr algn="l">
              <a:lnSpc>
                <a:spcPct val="130000"/>
              </a:lnSpc>
            </a:pPr>
            <a:r>
              <a:rPr sz="1100" b="1" i="1">
                <a:solidFill>
                  <a:srgbClr val="06B6D4"/>
                </a:solidFill>
                <a:latin typeface="Calibri"/>
              </a:rPr>
              <a:t>Cursor is keyboard-bound. We're hands-free.</a:t>
            </a:r>
          </a:p>
        </p:txBody>
      </p:sp>
      <p:sp>
        <p:nvSpPr>
          <p:cNvPr id="14" name="Rounded Rectangle 13"/>
          <p:cNvSpPr/>
          <p:nvPr/>
        </p:nvSpPr>
        <p:spPr>
          <a:xfrm>
            <a:off x="548640" y="2752343"/>
            <a:ext cx="11155680" cy="804672"/>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2935223"/>
            <a:ext cx="502920" cy="502920"/>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35223"/>
            <a:ext cx="502920" cy="50292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02</a:t>
            </a:r>
          </a:p>
        </p:txBody>
      </p:sp>
      <p:sp>
        <p:nvSpPr>
          <p:cNvPr id="17" name="TextBox 16"/>
          <p:cNvSpPr txBox="1"/>
          <p:nvPr/>
        </p:nvSpPr>
        <p:spPr>
          <a:xfrm>
            <a:off x="1417320" y="2843783"/>
            <a:ext cx="6400800" cy="365760"/>
          </a:xfrm>
          <a:prstGeom prst="rect">
            <a:avLst/>
          </a:prstGeom>
          <a:noFill/>
        </p:spPr>
        <p:txBody>
          <a:bodyPr wrap="square" lIns="45720" rIns="45720" tIns="18288" bIns="18288" anchor="t">
            <a:spAutoFit/>
          </a:bodyPr>
          <a:lstStyle/>
          <a:p>
            <a:pPr algn="l">
              <a:lnSpc>
                <a:spcPct val="115000"/>
              </a:lnSpc>
            </a:pPr>
            <a:r>
              <a:rPr sz="1600" b="1" i="0">
                <a:solidFill>
                  <a:srgbClr val="FFFFFF"/>
                </a:solidFill>
                <a:latin typeface="Calibri"/>
              </a:rPr>
              <a:t>Receipt-anchored audit + Solana proof</a:t>
            </a:r>
          </a:p>
        </p:txBody>
      </p:sp>
      <p:sp>
        <p:nvSpPr>
          <p:cNvPr id="18" name="TextBox 17"/>
          <p:cNvSpPr txBox="1"/>
          <p:nvPr/>
        </p:nvSpPr>
        <p:spPr>
          <a:xfrm>
            <a:off x="1417320" y="3163823"/>
            <a:ext cx="6858000" cy="457200"/>
          </a:xfrm>
          <a:prstGeom prst="rect">
            <a:avLst/>
          </a:prstGeom>
          <a:noFill/>
        </p:spPr>
        <p:txBody>
          <a:bodyPr wrap="square" lIns="45720" rIns="45720" tIns="18288" bIns="18288" anchor="t">
            <a:spAutoFit/>
          </a:bodyPr>
          <a:lstStyle/>
          <a:p>
            <a:pPr algn="l">
              <a:lnSpc>
                <a:spcPct val="130000"/>
              </a:lnSpc>
            </a:pPr>
            <a:r>
              <a:rPr sz="1100" b="0" i="0">
                <a:solidFill>
                  <a:srgbClr val="CBD5E1"/>
                </a:solidFill>
                <a:latin typeface="Calibri"/>
              </a:rPr>
              <a:t>Every consequential action emits a signed receipt; daily Merkle root anchored on Solana memo program; public verifier with zero auth.</a:t>
            </a:r>
          </a:p>
        </p:txBody>
      </p:sp>
      <p:sp>
        <p:nvSpPr>
          <p:cNvPr id="19" name="TextBox 18"/>
          <p:cNvSpPr txBox="1"/>
          <p:nvPr/>
        </p:nvSpPr>
        <p:spPr>
          <a:xfrm>
            <a:off x="8503920" y="3008375"/>
            <a:ext cx="3108960" cy="457200"/>
          </a:xfrm>
          <a:prstGeom prst="rect">
            <a:avLst/>
          </a:prstGeom>
          <a:noFill/>
        </p:spPr>
        <p:txBody>
          <a:bodyPr wrap="square" lIns="45720" rIns="45720" tIns="18288" bIns="18288" anchor="ctr">
            <a:spAutoFit/>
          </a:bodyPr>
          <a:lstStyle/>
          <a:p>
            <a:pPr algn="l">
              <a:lnSpc>
                <a:spcPct val="130000"/>
              </a:lnSpc>
            </a:pPr>
            <a:r>
              <a:rPr sz="1100" b="1" i="1">
                <a:solidFill>
                  <a:srgbClr val="8B5CF6"/>
                </a:solidFill>
                <a:latin typeface="Calibri"/>
              </a:rPr>
              <a:t>Cursor has no answer to 'prove it'.</a:t>
            </a:r>
          </a:p>
        </p:txBody>
      </p:sp>
      <p:sp>
        <p:nvSpPr>
          <p:cNvPr id="20" name="Rounded Rectangle 19"/>
          <p:cNvSpPr/>
          <p:nvPr/>
        </p:nvSpPr>
        <p:spPr>
          <a:xfrm>
            <a:off x="548640" y="3630167"/>
            <a:ext cx="11155680" cy="804672"/>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3813047"/>
            <a:ext cx="502920" cy="502920"/>
          </a:xfrm>
          <a:prstGeom prst="roundRect">
            <a:avLst>
              <a:gd name="adj" fmla="val 1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813047"/>
            <a:ext cx="502920" cy="50292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03</a:t>
            </a:r>
          </a:p>
        </p:txBody>
      </p:sp>
      <p:sp>
        <p:nvSpPr>
          <p:cNvPr id="23" name="TextBox 22"/>
          <p:cNvSpPr txBox="1"/>
          <p:nvPr/>
        </p:nvSpPr>
        <p:spPr>
          <a:xfrm>
            <a:off x="1417320" y="3721607"/>
            <a:ext cx="6400800" cy="365760"/>
          </a:xfrm>
          <a:prstGeom prst="rect">
            <a:avLst/>
          </a:prstGeom>
          <a:noFill/>
        </p:spPr>
        <p:txBody>
          <a:bodyPr wrap="square" lIns="45720" rIns="45720" tIns="18288" bIns="18288" anchor="t">
            <a:spAutoFit/>
          </a:bodyPr>
          <a:lstStyle/>
          <a:p>
            <a:pPr algn="l">
              <a:lnSpc>
                <a:spcPct val="115000"/>
              </a:lnSpc>
            </a:pPr>
            <a:r>
              <a:rPr sz="1600" b="1" i="0">
                <a:solidFill>
                  <a:srgbClr val="FFFFFF"/>
                </a:solidFill>
                <a:latin typeface="Calibri"/>
              </a:rPr>
              <a:t>SOC2 + GDPR compliance bundle</a:t>
            </a:r>
          </a:p>
        </p:txBody>
      </p:sp>
      <p:sp>
        <p:nvSpPr>
          <p:cNvPr id="24" name="TextBox 23"/>
          <p:cNvSpPr txBox="1"/>
          <p:nvPr/>
        </p:nvSpPr>
        <p:spPr>
          <a:xfrm>
            <a:off x="1417320" y="4041647"/>
            <a:ext cx="6858000" cy="457200"/>
          </a:xfrm>
          <a:prstGeom prst="rect">
            <a:avLst/>
          </a:prstGeom>
          <a:noFill/>
        </p:spPr>
        <p:txBody>
          <a:bodyPr wrap="square" lIns="45720" rIns="45720" tIns="18288" bIns="18288" anchor="t">
            <a:spAutoFit/>
          </a:bodyPr>
          <a:lstStyle/>
          <a:p>
            <a:pPr algn="l">
              <a:lnSpc>
                <a:spcPct val="130000"/>
              </a:lnSpc>
            </a:pPr>
            <a:r>
              <a:rPr sz="1100" b="0" i="0">
                <a:solidFill>
                  <a:srgbClr val="CBD5E1"/>
                </a:solidFill>
                <a:latin typeface="Calibri"/>
              </a:rPr>
              <a:t>compliance_export router, audit log, BAA-ready posture. Regulated industries can deploy on-prem with the policy bundle pre-built.</a:t>
            </a:r>
          </a:p>
        </p:txBody>
      </p:sp>
      <p:sp>
        <p:nvSpPr>
          <p:cNvPr id="25" name="TextBox 24"/>
          <p:cNvSpPr txBox="1"/>
          <p:nvPr/>
        </p:nvSpPr>
        <p:spPr>
          <a:xfrm>
            <a:off x="8503920" y="3886199"/>
            <a:ext cx="3108960" cy="457200"/>
          </a:xfrm>
          <a:prstGeom prst="rect">
            <a:avLst/>
          </a:prstGeom>
          <a:noFill/>
        </p:spPr>
        <p:txBody>
          <a:bodyPr wrap="square" lIns="45720" rIns="45720" tIns="18288" bIns="18288" anchor="ctr">
            <a:spAutoFit/>
          </a:bodyPr>
          <a:lstStyle/>
          <a:p>
            <a:pPr algn="l">
              <a:lnSpc>
                <a:spcPct val="130000"/>
              </a:lnSpc>
            </a:pPr>
            <a:r>
              <a:rPr sz="1100" b="1" i="1">
                <a:solidFill>
                  <a:srgbClr val="6366F1"/>
                </a:solidFill>
                <a:latin typeface="Calibri"/>
              </a:rPr>
              <a:t>Cursor enterprise exists; regulated tier doesn't.</a:t>
            </a:r>
          </a:p>
        </p:txBody>
      </p:sp>
      <p:sp>
        <p:nvSpPr>
          <p:cNvPr id="26" name="Rounded Rectangle 25"/>
          <p:cNvSpPr/>
          <p:nvPr/>
        </p:nvSpPr>
        <p:spPr>
          <a:xfrm>
            <a:off x="548640" y="4507991"/>
            <a:ext cx="11155680" cy="804672"/>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31520" y="4690871"/>
            <a:ext cx="502920" cy="502920"/>
          </a:xfrm>
          <a:prstGeom prst="roundRect">
            <a:avLst>
              <a:gd name="adj" fmla="val 10000"/>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690871"/>
            <a:ext cx="502920" cy="50292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04</a:t>
            </a:r>
          </a:p>
        </p:txBody>
      </p:sp>
      <p:sp>
        <p:nvSpPr>
          <p:cNvPr id="29" name="TextBox 28"/>
          <p:cNvSpPr txBox="1"/>
          <p:nvPr/>
        </p:nvSpPr>
        <p:spPr>
          <a:xfrm>
            <a:off x="1417320" y="4599431"/>
            <a:ext cx="6400800" cy="365760"/>
          </a:xfrm>
          <a:prstGeom prst="rect">
            <a:avLst/>
          </a:prstGeom>
          <a:noFill/>
        </p:spPr>
        <p:txBody>
          <a:bodyPr wrap="square" lIns="45720" rIns="45720" tIns="18288" bIns="18288" anchor="t">
            <a:spAutoFit/>
          </a:bodyPr>
          <a:lstStyle/>
          <a:p>
            <a:pPr algn="l">
              <a:lnSpc>
                <a:spcPct val="115000"/>
              </a:lnSpc>
            </a:pPr>
            <a:r>
              <a:rPr sz="1600" b="1" i="0">
                <a:solidFill>
                  <a:srgbClr val="FFFFFF"/>
                </a:solidFill>
                <a:latin typeface="Calibri"/>
              </a:rPr>
              <a:t>7 domain packs — not just code</a:t>
            </a:r>
          </a:p>
        </p:txBody>
      </p:sp>
      <p:sp>
        <p:nvSpPr>
          <p:cNvPr id="30" name="TextBox 29"/>
          <p:cNvSpPr txBox="1"/>
          <p:nvPr/>
        </p:nvSpPr>
        <p:spPr>
          <a:xfrm>
            <a:off x="1417320" y="4919471"/>
            <a:ext cx="6858000" cy="457200"/>
          </a:xfrm>
          <a:prstGeom prst="rect">
            <a:avLst/>
          </a:prstGeom>
          <a:noFill/>
        </p:spPr>
        <p:txBody>
          <a:bodyPr wrap="square" lIns="45720" rIns="45720" tIns="18288" bIns="18288" anchor="t">
            <a:spAutoFit/>
          </a:bodyPr>
          <a:lstStyle/>
          <a:p>
            <a:pPr algn="l">
              <a:lnSpc>
                <a:spcPct val="130000"/>
              </a:lnSpc>
            </a:pPr>
            <a:r>
              <a:rPr sz="1100" b="0" i="0">
                <a:solidFill>
                  <a:srgbClr val="CBD5E1"/>
                </a:solidFill>
                <a:latin typeface="Calibri"/>
              </a:rPr>
              <a:t>Wealth, health, business, entrepreneur, research, civic, creative. Each pack ships its vocabulary, actions, connectors day-one.</a:t>
            </a:r>
          </a:p>
        </p:txBody>
      </p:sp>
      <p:sp>
        <p:nvSpPr>
          <p:cNvPr id="31" name="TextBox 30"/>
          <p:cNvSpPr txBox="1"/>
          <p:nvPr/>
        </p:nvSpPr>
        <p:spPr>
          <a:xfrm>
            <a:off x="8503920" y="4764023"/>
            <a:ext cx="3108960" cy="457200"/>
          </a:xfrm>
          <a:prstGeom prst="rect">
            <a:avLst/>
          </a:prstGeom>
          <a:noFill/>
        </p:spPr>
        <p:txBody>
          <a:bodyPr wrap="square" lIns="45720" rIns="45720" tIns="18288" bIns="18288" anchor="ctr">
            <a:spAutoFit/>
          </a:bodyPr>
          <a:lstStyle/>
          <a:p>
            <a:pPr algn="l">
              <a:lnSpc>
                <a:spcPct val="130000"/>
              </a:lnSpc>
            </a:pPr>
            <a:r>
              <a:rPr sz="1100" b="1" i="1">
                <a:solidFill>
                  <a:srgbClr val="84CC16"/>
                </a:solidFill>
                <a:latin typeface="Calibri"/>
              </a:rPr>
              <a:t>Cursor is an IDE. There is no Wealth pack for IDEs.</a:t>
            </a:r>
          </a:p>
        </p:txBody>
      </p:sp>
      <p:sp>
        <p:nvSpPr>
          <p:cNvPr id="32" name="Rounded Rectangle 31"/>
          <p:cNvSpPr/>
          <p:nvPr/>
        </p:nvSpPr>
        <p:spPr>
          <a:xfrm>
            <a:off x="548640" y="5385815"/>
            <a:ext cx="11155680" cy="804672"/>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1520" y="5568695"/>
            <a:ext cx="502920" cy="50292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568695"/>
            <a:ext cx="502920" cy="502920"/>
          </a:xfrm>
          <a:prstGeom prst="rect">
            <a:avLst/>
          </a:prstGeom>
          <a:noFill/>
        </p:spPr>
        <p:txBody>
          <a:bodyPr wrap="square" lIns="45720" rIns="45720" tIns="18288" bIns="18288" anchor="ctr">
            <a:spAutoFit/>
          </a:bodyPr>
          <a:lstStyle/>
          <a:p>
            <a:pPr algn="ctr">
              <a:lnSpc>
                <a:spcPct val="115000"/>
              </a:lnSpc>
            </a:pPr>
            <a:r>
              <a:rPr sz="1400" b="1" i="0">
                <a:solidFill>
                  <a:srgbClr val="07080D"/>
                </a:solidFill>
                <a:latin typeface="Consolas"/>
              </a:rPr>
              <a:t>05</a:t>
            </a:r>
          </a:p>
        </p:txBody>
      </p:sp>
      <p:sp>
        <p:nvSpPr>
          <p:cNvPr id="35" name="TextBox 34"/>
          <p:cNvSpPr txBox="1"/>
          <p:nvPr/>
        </p:nvSpPr>
        <p:spPr>
          <a:xfrm>
            <a:off x="1417320" y="5477255"/>
            <a:ext cx="6400800" cy="365760"/>
          </a:xfrm>
          <a:prstGeom prst="rect">
            <a:avLst/>
          </a:prstGeom>
          <a:noFill/>
        </p:spPr>
        <p:txBody>
          <a:bodyPr wrap="square" lIns="45720" rIns="45720" tIns="18288" bIns="18288" anchor="t">
            <a:spAutoFit/>
          </a:bodyPr>
          <a:lstStyle/>
          <a:p>
            <a:pPr algn="l">
              <a:lnSpc>
                <a:spcPct val="115000"/>
              </a:lnSpc>
            </a:pPr>
            <a:r>
              <a:rPr sz="1600" b="1" i="0">
                <a:solidFill>
                  <a:srgbClr val="FFFFFF"/>
                </a:solidFill>
                <a:latin typeface="Calibri"/>
              </a:rPr>
              <a:t>$MEEET economy through meeet.world</a:t>
            </a:r>
          </a:p>
        </p:txBody>
      </p:sp>
      <p:sp>
        <p:nvSpPr>
          <p:cNvPr id="36" name="TextBox 35"/>
          <p:cNvSpPr txBox="1"/>
          <p:nvPr/>
        </p:nvSpPr>
        <p:spPr>
          <a:xfrm>
            <a:off x="1417320" y="5797295"/>
            <a:ext cx="6858000" cy="457200"/>
          </a:xfrm>
          <a:prstGeom prst="rect">
            <a:avLst/>
          </a:prstGeom>
          <a:noFill/>
        </p:spPr>
        <p:txBody>
          <a:bodyPr wrap="square" lIns="45720" rIns="45720" tIns="18288" bIns="18288" anchor="t">
            <a:spAutoFit/>
          </a:bodyPr>
          <a:lstStyle/>
          <a:p>
            <a:pPr algn="l">
              <a:lnSpc>
                <a:spcPct val="130000"/>
              </a:lnSpc>
            </a:pPr>
            <a:r>
              <a:rPr sz="1100" b="0" i="0">
                <a:solidFill>
                  <a:srgbClr val="CBD5E1"/>
                </a:solidFill>
                <a:latin typeface="Calibri"/>
              </a:rPr>
              <a:t>Pay in USD or $MEEET at 10% discount. Marketplace 70/30 split, on-chain payouts. CAC leverage in the crypto-native segment.</a:t>
            </a:r>
          </a:p>
        </p:txBody>
      </p:sp>
      <p:sp>
        <p:nvSpPr>
          <p:cNvPr id="37" name="TextBox 36"/>
          <p:cNvSpPr txBox="1"/>
          <p:nvPr/>
        </p:nvSpPr>
        <p:spPr>
          <a:xfrm>
            <a:off x="8503920" y="5641847"/>
            <a:ext cx="3108960" cy="457200"/>
          </a:xfrm>
          <a:prstGeom prst="rect">
            <a:avLst/>
          </a:prstGeom>
          <a:noFill/>
        </p:spPr>
        <p:txBody>
          <a:bodyPr wrap="square" lIns="45720" rIns="45720" tIns="18288" bIns="18288" anchor="ctr">
            <a:spAutoFit/>
          </a:bodyPr>
          <a:lstStyle/>
          <a:p>
            <a:pPr algn="l">
              <a:lnSpc>
                <a:spcPct val="130000"/>
              </a:lnSpc>
            </a:pPr>
            <a:r>
              <a:rPr sz="1100" b="1" i="1">
                <a:solidFill>
                  <a:srgbClr val="F59E0B"/>
                </a:solidFill>
                <a:latin typeface="Calibri"/>
              </a:rPr>
              <a:t>Cursor has Stripe. We have rails.</a:t>
            </a:r>
          </a:p>
        </p:txBody>
      </p:sp>
      <p:sp>
        <p:nvSpPr>
          <p:cNvPr id="38" name="TextBox 37"/>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39" name="TextBox 38"/>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09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PRICING</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000" b="1" i="0">
                <a:solidFill>
                  <a:srgbClr val="FFFFFF"/>
                </a:solidFill>
                <a:latin typeface="Calibri"/>
              </a:rPr>
              <a:t>Three tiers. Two currencies. One ledger.</a:t>
            </a:r>
          </a:p>
        </p:txBody>
      </p:sp>
      <p:sp>
        <p:nvSpPr>
          <p:cNvPr id="7" name="Rounded Rectangle 6"/>
          <p:cNvSpPr/>
          <p:nvPr/>
        </p:nvSpPr>
        <p:spPr>
          <a:xfrm>
            <a:off x="548640" y="1645920"/>
            <a:ext cx="2606040" cy="36576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2057400" cy="365760"/>
          </a:xfrm>
          <a:prstGeom prst="rect">
            <a:avLst/>
          </a:prstGeom>
          <a:noFill/>
        </p:spPr>
        <p:txBody>
          <a:bodyPr wrap="square" lIns="45720" rIns="45720" tIns="18288" bIns="18288" anchor="t">
            <a:spAutoFit/>
          </a:bodyPr>
          <a:lstStyle/>
          <a:p>
            <a:pPr algn="l">
              <a:lnSpc>
                <a:spcPct val="115000"/>
              </a:lnSpc>
            </a:pPr>
            <a:r>
              <a:rPr sz="1400" b="1" i="0">
                <a:solidFill>
                  <a:srgbClr val="64748B"/>
                </a:solidFill>
                <a:latin typeface="Consolas"/>
              </a:rPr>
              <a:t>FREE</a:t>
            </a:r>
          </a:p>
        </p:txBody>
      </p:sp>
      <p:sp>
        <p:nvSpPr>
          <p:cNvPr id="9" name="TextBox 8"/>
          <p:cNvSpPr txBox="1"/>
          <p:nvPr/>
        </p:nvSpPr>
        <p:spPr>
          <a:xfrm>
            <a:off x="822960" y="2331720"/>
            <a:ext cx="2057400" cy="868680"/>
          </a:xfrm>
          <a:prstGeom prst="rect">
            <a:avLst/>
          </a:prstGeom>
          <a:noFill/>
        </p:spPr>
        <p:txBody>
          <a:bodyPr wrap="square" lIns="45720" rIns="45720" tIns="18288" bIns="18288" anchor="t">
            <a:spAutoFit/>
          </a:bodyPr>
          <a:lstStyle/>
          <a:p>
            <a:pPr algn="l">
              <a:lnSpc>
                <a:spcPct val="115000"/>
              </a:lnSpc>
            </a:pPr>
            <a:r>
              <a:rPr sz="5200" b="1" i="0">
                <a:solidFill>
                  <a:srgbClr val="FFFFFF"/>
                </a:solidFill>
                <a:latin typeface="Calibri"/>
              </a:rPr>
              <a:t>$0</a:t>
            </a:r>
          </a:p>
        </p:txBody>
      </p:sp>
      <p:sp>
        <p:nvSpPr>
          <p:cNvPr id="10" name="TextBox 9"/>
          <p:cNvSpPr txBox="1"/>
          <p:nvPr/>
        </p:nvSpPr>
        <p:spPr>
          <a:xfrm>
            <a:off x="822960" y="3154680"/>
            <a:ext cx="2057400" cy="292608"/>
          </a:xfrm>
          <a:prstGeom prst="rect">
            <a:avLst/>
          </a:prstGeom>
          <a:noFill/>
        </p:spPr>
        <p:txBody>
          <a:bodyPr wrap="square" lIns="45720" rIns="45720" tIns="18288" bIns="18288" anchor="t">
            <a:spAutoFit/>
          </a:bodyPr>
          <a:lstStyle/>
          <a:p>
            <a:pPr algn="l">
              <a:lnSpc>
                <a:spcPct val="115000"/>
              </a:lnSpc>
            </a:pPr>
            <a:r>
              <a:rPr sz="1000" b="0" i="0">
                <a:solidFill>
                  <a:srgbClr val="94A3B8"/>
                </a:solidFill>
                <a:latin typeface="Consolas"/>
              </a:rPr>
              <a:t>/mo</a:t>
            </a:r>
          </a:p>
        </p:txBody>
      </p:sp>
      <p:sp>
        <p:nvSpPr>
          <p:cNvPr id="11" name="TextBox 10"/>
          <p:cNvSpPr txBox="1"/>
          <p:nvPr/>
        </p:nvSpPr>
        <p:spPr>
          <a:xfrm>
            <a:off x="822960" y="3474720"/>
            <a:ext cx="2057400" cy="274320"/>
          </a:xfrm>
          <a:prstGeom prst="rect">
            <a:avLst/>
          </a:prstGeom>
          <a:noFill/>
        </p:spPr>
        <p:txBody>
          <a:bodyPr wrap="square" lIns="45720" rIns="45720" tIns="18288" bIns="18288" anchor="t">
            <a:spAutoFit/>
          </a:bodyPr>
          <a:lstStyle/>
          <a:p>
            <a:pPr algn="l">
              <a:lnSpc>
                <a:spcPct val="115000"/>
              </a:lnSpc>
            </a:pPr>
            <a:r>
              <a:rPr sz="1100" b="0" i="1">
                <a:solidFill>
                  <a:srgbClr val="CBD5E1"/>
                </a:solidFill>
                <a:latin typeface="Calibri"/>
              </a:rPr>
              <a:t>Civic pack always free</a:t>
            </a:r>
          </a:p>
        </p:txBody>
      </p:sp>
      <p:sp>
        <p:nvSpPr>
          <p:cNvPr id="12" name="Rectangle 11"/>
          <p:cNvSpPr/>
          <p:nvPr/>
        </p:nvSpPr>
        <p:spPr>
          <a:xfrm>
            <a:off x="822960" y="3840480"/>
            <a:ext cx="2057400" cy="18288"/>
          </a:xfrm>
          <a:prstGeom prst="rect">
            <a:avLst/>
          </a:prstGeom>
          <a:solidFill>
            <a:srgbClr val="1F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4069080"/>
            <a:ext cx="73152" cy="73152"/>
          </a:xfrm>
          <a:prstGeom prst="roundRect">
            <a:avLst>
              <a:gd name="adj" fmla="val 1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977640"/>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50 requests / month</a:t>
            </a:r>
          </a:p>
        </p:txBody>
      </p:sp>
      <p:sp>
        <p:nvSpPr>
          <p:cNvPr id="15" name="Rounded Rectangle 14"/>
          <p:cNvSpPr/>
          <p:nvPr/>
        </p:nvSpPr>
        <p:spPr>
          <a:xfrm>
            <a:off x="822960" y="4379976"/>
            <a:ext cx="73152" cy="73152"/>
          </a:xfrm>
          <a:prstGeom prst="roundRect">
            <a:avLst>
              <a:gd name="adj" fmla="val 1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288536"/>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Basic models only</a:t>
            </a:r>
          </a:p>
        </p:txBody>
      </p:sp>
      <p:sp>
        <p:nvSpPr>
          <p:cNvPr id="17" name="Rounded Rectangle 16"/>
          <p:cNvSpPr/>
          <p:nvPr/>
        </p:nvSpPr>
        <p:spPr>
          <a:xfrm>
            <a:off x="822960" y="4690872"/>
            <a:ext cx="73152" cy="73152"/>
          </a:xfrm>
          <a:prstGeom prst="roundRect">
            <a:avLst>
              <a:gd name="adj" fmla="val 1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599432"/>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Watermarked receipts</a:t>
            </a:r>
          </a:p>
        </p:txBody>
      </p:sp>
      <p:sp>
        <p:nvSpPr>
          <p:cNvPr id="19" name="Rounded Rectangle 18"/>
          <p:cNvSpPr/>
          <p:nvPr/>
        </p:nvSpPr>
        <p:spPr>
          <a:xfrm>
            <a:off x="822960" y="5001768"/>
            <a:ext cx="73152" cy="73152"/>
          </a:xfrm>
          <a:prstGeom prst="roundRect">
            <a:avLst>
              <a:gd name="adj" fmla="val 10000"/>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910328"/>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Civic pack — free for all</a:t>
            </a:r>
          </a:p>
        </p:txBody>
      </p:sp>
      <p:sp>
        <p:nvSpPr>
          <p:cNvPr id="21" name="Rounded Rectangle 20"/>
          <p:cNvSpPr/>
          <p:nvPr/>
        </p:nvSpPr>
        <p:spPr>
          <a:xfrm>
            <a:off x="3337560" y="1645920"/>
            <a:ext cx="2606040" cy="3657600"/>
          </a:xfrm>
          <a:prstGeom prst="roundRect">
            <a:avLst>
              <a:gd name="adj" fmla="val 10000"/>
            </a:avLst>
          </a:prstGeom>
          <a:solidFill>
            <a:srgbClr val="131826"/>
          </a:solidFill>
          <a:ln w="254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11880" y="1920240"/>
            <a:ext cx="2057400" cy="365760"/>
          </a:xfrm>
          <a:prstGeom prst="rect">
            <a:avLst/>
          </a:prstGeom>
          <a:noFill/>
        </p:spPr>
        <p:txBody>
          <a:bodyPr wrap="square" lIns="45720" rIns="45720" tIns="18288" bIns="18288" anchor="t">
            <a:spAutoFit/>
          </a:bodyPr>
          <a:lstStyle/>
          <a:p>
            <a:pPr algn="l">
              <a:lnSpc>
                <a:spcPct val="115000"/>
              </a:lnSpc>
            </a:pPr>
            <a:r>
              <a:rPr sz="1400" b="1" i="0">
                <a:solidFill>
                  <a:srgbClr val="06B6D4"/>
                </a:solidFill>
                <a:latin typeface="Consolas"/>
              </a:rPr>
              <a:t>PRO</a:t>
            </a:r>
          </a:p>
        </p:txBody>
      </p:sp>
      <p:sp>
        <p:nvSpPr>
          <p:cNvPr id="23" name="TextBox 22"/>
          <p:cNvSpPr txBox="1"/>
          <p:nvPr/>
        </p:nvSpPr>
        <p:spPr>
          <a:xfrm>
            <a:off x="3611880" y="2331720"/>
            <a:ext cx="2057400" cy="868680"/>
          </a:xfrm>
          <a:prstGeom prst="rect">
            <a:avLst/>
          </a:prstGeom>
          <a:noFill/>
        </p:spPr>
        <p:txBody>
          <a:bodyPr wrap="square" lIns="45720" rIns="45720" tIns="18288" bIns="18288" anchor="t">
            <a:spAutoFit/>
          </a:bodyPr>
          <a:lstStyle/>
          <a:p>
            <a:pPr algn="l">
              <a:lnSpc>
                <a:spcPct val="115000"/>
              </a:lnSpc>
            </a:pPr>
            <a:r>
              <a:rPr sz="5200" b="1" i="0">
                <a:solidFill>
                  <a:srgbClr val="FFFFFF"/>
                </a:solidFill>
                <a:latin typeface="Calibri"/>
              </a:rPr>
              <a:t>$20</a:t>
            </a:r>
          </a:p>
        </p:txBody>
      </p:sp>
      <p:sp>
        <p:nvSpPr>
          <p:cNvPr id="24" name="TextBox 23"/>
          <p:cNvSpPr txBox="1"/>
          <p:nvPr/>
        </p:nvSpPr>
        <p:spPr>
          <a:xfrm>
            <a:off x="3611880" y="3154680"/>
            <a:ext cx="2057400" cy="292608"/>
          </a:xfrm>
          <a:prstGeom prst="rect">
            <a:avLst/>
          </a:prstGeom>
          <a:noFill/>
        </p:spPr>
        <p:txBody>
          <a:bodyPr wrap="square" lIns="45720" rIns="45720" tIns="18288" bIns="18288" anchor="t">
            <a:spAutoFit/>
          </a:bodyPr>
          <a:lstStyle/>
          <a:p>
            <a:pPr algn="l">
              <a:lnSpc>
                <a:spcPct val="115000"/>
              </a:lnSpc>
            </a:pPr>
            <a:r>
              <a:rPr sz="1000" b="0" i="0">
                <a:solidFill>
                  <a:srgbClr val="94A3B8"/>
                </a:solidFill>
                <a:latin typeface="Consolas"/>
              </a:rPr>
              <a:t>/mo or 200 $MEEET</a:t>
            </a:r>
          </a:p>
        </p:txBody>
      </p:sp>
      <p:sp>
        <p:nvSpPr>
          <p:cNvPr id="25" name="TextBox 24"/>
          <p:cNvSpPr txBox="1"/>
          <p:nvPr/>
        </p:nvSpPr>
        <p:spPr>
          <a:xfrm>
            <a:off x="3611880" y="3474720"/>
            <a:ext cx="2057400" cy="274320"/>
          </a:xfrm>
          <a:prstGeom prst="rect">
            <a:avLst/>
          </a:prstGeom>
          <a:noFill/>
        </p:spPr>
        <p:txBody>
          <a:bodyPr wrap="square" lIns="45720" rIns="45720" tIns="18288" bIns="18288" anchor="t">
            <a:spAutoFit/>
          </a:bodyPr>
          <a:lstStyle/>
          <a:p>
            <a:pPr algn="l">
              <a:lnSpc>
                <a:spcPct val="115000"/>
              </a:lnSpc>
            </a:pPr>
            <a:r>
              <a:rPr sz="1100" b="0" i="1">
                <a:solidFill>
                  <a:srgbClr val="CBD5E1"/>
                </a:solidFill>
                <a:latin typeface="Calibri"/>
              </a:rPr>
              <a:t>Solo operators</a:t>
            </a:r>
          </a:p>
        </p:txBody>
      </p:sp>
      <p:sp>
        <p:nvSpPr>
          <p:cNvPr id="26" name="Rectangle 25"/>
          <p:cNvSpPr/>
          <p:nvPr/>
        </p:nvSpPr>
        <p:spPr>
          <a:xfrm>
            <a:off x="3611880" y="3840480"/>
            <a:ext cx="2057400" cy="18288"/>
          </a:xfrm>
          <a:prstGeom prst="rect">
            <a:avLst/>
          </a:prstGeom>
          <a:solidFill>
            <a:srgbClr val="1F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611880" y="4069080"/>
            <a:ext cx="73152" cy="73152"/>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94760" y="3977640"/>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1,000 requests / month</a:t>
            </a:r>
          </a:p>
        </p:txBody>
      </p:sp>
      <p:sp>
        <p:nvSpPr>
          <p:cNvPr id="29" name="Rounded Rectangle 28"/>
          <p:cNvSpPr/>
          <p:nvPr/>
        </p:nvSpPr>
        <p:spPr>
          <a:xfrm>
            <a:off x="3611880" y="4379976"/>
            <a:ext cx="73152" cy="73152"/>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94760" y="4288536"/>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All providers · BYO key</a:t>
            </a:r>
          </a:p>
        </p:txBody>
      </p:sp>
      <p:sp>
        <p:nvSpPr>
          <p:cNvPr id="31" name="Rounded Rectangle 30"/>
          <p:cNvSpPr/>
          <p:nvPr/>
        </p:nvSpPr>
        <p:spPr>
          <a:xfrm>
            <a:off x="3611880" y="4690872"/>
            <a:ext cx="73152" cy="73152"/>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94760" y="4599432"/>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Clean receipts + Solana anchor</a:t>
            </a:r>
          </a:p>
        </p:txBody>
      </p:sp>
      <p:sp>
        <p:nvSpPr>
          <p:cNvPr id="33" name="Rounded Rectangle 32"/>
          <p:cNvSpPr/>
          <p:nvPr/>
        </p:nvSpPr>
        <p:spPr>
          <a:xfrm>
            <a:off x="3611880" y="5001768"/>
            <a:ext cx="73152" cy="73152"/>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94760" y="4910328"/>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Marketplace earn-side enabled</a:t>
            </a:r>
          </a:p>
        </p:txBody>
      </p:sp>
      <p:sp>
        <p:nvSpPr>
          <p:cNvPr id="35" name="Rounded Rectangle 34"/>
          <p:cNvSpPr/>
          <p:nvPr/>
        </p:nvSpPr>
        <p:spPr>
          <a:xfrm>
            <a:off x="6126480" y="1645920"/>
            <a:ext cx="2606040" cy="36576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1920240"/>
            <a:ext cx="2057400" cy="365760"/>
          </a:xfrm>
          <a:prstGeom prst="rect">
            <a:avLst/>
          </a:prstGeom>
          <a:noFill/>
        </p:spPr>
        <p:txBody>
          <a:bodyPr wrap="square" lIns="45720" rIns="45720" tIns="18288" bIns="18288" anchor="t">
            <a:spAutoFit/>
          </a:bodyPr>
          <a:lstStyle/>
          <a:p>
            <a:pPr algn="l">
              <a:lnSpc>
                <a:spcPct val="115000"/>
              </a:lnSpc>
            </a:pPr>
            <a:r>
              <a:rPr sz="1400" b="1" i="0">
                <a:solidFill>
                  <a:srgbClr val="8B5CF6"/>
                </a:solidFill>
                <a:latin typeface="Consolas"/>
              </a:rPr>
              <a:t>BUSINESS</a:t>
            </a:r>
          </a:p>
        </p:txBody>
      </p:sp>
      <p:sp>
        <p:nvSpPr>
          <p:cNvPr id="37" name="TextBox 36"/>
          <p:cNvSpPr txBox="1"/>
          <p:nvPr/>
        </p:nvSpPr>
        <p:spPr>
          <a:xfrm>
            <a:off x="6400800" y="2331720"/>
            <a:ext cx="2057400" cy="868680"/>
          </a:xfrm>
          <a:prstGeom prst="rect">
            <a:avLst/>
          </a:prstGeom>
          <a:noFill/>
        </p:spPr>
        <p:txBody>
          <a:bodyPr wrap="square" lIns="45720" rIns="45720" tIns="18288" bIns="18288" anchor="t">
            <a:spAutoFit/>
          </a:bodyPr>
          <a:lstStyle/>
          <a:p>
            <a:pPr algn="l">
              <a:lnSpc>
                <a:spcPct val="115000"/>
              </a:lnSpc>
            </a:pPr>
            <a:r>
              <a:rPr sz="5200" b="1" i="0">
                <a:solidFill>
                  <a:srgbClr val="FFFFFF"/>
                </a:solidFill>
                <a:latin typeface="Calibri"/>
              </a:rPr>
              <a:t>$40</a:t>
            </a:r>
          </a:p>
        </p:txBody>
      </p:sp>
      <p:sp>
        <p:nvSpPr>
          <p:cNvPr id="38" name="TextBox 37"/>
          <p:cNvSpPr txBox="1"/>
          <p:nvPr/>
        </p:nvSpPr>
        <p:spPr>
          <a:xfrm>
            <a:off x="6400800" y="3154680"/>
            <a:ext cx="2057400" cy="292608"/>
          </a:xfrm>
          <a:prstGeom prst="rect">
            <a:avLst/>
          </a:prstGeom>
          <a:noFill/>
        </p:spPr>
        <p:txBody>
          <a:bodyPr wrap="square" lIns="45720" rIns="45720" tIns="18288" bIns="18288" anchor="t">
            <a:spAutoFit/>
          </a:bodyPr>
          <a:lstStyle/>
          <a:p>
            <a:pPr algn="l">
              <a:lnSpc>
                <a:spcPct val="115000"/>
              </a:lnSpc>
            </a:pPr>
            <a:r>
              <a:rPr sz="1000" b="0" i="0">
                <a:solidFill>
                  <a:srgbClr val="94A3B8"/>
                </a:solidFill>
                <a:latin typeface="Consolas"/>
              </a:rPr>
              <a:t>/seat or 400 $MEEET</a:t>
            </a:r>
          </a:p>
        </p:txBody>
      </p:sp>
      <p:sp>
        <p:nvSpPr>
          <p:cNvPr id="39" name="TextBox 38"/>
          <p:cNvSpPr txBox="1"/>
          <p:nvPr/>
        </p:nvSpPr>
        <p:spPr>
          <a:xfrm>
            <a:off x="6400800" y="3474720"/>
            <a:ext cx="2057400" cy="274320"/>
          </a:xfrm>
          <a:prstGeom prst="rect">
            <a:avLst/>
          </a:prstGeom>
          <a:noFill/>
        </p:spPr>
        <p:txBody>
          <a:bodyPr wrap="square" lIns="45720" rIns="45720" tIns="18288" bIns="18288" anchor="t">
            <a:spAutoFit/>
          </a:bodyPr>
          <a:lstStyle/>
          <a:p>
            <a:pPr algn="l">
              <a:lnSpc>
                <a:spcPct val="115000"/>
              </a:lnSpc>
            </a:pPr>
            <a:r>
              <a:rPr sz="1100" b="0" i="1">
                <a:solidFill>
                  <a:srgbClr val="CBD5E1"/>
                </a:solidFill>
                <a:latin typeface="Calibri"/>
              </a:rPr>
              <a:t>Funds · ops · regulated</a:t>
            </a:r>
          </a:p>
        </p:txBody>
      </p:sp>
      <p:sp>
        <p:nvSpPr>
          <p:cNvPr id="40" name="Rectangle 39"/>
          <p:cNvSpPr/>
          <p:nvPr/>
        </p:nvSpPr>
        <p:spPr>
          <a:xfrm>
            <a:off x="6400800" y="3840480"/>
            <a:ext cx="2057400" cy="18288"/>
          </a:xfrm>
          <a:prstGeom prst="rect">
            <a:avLst/>
          </a:prstGeom>
          <a:solidFill>
            <a:srgbClr val="1F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400800" y="4069080"/>
            <a:ext cx="73152" cy="73152"/>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0" y="3977640"/>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5,000 req / seat (soft cap)</a:t>
            </a:r>
          </a:p>
        </p:txBody>
      </p:sp>
      <p:sp>
        <p:nvSpPr>
          <p:cNvPr id="43" name="Rounded Rectangle 42"/>
          <p:cNvSpPr/>
          <p:nvPr/>
        </p:nvSpPr>
        <p:spPr>
          <a:xfrm>
            <a:off x="6400800" y="4379976"/>
            <a:ext cx="73152" cy="73152"/>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0" y="4288536"/>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SOC2-style audit log</a:t>
            </a:r>
          </a:p>
        </p:txBody>
      </p:sp>
      <p:sp>
        <p:nvSpPr>
          <p:cNvPr id="45" name="Rounded Rectangle 44"/>
          <p:cNvSpPr/>
          <p:nvPr/>
        </p:nvSpPr>
        <p:spPr>
          <a:xfrm>
            <a:off x="6400800" y="4690872"/>
            <a:ext cx="73152" cy="73152"/>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0" y="4599432"/>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Unlimited workspaces</a:t>
            </a:r>
          </a:p>
        </p:txBody>
      </p:sp>
      <p:sp>
        <p:nvSpPr>
          <p:cNvPr id="47" name="Rounded Rectangle 46"/>
          <p:cNvSpPr/>
          <p:nvPr/>
        </p:nvSpPr>
        <p:spPr>
          <a:xfrm>
            <a:off x="6400800" y="5001768"/>
            <a:ext cx="73152" cy="73152"/>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4910328"/>
            <a:ext cx="1874520" cy="292608"/>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On-prem option · $1k+/seat</a:t>
            </a:r>
          </a:p>
        </p:txBody>
      </p:sp>
      <p:sp>
        <p:nvSpPr>
          <p:cNvPr id="49" name="Rounded Rectangle 48"/>
          <p:cNvSpPr/>
          <p:nvPr/>
        </p:nvSpPr>
        <p:spPr>
          <a:xfrm>
            <a:off x="8915400" y="1645920"/>
            <a:ext cx="2727655" cy="3657600"/>
          </a:xfrm>
          <a:prstGeom prst="roundRect">
            <a:avLst>
              <a:gd name="adj" fmla="val 10000"/>
            </a:avLst>
          </a:prstGeom>
          <a:solidFill>
            <a:srgbClr val="0D111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89720" y="1920240"/>
            <a:ext cx="2179015" cy="365760"/>
          </a:xfrm>
          <a:prstGeom prst="rect">
            <a:avLst/>
          </a:prstGeom>
          <a:noFill/>
        </p:spPr>
        <p:txBody>
          <a:bodyPr wrap="square" lIns="45720" rIns="45720" tIns="18288" bIns="18288" anchor="t">
            <a:spAutoFit/>
          </a:bodyPr>
          <a:lstStyle/>
          <a:p>
            <a:pPr algn="l">
              <a:lnSpc>
                <a:spcPct val="115000"/>
              </a:lnSpc>
            </a:pPr>
            <a:r>
              <a:rPr sz="1200" b="1" i="0">
                <a:solidFill>
                  <a:srgbClr val="F59E0B"/>
                </a:solidFill>
                <a:latin typeface="Consolas"/>
              </a:rPr>
              <a:t>RECEIPT FLOW</a:t>
            </a:r>
          </a:p>
        </p:txBody>
      </p:sp>
      <p:sp>
        <p:nvSpPr>
          <p:cNvPr id="51" name="TextBox 50"/>
          <p:cNvSpPr txBox="1"/>
          <p:nvPr/>
        </p:nvSpPr>
        <p:spPr>
          <a:xfrm>
            <a:off x="9189720" y="2423160"/>
            <a:ext cx="2179015" cy="320040"/>
          </a:xfrm>
          <a:prstGeom prst="rect">
            <a:avLst/>
          </a:prstGeom>
          <a:noFill/>
        </p:spPr>
        <p:txBody>
          <a:bodyPr wrap="square" lIns="45720" rIns="45720" tIns="18288" bIns="18288" anchor="t">
            <a:spAutoFit/>
          </a:bodyPr>
          <a:lstStyle/>
          <a:p>
            <a:pPr algn="l">
              <a:lnSpc>
                <a:spcPct val="115000"/>
              </a:lnSpc>
            </a:pPr>
            <a:r>
              <a:rPr sz="1200" b="0" i="0">
                <a:solidFill>
                  <a:srgbClr val="CBD5E1"/>
                </a:solidFill>
                <a:latin typeface="Consolas"/>
              </a:rPr>
              <a:t>1.  Agent action</a:t>
            </a:r>
          </a:p>
        </p:txBody>
      </p:sp>
      <p:sp>
        <p:nvSpPr>
          <p:cNvPr id="52" name="TextBox 51"/>
          <p:cNvSpPr txBox="1"/>
          <p:nvPr/>
        </p:nvSpPr>
        <p:spPr>
          <a:xfrm>
            <a:off x="9189720" y="2807208"/>
            <a:ext cx="2179015" cy="320040"/>
          </a:xfrm>
          <a:prstGeom prst="rect">
            <a:avLst/>
          </a:prstGeom>
          <a:noFill/>
        </p:spPr>
        <p:txBody>
          <a:bodyPr wrap="square" lIns="45720" rIns="45720" tIns="18288" bIns="18288" anchor="t">
            <a:spAutoFit/>
          </a:bodyPr>
          <a:lstStyle/>
          <a:p>
            <a:pPr algn="l">
              <a:lnSpc>
                <a:spcPct val="115000"/>
              </a:lnSpc>
            </a:pPr>
            <a:r>
              <a:rPr sz="1200" b="0" i="0">
                <a:solidFill>
                  <a:srgbClr val="CBD5E1"/>
                </a:solidFill>
                <a:latin typeface="Consolas"/>
              </a:rPr>
              <a:t>2.  Signed receipt</a:t>
            </a:r>
          </a:p>
        </p:txBody>
      </p:sp>
      <p:sp>
        <p:nvSpPr>
          <p:cNvPr id="53" name="TextBox 52"/>
          <p:cNvSpPr txBox="1"/>
          <p:nvPr/>
        </p:nvSpPr>
        <p:spPr>
          <a:xfrm>
            <a:off x="9189720" y="3191256"/>
            <a:ext cx="2179015" cy="320040"/>
          </a:xfrm>
          <a:prstGeom prst="rect">
            <a:avLst/>
          </a:prstGeom>
          <a:noFill/>
        </p:spPr>
        <p:txBody>
          <a:bodyPr wrap="square" lIns="45720" rIns="45720" tIns="18288" bIns="18288" anchor="t">
            <a:spAutoFit/>
          </a:bodyPr>
          <a:lstStyle/>
          <a:p>
            <a:pPr algn="l">
              <a:lnSpc>
                <a:spcPct val="115000"/>
              </a:lnSpc>
            </a:pPr>
            <a:r>
              <a:rPr sz="1200" b="0" i="0">
                <a:solidFill>
                  <a:srgbClr val="CBD5E1"/>
                </a:solidFill>
                <a:latin typeface="Consolas"/>
              </a:rPr>
              <a:t>3.  Hash chain</a:t>
            </a:r>
          </a:p>
        </p:txBody>
      </p:sp>
      <p:sp>
        <p:nvSpPr>
          <p:cNvPr id="54" name="TextBox 53"/>
          <p:cNvSpPr txBox="1"/>
          <p:nvPr/>
        </p:nvSpPr>
        <p:spPr>
          <a:xfrm>
            <a:off x="9189720" y="3575304"/>
            <a:ext cx="2179015" cy="320040"/>
          </a:xfrm>
          <a:prstGeom prst="rect">
            <a:avLst/>
          </a:prstGeom>
          <a:noFill/>
        </p:spPr>
        <p:txBody>
          <a:bodyPr wrap="square" lIns="45720" rIns="45720" tIns="18288" bIns="18288" anchor="t">
            <a:spAutoFit/>
          </a:bodyPr>
          <a:lstStyle/>
          <a:p>
            <a:pPr algn="l">
              <a:lnSpc>
                <a:spcPct val="115000"/>
              </a:lnSpc>
            </a:pPr>
            <a:r>
              <a:rPr sz="1200" b="0" i="0">
                <a:solidFill>
                  <a:srgbClr val="CBD5E1"/>
                </a:solidFill>
                <a:latin typeface="Consolas"/>
              </a:rPr>
              <a:t>4.  Daily Merkle root</a:t>
            </a:r>
          </a:p>
        </p:txBody>
      </p:sp>
      <p:sp>
        <p:nvSpPr>
          <p:cNvPr id="55" name="TextBox 54"/>
          <p:cNvSpPr txBox="1"/>
          <p:nvPr/>
        </p:nvSpPr>
        <p:spPr>
          <a:xfrm>
            <a:off x="9189720" y="3959352"/>
            <a:ext cx="2179015" cy="320040"/>
          </a:xfrm>
          <a:prstGeom prst="rect">
            <a:avLst/>
          </a:prstGeom>
          <a:noFill/>
        </p:spPr>
        <p:txBody>
          <a:bodyPr wrap="square" lIns="45720" rIns="45720" tIns="18288" bIns="18288" anchor="t">
            <a:spAutoFit/>
          </a:bodyPr>
          <a:lstStyle/>
          <a:p>
            <a:pPr algn="l">
              <a:lnSpc>
                <a:spcPct val="115000"/>
              </a:lnSpc>
            </a:pPr>
            <a:r>
              <a:rPr sz="1200" b="0" i="0">
                <a:solidFill>
                  <a:srgbClr val="CBD5E1"/>
                </a:solidFill>
                <a:latin typeface="Consolas"/>
              </a:rPr>
              <a:t>5.  Solana memo anchor</a:t>
            </a:r>
          </a:p>
        </p:txBody>
      </p:sp>
      <p:sp>
        <p:nvSpPr>
          <p:cNvPr id="56" name="TextBox 55"/>
          <p:cNvSpPr txBox="1"/>
          <p:nvPr/>
        </p:nvSpPr>
        <p:spPr>
          <a:xfrm>
            <a:off x="9189720" y="4343400"/>
            <a:ext cx="2179015" cy="320040"/>
          </a:xfrm>
          <a:prstGeom prst="rect">
            <a:avLst/>
          </a:prstGeom>
          <a:noFill/>
        </p:spPr>
        <p:txBody>
          <a:bodyPr wrap="square" lIns="45720" rIns="45720" tIns="18288" bIns="18288" anchor="t">
            <a:spAutoFit/>
          </a:bodyPr>
          <a:lstStyle/>
          <a:p>
            <a:pPr algn="l">
              <a:lnSpc>
                <a:spcPct val="115000"/>
              </a:lnSpc>
            </a:pPr>
            <a:r>
              <a:rPr sz="1200" b="0" i="0">
                <a:solidFill>
                  <a:srgbClr val="CBD5E1"/>
                </a:solidFill>
                <a:latin typeface="Consolas"/>
              </a:rPr>
              <a:t>6.  Public verifier</a:t>
            </a:r>
          </a:p>
        </p:txBody>
      </p:sp>
      <p:sp>
        <p:nvSpPr>
          <p:cNvPr id="57" name="TextBox 56"/>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58" name="TextBox 57"/>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B2B ANGLE</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000" b="1" i="0">
                <a:solidFill>
                  <a:srgbClr val="FFFFFF"/>
                </a:solidFill>
                <a:latin typeface="Calibri"/>
              </a:rPr>
              <a:t>Regulated industries Cursor cannot enter.</a:t>
            </a:r>
          </a:p>
        </p:txBody>
      </p:sp>
      <p:sp>
        <p:nvSpPr>
          <p:cNvPr id="7" name="Rounded Rectangle 6"/>
          <p:cNvSpPr/>
          <p:nvPr/>
        </p:nvSpPr>
        <p:spPr>
          <a:xfrm>
            <a:off x="7955279" y="1737360"/>
            <a:ext cx="3749039" cy="4389120"/>
          </a:xfrm>
          <a:prstGeom prst="roundRect">
            <a:avLst>
              <a:gd name="adj" fmla="val 10000"/>
            </a:avLst>
          </a:prstGeom>
          <a:solidFill>
            <a:srgbClr val="0D111B"/>
          </a:solid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2103120"/>
            <a:ext cx="3749039" cy="457200"/>
          </a:xfrm>
          <a:prstGeom prst="rect">
            <a:avLst/>
          </a:prstGeom>
          <a:noFill/>
        </p:spPr>
        <p:txBody>
          <a:bodyPr wrap="square" lIns="45720" rIns="45720" tIns="18288" bIns="18288" anchor="t">
            <a:spAutoFit/>
          </a:bodyPr>
          <a:lstStyle/>
          <a:p>
            <a:pPr algn="ctr">
              <a:lnSpc>
                <a:spcPct val="115000"/>
              </a:lnSpc>
            </a:pPr>
            <a:r>
              <a:rPr sz="1100" b="1" i="0">
                <a:solidFill>
                  <a:srgbClr val="8B5CF6"/>
                </a:solidFill>
                <a:latin typeface="Consolas"/>
              </a:rPr>
              <a:t>COMPLIANCE POSTURE</a:t>
            </a:r>
          </a:p>
        </p:txBody>
      </p:sp>
      <p:sp>
        <p:nvSpPr>
          <p:cNvPr id="9" name="TextBox 8"/>
          <p:cNvSpPr txBox="1"/>
          <p:nvPr/>
        </p:nvSpPr>
        <p:spPr>
          <a:xfrm>
            <a:off x="7955279" y="2651760"/>
            <a:ext cx="3749039" cy="914400"/>
          </a:xfrm>
          <a:prstGeom prst="rect">
            <a:avLst/>
          </a:prstGeom>
          <a:noFill/>
        </p:spPr>
        <p:txBody>
          <a:bodyPr wrap="square" lIns="45720" rIns="45720" tIns="18288" bIns="18288" anchor="t">
            <a:spAutoFit/>
          </a:bodyPr>
          <a:lstStyle/>
          <a:p>
            <a:pPr algn="ctr">
              <a:lnSpc>
                <a:spcPct val="115000"/>
              </a:lnSpc>
            </a:pPr>
            <a:r>
              <a:rPr sz="8000" b="1" i="0">
                <a:solidFill>
                  <a:srgbClr val="FFFFFF"/>
                </a:solidFill>
                <a:latin typeface="Calibri"/>
              </a:rPr>
              <a:t>SOC2</a:t>
            </a:r>
          </a:p>
        </p:txBody>
      </p:sp>
      <p:sp>
        <p:nvSpPr>
          <p:cNvPr id="10" name="TextBox 9"/>
          <p:cNvSpPr txBox="1"/>
          <p:nvPr/>
        </p:nvSpPr>
        <p:spPr>
          <a:xfrm>
            <a:off x="7955279" y="3657600"/>
            <a:ext cx="3749039" cy="411480"/>
          </a:xfrm>
          <a:prstGeom prst="rect">
            <a:avLst/>
          </a:prstGeom>
          <a:noFill/>
        </p:spPr>
        <p:txBody>
          <a:bodyPr wrap="square" lIns="45720" rIns="45720" tIns="18288" bIns="18288" anchor="t">
            <a:spAutoFit/>
          </a:bodyPr>
          <a:lstStyle/>
          <a:p>
            <a:pPr algn="ctr">
              <a:lnSpc>
                <a:spcPct val="115000"/>
              </a:lnSpc>
            </a:pPr>
            <a:r>
              <a:rPr sz="2200" b="1" i="1">
                <a:solidFill>
                  <a:srgbClr val="06B6D4"/>
                </a:solidFill>
                <a:latin typeface="Calibri"/>
              </a:rPr>
              <a:t>Type II</a:t>
            </a:r>
          </a:p>
        </p:txBody>
      </p:sp>
      <p:sp>
        <p:nvSpPr>
          <p:cNvPr id="11" name="TextBox 10"/>
          <p:cNvSpPr txBox="1"/>
          <p:nvPr/>
        </p:nvSpPr>
        <p:spPr>
          <a:xfrm>
            <a:off x="7955279" y="4206240"/>
            <a:ext cx="3749039" cy="320040"/>
          </a:xfrm>
          <a:prstGeom prst="rect">
            <a:avLst/>
          </a:prstGeom>
          <a:noFill/>
        </p:spPr>
        <p:txBody>
          <a:bodyPr wrap="square" lIns="45720" rIns="45720" tIns="18288" bIns="18288" anchor="t">
            <a:spAutoFit/>
          </a:bodyPr>
          <a:lstStyle/>
          <a:p>
            <a:pPr algn="ctr">
              <a:lnSpc>
                <a:spcPct val="115000"/>
              </a:lnSpc>
            </a:pPr>
            <a:r>
              <a:rPr sz="1400" b="0" i="0">
                <a:solidFill>
                  <a:srgbClr val="CBD5E1"/>
                </a:solidFill>
                <a:latin typeface="Calibri"/>
              </a:rPr>
              <a:t>+  GDPR exporter</a:t>
            </a:r>
          </a:p>
        </p:txBody>
      </p:sp>
      <p:sp>
        <p:nvSpPr>
          <p:cNvPr id="12" name="TextBox 11"/>
          <p:cNvSpPr txBox="1"/>
          <p:nvPr/>
        </p:nvSpPr>
        <p:spPr>
          <a:xfrm>
            <a:off x="7955279" y="4572000"/>
            <a:ext cx="3749039" cy="320040"/>
          </a:xfrm>
          <a:prstGeom prst="rect">
            <a:avLst/>
          </a:prstGeom>
          <a:noFill/>
        </p:spPr>
        <p:txBody>
          <a:bodyPr wrap="square" lIns="45720" rIns="45720" tIns="18288" bIns="18288" anchor="t">
            <a:spAutoFit/>
          </a:bodyPr>
          <a:lstStyle/>
          <a:p>
            <a:pPr algn="ctr">
              <a:lnSpc>
                <a:spcPct val="115000"/>
              </a:lnSpc>
            </a:pPr>
            <a:r>
              <a:rPr sz="1400" b="0" i="0">
                <a:solidFill>
                  <a:srgbClr val="CBD5E1"/>
                </a:solidFill>
                <a:latin typeface="Calibri"/>
              </a:rPr>
              <a:t>+  BAA-ready posture</a:t>
            </a:r>
          </a:p>
        </p:txBody>
      </p:sp>
      <p:sp>
        <p:nvSpPr>
          <p:cNvPr id="13" name="TextBox 12"/>
          <p:cNvSpPr txBox="1"/>
          <p:nvPr/>
        </p:nvSpPr>
        <p:spPr>
          <a:xfrm>
            <a:off x="7955279" y="4937760"/>
            <a:ext cx="3749039" cy="320040"/>
          </a:xfrm>
          <a:prstGeom prst="rect">
            <a:avLst/>
          </a:prstGeom>
          <a:noFill/>
        </p:spPr>
        <p:txBody>
          <a:bodyPr wrap="square" lIns="45720" rIns="45720" tIns="18288" bIns="18288" anchor="t">
            <a:spAutoFit/>
          </a:bodyPr>
          <a:lstStyle/>
          <a:p>
            <a:pPr algn="ctr">
              <a:lnSpc>
                <a:spcPct val="115000"/>
              </a:lnSpc>
            </a:pPr>
            <a:r>
              <a:rPr sz="1400" b="0" i="0">
                <a:solidFill>
                  <a:srgbClr val="CBD5E1"/>
                </a:solidFill>
                <a:latin typeface="Calibri"/>
              </a:rPr>
              <a:t>+  audit log + receipts</a:t>
            </a:r>
          </a:p>
        </p:txBody>
      </p:sp>
      <p:sp>
        <p:nvSpPr>
          <p:cNvPr id="14" name="TextBox 13"/>
          <p:cNvSpPr txBox="1"/>
          <p:nvPr/>
        </p:nvSpPr>
        <p:spPr>
          <a:xfrm>
            <a:off x="7955279" y="5394960"/>
            <a:ext cx="3749039" cy="320040"/>
          </a:xfrm>
          <a:prstGeom prst="rect">
            <a:avLst/>
          </a:prstGeom>
          <a:noFill/>
        </p:spPr>
        <p:txBody>
          <a:bodyPr wrap="square" lIns="45720" rIns="45720" tIns="18288" bIns="18288" anchor="t">
            <a:spAutoFit/>
          </a:bodyPr>
          <a:lstStyle/>
          <a:p>
            <a:pPr algn="ctr">
              <a:lnSpc>
                <a:spcPct val="115000"/>
              </a:lnSpc>
            </a:pPr>
            <a:r>
              <a:rPr sz="1000" b="1" i="0">
                <a:solidFill>
                  <a:srgbClr val="64748B"/>
                </a:solidFill>
                <a:latin typeface="Consolas"/>
              </a:rPr>
              <a:t>W257  ·  shipped</a:t>
            </a:r>
          </a:p>
        </p:txBody>
      </p:sp>
      <p:sp>
        <p:nvSpPr>
          <p:cNvPr id="15" name="TextBox 14"/>
          <p:cNvSpPr txBox="1"/>
          <p:nvPr/>
        </p:nvSpPr>
        <p:spPr>
          <a:xfrm>
            <a:off x="548640" y="1691640"/>
            <a:ext cx="7315200" cy="365760"/>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TARGET BUYERS</a:t>
            </a:r>
          </a:p>
        </p:txBody>
      </p:sp>
      <p:sp>
        <p:nvSpPr>
          <p:cNvPr id="16" name="Rounded Rectangle 15"/>
          <p:cNvSpPr/>
          <p:nvPr/>
        </p:nvSpPr>
        <p:spPr>
          <a:xfrm>
            <a:off x="548640" y="2194560"/>
            <a:ext cx="7178040" cy="914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2487168"/>
            <a:ext cx="146304"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0120" y="2304288"/>
            <a:ext cx="6035040" cy="365760"/>
          </a:xfrm>
          <a:prstGeom prst="rect">
            <a:avLst/>
          </a:prstGeom>
          <a:noFill/>
        </p:spPr>
        <p:txBody>
          <a:bodyPr wrap="square" lIns="45720" rIns="45720" tIns="18288" bIns="18288" anchor="t">
            <a:spAutoFit/>
          </a:bodyPr>
          <a:lstStyle/>
          <a:p>
            <a:pPr algn="l">
              <a:lnSpc>
                <a:spcPct val="115000"/>
              </a:lnSpc>
            </a:pPr>
            <a:r>
              <a:rPr sz="1500" b="1" i="0">
                <a:solidFill>
                  <a:srgbClr val="FFFFFF"/>
                </a:solidFill>
                <a:latin typeface="Calibri"/>
              </a:rPr>
              <a:t>Hedge &amp; PE funds</a:t>
            </a:r>
          </a:p>
        </p:txBody>
      </p:sp>
      <p:sp>
        <p:nvSpPr>
          <p:cNvPr id="19" name="TextBox 18"/>
          <p:cNvSpPr txBox="1"/>
          <p:nvPr/>
        </p:nvSpPr>
        <p:spPr>
          <a:xfrm>
            <a:off x="960120" y="2606040"/>
            <a:ext cx="6126480" cy="50292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On-prem TARS for analyst desks. Algotrade pack + audit-grade receipts satisfy investor reporting and compliance teams.</a:t>
            </a:r>
          </a:p>
        </p:txBody>
      </p:sp>
      <p:sp>
        <p:nvSpPr>
          <p:cNvPr id="20" name="Rounded Rectangle 19"/>
          <p:cNvSpPr/>
          <p:nvPr/>
        </p:nvSpPr>
        <p:spPr>
          <a:xfrm>
            <a:off x="548640" y="3200400"/>
            <a:ext cx="7178040" cy="914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13232" y="3493008"/>
            <a:ext cx="146304" cy="329184"/>
          </a:xfrm>
          <a:prstGeom prst="rect">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310128"/>
            <a:ext cx="6035040" cy="365760"/>
          </a:xfrm>
          <a:prstGeom prst="rect">
            <a:avLst/>
          </a:prstGeom>
          <a:noFill/>
        </p:spPr>
        <p:txBody>
          <a:bodyPr wrap="square" lIns="45720" rIns="45720" tIns="18288" bIns="18288" anchor="t">
            <a:spAutoFit/>
          </a:bodyPr>
          <a:lstStyle/>
          <a:p>
            <a:pPr algn="l">
              <a:lnSpc>
                <a:spcPct val="115000"/>
              </a:lnSpc>
            </a:pPr>
            <a:r>
              <a:rPr sz="1500" b="1" i="0">
                <a:solidFill>
                  <a:srgbClr val="FFFFFF"/>
                </a:solidFill>
                <a:latin typeface="Calibri"/>
              </a:rPr>
              <a:t>Healthcare ops</a:t>
            </a:r>
          </a:p>
        </p:txBody>
      </p:sp>
      <p:sp>
        <p:nvSpPr>
          <p:cNvPr id="23" name="TextBox 22"/>
          <p:cNvSpPr txBox="1"/>
          <p:nvPr/>
        </p:nvSpPr>
        <p:spPr>
          <a:xfrm>
            <a:off x="960120" y="3611880"/>
            <a:ext cx="6126480" cy="50292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Local-first means PHI never leaves the box. BAA posture + GDPR exporter unlock provider IT review.</a:t>
            </a:r>
          </a:p>
        </p:txBody>
      </p:sp>
      <p:sp>
        <p:nvSpPr>
          <p:cNvPr id="24" name="Rounded Rectangle 23"/>
          <p:cNvSpPr/>
          <p:nvPr/>
        </p:nvSpPr>
        <p:spPr>
          <a:xfrm>
            <a:off x="548640" y="4206240"/>
            <a:ext cx="7178040" cy="914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13232" y="4498848"/>
            <a:ext cx="146304" cy="3291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315968"/>
            <a:ext cx="6035040" cy="365760"/>
          </a:xfrm>
          <a:prstGeom prst="rect">
            <a:avLst/>
          </a:prstGeom>
          <a:noFill/>
        </p:spPr>
        <p:txBody>
          <a:bodyPr wrap="square" lIns="45720" rIns="45720" tIns="18288" bIns="18288" anchor="t">
            <a:spAutoFit/>
          </a:bodyPr>
          <a:lstStyle/>
          <a:p>
            <a:pPr algn="l">
              <a:lnSpc>
                <a:spcPct val="115000"/>
              </a:lnSpc>
            </a:pPr>
            <a:r>
              <a:rPr sz="1500" b="1" i="0">
                <a:solidFill>
                  <a:srgbClr val="FFFFFF"/>
                </a:solidFill>
                <a:latin typeface="Calibri"/>
              </a:rPr>
              <a:t>Legal &amp; accounting</a:t>
            </a:r>
          </a:p>
        </p:txBody>
      </p:sp>
      <p:sp>
        <p:nvSpPr>
          <p:cNvPr id="27" name="TextBox 26"/>
          <p:cNvSpPr txBox="1"/>
          <p:nvPr/>
        </p:nvSpPr>
        <p:spPr>
          <a:xfrm>
            <a:off x="960120" y="4617720"/>
            <a:ext cx="6126480" cy="50292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Domain pack covers research, citation graph, receipt-anchored evidence trail. Bar-association friendly defaults.</a:t>
            </a:r>
          </a:p>
        </p:txBody>
      </p:sp>
      <p:sp>
        <p:nvSpPr>
          <p:cNvPr id="28" name="Rounded Rectangle 27"/>
          <p:cNvSpPr/>
          <p:nvPr/>
        </p:nvSpPr>
        <p:spPr>
          <a:xfrm>
            <a:off x="548640" y="5212080"/>
            <a:ext cx="7178040" cy="914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3232" y="5504688"/>
            <a:ext cx="146304" cy="329184"/>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21808"/>
            <a:ext cx="6035040" cy="365760"/>
          </a:xfrm>
          <a:prstGeom prst="rect">
            <a:avLst/>
          </a:prstGeom>
          <a:noFill/>
        </p:spPr>
        <p:txBody>
          <a:bodyPr wrap="square" lIns="45720" rIns="45720" tIns="18288" bIns="18288" anchor="t">
            <a:spAutoFit/>
          </a:bodyPr>
          <a:lstStyle/>
          <a:p>
            <a:pPr algn="l">
              <a:lnSpc>
                <a:spcPct val="115000"/>
              </a:lnSpc>
            </a:pPr>
            <a:r>
              <a:rPr sz="1500" b="1" i="0">
                <a:solidFill>
                  <a:srgbClr val="FFFFFF"/>
                </a:solidFill>
                <a:latin typeface="Calibri"/>
              </a:rPr>
              <a:t>Government &amp; civic tech</a:t>
            </a:r>
          </a:p>
        </p:txBody>
      </p:sp>
      <p:sp>
        <p:nvSpPr>
          <p:cNvPr id="31" name="TextBox 30"/>
          <p:cNvSpPr txBox="1"/>
          <p:nvPr/>
        </p:nvSpPr>
        <p:spPr>
          <a:xfrm>
            <a:off x="960120" y="5623560"/>
            <a:ext cx="6126480" cy="502920"/>
          </a:xfrm>
          <a:prstGeom prst="rect">
            <a:avLst/>
          </a:prstGeom>
          <a:noFill/>
        </p:spPr>
        <p:txBody>
          <a:bodyPr wrap="square" lIns="45720" rIns="45720" tIns="18288" bIns="18288" anchor="t">
            <a:spAutoFit/>
          </a:bodyPr>
          <a:lstStyle/>
          <a:p>
            <a:pPr algn="l">
              <a:lnSpc>
                <a:spcPct val="130000"/>
              </a:lnSpc>
            </a:pPr>
            <a:r>
              <a:rPr sz="1000" b="0" i="0">
                <a:solidFill>
                  <a:srgbClr val="CBD5E1"/>
                </a:solidFill>
                <a:latin typeface="Calibri"/>
              </a:rPr>
              <a:t>Civic pack free for all tiers. Local-first deployment, FedRAMP-style roadmap, public verifier as a transparency primitive.</a:t>
            </a:r>
          </a:p>
        </p:txBody>
      </p:sp>
      <p:sp>
        <p:nvSpPr>
          <p:cNvPr id="32" name="TextBox 31"/>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33" name="TextBox 32"/>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THE COCKPIT</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2800" b="1" i="0">
                <a:solidFill>
                  <a:srgbClr val="FFFFFF"/>
                </a:solidFill>
                <a:latin typeface="Calibri"/>
              </a:rPr>
              <a:t>Cinematic. Ambient. One shortcut away.</a:t>
            </a:r>
          </a:p>
        </p:txBody>
      </p:sp>
      <p:sp>
        <p:nvSpPr>
          <p:cNvPr id="7" name="Rounded Rectangle 6"/>
          <p:cNvSpPr/>
          <p:nvPr/>
        </p:nvSpPr>
        <p:spPr>
          <a:xfrm>
            <a:off x="548640" y="1783080"/>
            <a:ext cx="5532120" cy="22860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1920240"/>
            <a:ext cx="5257800" cy="1417320"/>
          </a:xfrm>
          <a:prstGeom prst="roundRect">
            <a:avLst>
              <a:gd name="adj" fmla="val 10000"/>
            </a:avLst>
          </a:prstGeom>
          <a:solidFill>
            <a:srgbClr val="07080D"/>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2103120"/>
            <a:ext cx="22860" cy="1828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3544" y="2103120"/>
            <a:ext cx="22860" cy="1828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78408" y="2103120"/>
            <a:ext cx="22860" cy="1828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920240"/>
            <a:ext cx="5257800" cy="1417320"/>
          </a:xfrm>
          <a:prstGeom prst="rect">
            <a:avLst/>
          </a:prstGeom>
          <a:noFill/>
        </p:spPr>
        <p:txBody>
          <a:bodyPr wrap="square" lIns="45720" rIns="45720" tIns="18288" bIns="18288" anchor="ctr">
            <a:spAutoFit/>
          </a:bodyPr>
          <a:lstStyle/>
          <a:p>
            <a:pPr algn="ctr">
              <a:lnSpc>
                <a:spcPct val="115000"/>
              </a:lnSpc>
            </a:pPr>
            <a:r>
              <a:rPr sz="1300" b="0" i="1">
                <a:solidFill>
                  <a:srgbClr val="64748B"/>
                </a:solidFill>
                <a:latin typeface="Consolas"/>
              </a:rPr>
              <a:t>[ screenshot placeholder ]</a:t>
            </a:r>
          </a:p>
        </p:txBody>
      </p:sp>
      <p:sp>
        <p:nvSpPr>
          <p:cNvPr id="13" name="TextBox 12"/>
          <p:cNvSpPr txBox="1"/>
          <p:nvPr/>
        </p:nvSpPr>
        <p:spPr>
          <a:xfrm>
            <a:off x="777240" y="3383280"/>
            <a:ext cx="5074920" cy="32004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Monolith — idle/listening</a:t>
            </a:r>
          </a:p>
        </p:txBody>
      </p:sp>
      <p:sp>
        <p:nvSpPr>
          <p:cNvPr id="14" name="TextBox 13"/>
          <p:cNvSpPr txBox="1"/>
          <p:nvPr/>
        </p:nvSpPr>
        <p:spPr>
          <a:xfrm>
            <a:off x="777240" y="3703320"/>
            <a:ext cx="5074920" cy="274320"/>
          </a:xfrm>
          <a:prstGeom prst="rect">
            <a:avLst/>
          </a:prstGeom>
          <a:noFill/>
        </p:spPr>
        <p:txBody>
          <a:bodyPr wrap="square" lIns="45720" rIns="45720" tIns="18288" bIns="18288" anchor="t">
            <a:spAutoFit/>
          </a:bodyPr>
          <a:lstStyle/>
          <a:p>
            <a:pPr algn="l">
              <a:lnSpc>
                <a:spcPct val="115000"/>
              </a:lnSpc>
            </a:pPr>
            <a:r>
              <a:rPr sz="1000" b="0" i="1">
                <a:solidFill>
                  <a:srgbClr val="06B6D4"/>
                </a:solidFill>
                <a:latin typeface="Consolas"/>
              </a:rPr>
              <a:t>Cyan-violet light strip · breathing · 200ms response</a:t>
            </a:r>
          </a:p>
        </p:txBody>
      </p:sp>
      <p:sp>
        <p:nvSpPr>
          <p:cNvPr id="15" name="Rounded Rectangle 14"/>
          <p:cNvSpPr/>
          <p:nvPr/>
        </p:nvSpPr>
        <p:spPr>
          <a:xfrm>
            <a:off x="6245352" y="1783080"/>
            <a:ext cx="5532120" cy="22860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1920240"/>
            <a:ext cx="5257800" cy="1417320"/>
          </a:xfrm>
          <a:prstGeom prst="roundRect">
            <a:avLst>
              <a:gd name="adj" fmla="val 10000"/>
            </a:avLst>
          </a:prstGeom>
          <a:solidFill>
            <a:srgbClr val="07080D"/>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5392" y="2103120"/>
            <a:ext cx="22860" cy="182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620256" y="2103120"/>
            <a:ext cx="22860" cy="182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75120" y="2103120"/>
            <a:ext cx="22860" cy="182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1920240"/>
            <a:ext cx="5257800" cy="1417320"/>
          </a:xfrm>
          <a:prstGeom prst="rect">
            <a:avLst/>
          </a:prstGeom>
          <a:noFill/>
        </p:spPr>
        <p:txBody>
          <a:bodyPr wrap="square" lIns="45720" rIns="45720" tIns="18288" bIns="18288" anchor="ctr">
            <a:spAutoFit/>
          </a:bodyPr>
          <a:lstStyle/>
          <a:p>
            <a:pPr algn="ctr">
              <a:lnSpc>
                <a:spcPct val="115000"/>
              </a:lnSpc>
            </a:pPr>
            <a:r>
              <a:rPr sz="1300" b="0" i="1">
                <a:solidFill>
                  <a:srgbClr val="64748B"/>
                </a:solidFill>
                <a:latin typeface="Consolas"/>
              </a:rPr>
              <a:t>[ screenshot placeholder ]</a:t>
            </a:r>
          </a:p>
        </p:txBody>
      </p:sp>
      <p:sp>
        <p:nvSpPr>
          <p:cNvPr id="21" name="TextBox 20"/>
          <p:cNvSpPr txBox="1"/>
          <p:nvPr/>
        </p:nvSpPr>
        <p:spPr>
          <a:xfrm>
            <a:off x="6473952" y="3383280"/>
            <a:ext cx="5074920" cy="32004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Audit Explorer</a:t>
            </a:r>
          </a:p>
        </p:txBody>
      </p:sp>
      <p:sp>
        <p:nvSpPr>
          <p:cNvPr id="22" name="TextBox 21"/>
          <p:cNvSpPr txBox="1"/>
          <p:nvPr/>
        </p:nvSpPr>
        <p:spPr>
          <a:xfrm>
            <a:off x="6473952" y="3703320"/>
            <a:ext cx="5074920" cy="274320"/>
          </a:xfrm>
          <a:prstGeom prst="rect">
            <a:avLst/>
          </a:prstGeom>
          <a:noFill/>
        </p:spPr>
        <p:txBody>
          <a:bodyPr wrap="square" lIns="45720" rIns="45720" tIns="18288" bIns="18288" anchor="t">
            <a:spAutoFit/>
          </a:bodyPr>
          <a:lstStyle/>
          <a:p>
            <a:pPr algn="l">
              <a:lnSpc>
                <a:spcPct val="115000"/>
              </a:lnSpc>
            </a:pPr>
            <a:r>
              <a:rPr sz="1000" b="0" i="1">
                <a:solidFill>
                  <a:srgbClr val="F59E0B"/>
                </a:solidFill>
                <a:latin typeface="Consolas"/>
              </a:rPr>
              <a:t>Receipt #1284 · hash chain · Solana memo TX hash</a:t>
            </a:r>
          </a:p>
        </p:txBody>
      </p:sp>
      <p:sp>
        <p:nvSpPr>
          <p:cNvPr id="23" name="Rounded Rectangle 22"/>
          <p:cNvSpPr/>
          <p:nvPr/>
        </p:nvSpPr>
        <p:spPr>
          <a:xfrm>
            <a:off x="548640" y="4233672"/>
            <a:ext cx="5532120" cy="22860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5800" y="4370832"/>
            <a:ext cx="5257800" cy="1417320"/>
          </a:xfrm>
          <a:prstGeom prst="roundRect">
            <a:avLst>
              <a:gd name="adj" fmla="val 10000"/>
            </a:avLst>
          </a:prstGeom>
          <a:solidFill>
            <a:srgbClr val="07080D"/>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8680" y="4553712"/>
            <a:ext cx="22860" cy="1828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3544" y="4553712"/>
            <a:ext cx="22860" cy="1828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 y="4553712"/>
            <a:ext cx="22860" cy="18288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70832"/>
            <a:ext cx="5257800" cy="1417320"/>
          </a:xfrm>
          <a:prstGeom prst="rect">
            <a:avLst/>
          </a:prstGeom>
          <a:noFill/>
        </p:spPr>
        <p:txBody>
          <a:bodyPr wrap="square" lIns="45720" rIns="45720" tIns="18288" bIns="18288" anchor="ctr">
            <a:spAutoFit/>
          </a:bodyPr>
          <a:lstStyle/>
          <a:p>
            <a:pPr algn="ctr">
              <a:lnSpc>
                <a:spcPct val="115000"/>
              </a:lnSpc>
            </a:pPr>
            <a:r>
              <a:rPr sz="1300" b="0" i="1">
                <a:solidFill>
                  <a:srgbClr val="64748B"/>
                </a:solidFill>
                <a:latin typeface="Consolas"/>
              </a:rPr>
              <a:t>[ screenshot placeholder ]</a:t>
            </a:r>
          </a:p>
        </p:txBody>
      </p:sp>
      <p:sp>
        <p:nvSpPr>
          <p:cNvPr id="29" name="TextBox 28"/>
          <p:cNvSpPr txBox="1"/>
          <p:nvPr/>
        </p:nvSpPr>
        <p:spPr>
          <a:xfrm>
            <a:off x="777240" y="5833872"/>
            <a:ext cx="5074920" cy="32004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Composer panel — voice diff</a:t>
            </a:r>
          </a:p>
        </p:txBody>
      </p:sp>
      <p:sp>
        <p:nvSpPr>
          <p:cNvPr id="30" name="TextBox 29"/>
          <p:cNvSpPr txBox="1"/>
          <p:nvPr/>
        </p:nvSpPr>
        <p:spPr>
          <a:xfrm>
            <a:off x="777240" y="6153912"/>
            <a:ext cx="5074920" cy="274320"/>
          </a:xfrm>
          <a:prstGeom prst="rect">
            <a:avLst/>
          </a:prstGeom>
          <a:noFill/>
        </p:spPr>
        <p:txBody>
          <a:bodyPr wrap="square" lIns="45720" rIns="45720" tIns="18288" bIns="18288" anchor="t">
            <a:spAutoFit/>
          </a:bodyPr>
          <a:lstStyle/>
          <a:p>
            <a:pPr algn="l">
              <a:lnSpc>
                <a:spcPct val="115000"/>
              </a:lnSpc>
            </a:pPr>
            <a:r>
              <a:rPr sz="1000" b="0" i="1">
                <a:solidFill>
                  <a:srgbClr val="8B5CF6"/>
                </a:solidFill>
                <a:latin typeface="Consolas"/>
              </a:rPr>
              <a:t>Multi-file diff · domain-pack aware · approve hunks</a:t>
            </a:r>
          </a:p>
        </p:txBody>
      </p:sp>
      <p:sp>
        <p:nvSpPr>
          <p:cNvPr id="31" name="Rounded Rectangle 30"/>
          <p:cNvSpPr/>
          <p:nvPr/>
        </p:nvSpPr>
        <p:spPr>
          <a:xfrm>
            <a:off x="6245352" y="4233672"/>
            <a:ext cx="5532120" cy="22860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82512" y="4370832"/>
            <a:ext cx="5257800" cy="1417320"/>
          </a:xfrm>
          <a:prstGeom prst="roundRect">
            <a:avLst>
              <a:gd name="adj" fmla="val 10000"/>
            </a:avLst>
          </a:prstGeom>
          <a:solidFill>
            <a:srgbClr val="07080D"/>
          </a:solidFill>
          <a:ln w="12700">
            <a:solidFill>
              <a:srgbClr val="84C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65392" y="4553712"/>
            <a:ext cx="22860" cy="182880"/>
          </a:xfrm>
          <a:prstGeom prst="rect">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20256" y="4553712"/>
            <a:ext cx="22860" cy="182880"/>
          </a:xfrm>
          <a:prstGeom prst="rect">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75120" y="4553712"/>
            <a:ext cx="22860" cy="182880"/>
          </a:xfrm>
          <a:prstGeom prst="rect">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2512" y="4370832"/>
            <a:ext cx="5257800" cy="1417320"/>
          </a:xfrm>
          <a:prstGeom prst="rect">
            <a:avLst/>
          </a:prstGeom>
          <a:noFill/>
        </p:spPr>
        <p:txBody>
          <a:bodyPr wrap="square" lIns="45720" rIns="45720" tIns="18288" bIns="18288" anchor="ctr">
            <a:spAutoFit/>
          </a:bodyPr>
          <a:lstStyle/>
          <a:p>
            <a:pPr algn="ctr">
              <a:lnSpc>
                <a:spcPct val="115000"/>
              </a:lnSpc>
            </a:pPr>
            <a:r>
              <a:rPr sz="1300" b="0" i="1">
                <a:solidFill>
                  <a:srgbClr val="64748B"/>
                </a:solidFill>
                <a:latin typeface="Consolas"/>
              </a:rPr>
              <a:t>[ screenshot placeholder ]</a:t>
            </a:r>
          </a:p>
        </p:txBody>
      </p:sp>
      <p:sp>
        <p:nvSpPr>
          <p:cNvPr id="37" name="TextBox 36"/>
          <p:cNvSpPr txBox="1"/>
          <p:nvPr/>
        </p:nvSpPr>
        <p:spPr>
          <a:xfrm>
            <a:off x="6473952" y="5833872"/>
            <a:ext cx="5074920" cy="32004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USAGE tab</a:t>
            </a:r>
          </a:p>
        </p:txBody>
      </p:sp>
      <p:sp>
        <p:nvSpPr>
          <p:cNvPr id="38" name="TextBox 37"/>
          <p:cNvSpPr txBox="1"/>
          <p:nvPr/>
        </p:nvSpPr>
        <p:spPr>
          <a:xfrm>
            <a:off x="6473952" y="6153912"/>
            <a:ext cx="5074920" cy="274320"/>
          </a:xfrm>
          <a:prstGeom prst="rect">
            <a:avLst/>
          </a:prstGeom>
          <a:noFill/>
        </p:spPr>
        <p:txBody>
          <a:bodyPr wrap="square" lIns="45720" rIns="45720" tIns="18288" bIns="18288" anchor="t">
            <a:spAutoFit/>
          </a:bodyPr>
          <a:lstStyle/>
          <a:p>
            <a:pPr algn="l">
              <a:lnSpc>
                <a:spcPct val="115000"/>
              </a:lnSpc>
            </a:pPr>
            <a:r>
              <a:rPr sz="1000" b="0" i="1">
                <a:solidFill>
                  <a:srgbClr val="84CC16"/>
                </a:solidFill>
                <a:latin typeface="Consolas"/>
              </a:rPr>
              <a:t>Live token meter · soft cap warning · $MEEET balance</a:t>
            </a:r>
          </a:p>
        </p:txBody>
      </p:sp>
      <p:sp>
        <p:nvSpPr>
          <p:cNvPr id="39" name="TextBox 38"/>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40" name="TextBox 39"/>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CODE TRANSPARENCY</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200" b="1" i="0">
                <a:solidFill>
                  <a:srgbClr val="FFFFFF"/>
                </a:solidFill>
                <a:latin typeface="Calibri"/>
              </a:rPr>
              <a:t>Open development. Main branch only.</a:t>
            </a:r>
          </a:p>
        </p:txBody>
      </p:sp>
      <p:sp>
        <p:nvSpPr>
          <p:cNvPr id="7" name="Rounded Rectangle 6"/>
          <p:cNvSpPr/>
          <p:nvPr/>
        </p:nvSpPr>
        <p:spPr>
          <a:xfrm>
            <a:off x="548640" y="1828800"/>
            <a:ext cx="2697480" cy="14173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38528"/>
            <a:ext cx="2514600" cy="878738"/>
          </a:xfrm>
          <a:prstGeom prst="rect">
            <a:avLst/>
          </a:prstGeom>
          <a:noFill/>
        </p:spPr>
        <p:txBody>
          <a:bodyPr wrap="square" lIns="45720" rIns="45720" tIns="18288" bIns="18288" anchor="ctr">
            <a:spAutoFit/>
          </a:bodyPr>
          <a:lstStyle/>
          <a:p>
            <a:pPr algn="ctr">
              <a:lnSpc>
                <a:spcPct val="115000"/>
              </a:lnSpc>
            </a:pPr>
            <a:r>
              <a:rPr sz="4600" b="1" i="0">
                <a:solidFill>
                  <a:srgbClr val="06B6D4"/>
                </a:solidFill>
                <a:latin typeface="Calibri"/>
              </a:rPr>
              <a:t>53</a:t>
            </a:r>
          </a:p>
        </p:txBody>
      </p:sp>
      <p:sp>
        <p:nvSpPr>
          <p:cNvPr id="9" name="TextBox 8"/>
          <p:cNvSpPr txBox="1"/>
          <p:nvPr/>
        </p:nvSpPr>
        <p:spPr>
          <a:xfrm>
            <a:off x="640080" y="2753258"/>
            <a:ext cx="2514600" cy="447141"/>
          </a:xfrm>
          <a:prstGeom prst="rect">
            <a:avLst/>
          </a:prstGeom>
          <a:noFill/>
        </p:spPr>
        <p:txBody>
          <a:bodyPr wrap="square" lIns="45720" rIns="45720" tIns="18288" bIns="18288" anchor="t">
            <a:spAutoFit/>
          </a:bodyPr>
          <a:lstStyle/>
          <a:p>
            <a:pPr algn="ctr">
              <a:lnSpc>
                <a:spcPct val="115000"/>
              </a:lnSpc>
            </a:pPr>
            <a:r>
              <a:rPr sz="900" b="1" i="0">
                <a:solidFill>
                  <a:srgbClr val="94A3B8"/>
                </a:solidFill>
                <a:latin typeface="Consolas"/>
              </a:rPr>
              <a:t>COMMITS W203→W269</a:t>
            </a:r>
          </a:p>
        </p:txBody>
      </p:sp>
      <p:sp>
        <p:nvSpPr>
          <p:cNvPr id="10" name="Rounded Rectangle 9"/>
          <p:cNvSpPr/>
          <p:nvPr/>
        </p:nvSpPr>
        <p:spPr>
          <a:xfrm>
            <a:off x="3429000" y="1828800"/>
            <a:ext cx="2697480" cy="14173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938528"/>
            <a:ext cx="2514600" cy="878738"/>
          </a:xfrm>
          <a:prstGeom prst="rect">
            <a:avLst/>
          </a:prstGeom>
          <a:noFill/>
        </p:spPr>
        <p:txBody>
          <a:bodyPr wrap="square" lIns="45720" rIns="45720" tIns="18288" bIns="18288" anchor="ctr">
            <a:spAutoFit/>
          </a:bodyPr>
          <a:lstStyle/>
          <a:p>
            <a:pPr algn="ctr">
              <a:lnSpc>
                <a:spcPct val="115000"/>
              </a:lnSpc>
            </a:pPr>
            <a:r>
              <a:rPr sz="4600" b="1" i="0">
                <a:solidFill>
                  <a:srgbClr val="8B5CF6"/>
                </a:solidFill>
                <a:latin typeface="Calibri"/>
              </a:rPr>
              <a:t>~33k</a:t>
            </a:r>
          </a:p>
        </p:txBody>
      </p:sp>
      <p:sp>
        <p:nvSpPr>
          <p:cNvPr id="12" name="TextBox 11"/>
          <p:cNvSpPr txBox="1"/>
          <p:nvPr/>
        </p:nvSpPr>
        <p:spPr>
          <a:xfrm>
            <a:off x="3520440" y="2753258"/>
            <a:ext cx="2514600" cy="447141"/>
          </a:xfrm>
          <a:prstGeom prst="rect">
            <a:avLst/>
          </a:prstGeom>
          <a:noFill/>
        </p:spPr>
        <p:txBody>
          <a:bodyPr wrap="square" lIns="45720" rIns="45720" tIns="18288" bIns="18288" anchor="t">
            <a:spAutoFit/>
          </a:bodyPr>
          <a:lstStyle/>
          <a:p>
            <a:pPr algn="ctr">
              <a:lnSpc>
                <a:spcPct val="115000"/>
              </a:lnSpc>
            </a:pPr>
            <a:r>
              <a:rPr sz="900" b="1" i="0">
                <a:solidFill>
                  <a:srgbClr val="94A3B8"/>
                </a:solidFill>
                <a:latin typeface="Consolas"/>
              </a:rPr>
              <a:t>LINES OF CODE</a:t>
            </a:r>
          </a:p>
        </p:txBody>
      </p:sp>
      <p:sp>
        <p:nvSpPr>
          <p:cNvPr id="13" name="Rounded Rectangle 12"/>
          <p:cNvSpPr/>
          <p:nvPr/>
        </p:nvSpPr>
        <p:spPr>
          <a:xfrm>
            <a:off x="6309360" y="1828800"/>
            <a:ext cx="2697480" cy="14173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938528"/>
            <a:ext cx="2514600" cy="878738"/>
          </a:xfrm>
          <a:prstGeom prst="rect">
            <a:avLst/>
          </a:prstGeom>
          <a:noFill/>
        </p:spPr>
        <p:txBody>
          <a:bodyPr wrap="square" lIns="45720" rIns="45720" tIns="18288" bIns="18288" anchor="ctr">
            <a:spAutoFit/>
          </a:bodyPr>
          <a:lstStyle/>
          <a:p>
            <a:pPr algn="ctr">
              <a:lnSpc>
                <a:spcPct val="115000"/>
              </a:lnSpc>
            </a:pPr>
            <a:r>
              <a:rPr sz="4600" b="1" i="0">
                <a:solidFill>
                  <a:srgbClr val="6366F1"/>
                </a:solidFill>
                <a:latin typeface="Calibri"/>
              </a:rPr>
              <a:t>50</a:t>
            </a:r>
          </a:p>
        </p:txBody>
      </p:sp>
      <p:sp>
        <p:nvSpPr>
          <p:cNvPr id="15" name="TextBox 14"/>
          <p:cNvSpPr txBox="1"/>
          <p:nvPr/>
        </p:nvSpPr>
        <p:spPr>
          <a:xfrm>
            <a:off x="6400800" y="2753258"/>
            <a:ext cx="2514600" cy="447141"/>
          </a:xfrm>
          <a:prstGeom prst="rect">
            <a:avLst/>
          </a:prstGeom>
          <a:noFill/>
        </p:spPr>
        <p:txBody>
          <a:bodyPr wrap="square" lIns="45720" rIns="45720" tIns="18288" bIns="18288" anchor="t">
            <a:spAutoFit/>
          </a:bodyPr>
          <a:lstStyle/>
          <a:p>
            <a:pPr algn="ctr">
              <a:lnSpc>
                <a:spcPct val="115000"/>
              </a:lnSpc>
            </a:pPr>
            <a:r>
              <a:rPr sz="900" b="1" i="0">
                <a:solidFill>
                  <a:srgbClr val="94A3B8"/>
                </a:solidFill>
                <a:latin typeface="Consolas"/>
              </a:rPr>
              <a:t>FASTAPI ROUTERS</a:t>
            </a:r>
          </a:p>
        </p:txBody>
      </p:sp>
      <p:sp>
        <p:nvSpPr>
          <p:cNvPr id="16" name="Rounded Rectangle 15"/>
          <p:cNvSpPr/>
          <p:nvPr/>
        </p:nvSpPr>
        <p:spPr>
          <a:xfrm>
            <a:off x="9189720" y="1828800"/>
            <a:ext cx="2697480" cy="141732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60" y="1938528"/>
            <a:ext cx="2514600" cy="878738"/>
          </a:xfrm>
          <a:prstGeom prst="rect">
            <a:avLst/>
          </a:prstGeom>
          <a:noFill/>
        </p:spPr>
        <p:txBody>
          <a:bodyPr wrap="square" lIns="45720" rIns="45720" tIns="18288" bIns="18288" anchor="ctr">
            <a:spAutoFit/>
          </a:bodyPr>
          <a:lstStyle/>
          <a:p>
            <a:pPr algn="ctr">
              <a:lnSpc>
                <a:spcPct val="115000"/>
              </a:lnSpc>
            </a:pPr>
            <a:r>
              <a:rPr sz="4600" b="1" i="0">
                <a:solidFill>
                  <a:srgbClr val="84CC16"/>
                </a:solidFill>
                <a:latin typeface="Calibri"/>
              </a:rPr>
              <a:t>100%</a:t>
            </a:r>
          </a:p>
        </p:txBody>
      </p:sp>
      <p:sp>
        <p:nvSpPr>
          <p:cNvPr id="18" name="TextBox 17"/>
          <p:cNvSpPr txBox="1"/>
          <p:nvPr/>
        </p:nvSpPr>
        <p:spPr>
          <a:xfrm>
            <a:off x="9281160" y="2753258"/>
            <a:ext cx="2514600" cy="447141"/>
          </a:xfrm>
          <a:prstGeom prst="rect">
            <a:avLst/>
          </a:prstGeom>
          <a:noFill/>
        </p:spPr>
        <p:txBody>
          <a:bodyPr wrap="square" lIns="45720" rIns="45720" tIns="18288" bIns="18288" anchor="t">
            <a:spAutoFit/>
          </a:bodyPr>
          <a:lstStyle/>
          <a:p>
            <a:pPr algn="ctr">
              <a:lnSpc>
                <a:spcPct val="115000"/>
              </a:lnSpc>
            </a:pPr>
            <a:r>
              <a:rPr sz="900" b="1" i="0">
                <a:solidFill>
                  <a:srgbClr val="94A3B8"/>
                </a:solidFill>
                <a:latin typeface="Consolas"/>
              </a:rPr>
              <a:t>MAIN BRANCH</a:t>
            </a:r>
          </a:p>
        </p:txBody>
      </p:sp>
      <p:sp>
        <p:nvSpPr>
          <p:cNvPr id="19" name="Rounded Rectangle 18"/>
          <p:cNvSpPr/>
          <p:nvPr/>
        </p:nvSpPr>
        <p:spPr>
          <a:xfrm>
            <a:off x="548640" y="3657600"/>
            <a:ext cx="11155680" cy="201168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886200"/>
            <a:ext cx="10424160" cy="411480"/>
          </a:xfrm>
          <a:prstGeom prst="rect">
            <a:avLst/>
          </a:prstGeom>
          <a:noFill/>
        </p:spPr>
        <p:txBody>
          <a:bodyPr wrap="square" lIns="45720" rIns="45720" tIns="18288" bIns="18288" anchor="t">
            <a:spAutoFit/>
          </a:bodyPr>
          <a:lstStyle/>
          <a:p>
            <a:pPr algn="l">
              <a:lnSpc>
                <a:spcPct val="115000"/>
              </a:lnSpc>
            </a:pPr>
            <a:r>
              <a:rPr sz="1200" b="1" i="0">
                <a:solidFill>
                  <a:srgbClr val="F59E0B"/>
                </a:solidFill>
                <a:latin typeface="Consolas"/>
              </a:rPr>
              <a:t>EVERY ACTION</a:t>
            </a:r>
          </a:p>
        </p:txBody>
      </p:sp>
      <p:sp>
        <p:nvSpPr>
          <p:cNvPr id="21" name="TextBox 20"/>
          <p:cNvSpPr txBox="1"/>
          <p:nvPr/>
        </p:nvSpPr>
        <p:spPr>
          <a:xfrm>
            <a:off x="914400" y="4251960"/>
            <a:ext cx="10424160" cy="548640"/>
          </a:xfrm>
          <a:prstGeom prst="rect">
            <a:avLst/>
          </a:prstGeom>
          <a:noFill/>
        </p:spPr>
        <p:txBody>
          <a:bodyPr wrap="square" lIns="45720" rIns="45720" tIns="18288" bIns="18288" anchor="t">
            <a:spAutoFit/>
          </a:bodyPr>
          <a:lstStyle/>
          <a:p>
            <a:pPr algn="l">
              <a:lnSpc>
                <a:spcPct val="115000"/>
              </a:lnSpc>
            </a:pPr>
            <a:r>
              <a:rPr sz="2200" b="1" i="1">
                <a:solidFill>
                  <a:srgbClr val="FFFFFF"/>
                </a:solidFill>
                <a:latin typeface="Calibri"/>
              </a:rPr>
              <a:t>emits a hash-chained receipt. Anchored on Solana daily.</a:t>
            </a:r>
          </a:p>
        </p:txBody>
      </p:sp>
      <p:sp>
        <p:nvSpPr>
          <p:cNvPr id="22" name="TextBox 21"/>
          <p:cNvSpPr txBox="1"/>
          <p:nvPr/>
        </p:nvSpPr>
        <p:spPr>
          <a:xfrm>
            <a:off x="914400" y="4892040"/>
            <a:ext cx="10424160" cy="777240"/>
          </a:xfrm>
          <a:prstGeom prst="rect">
            <a:avLst/>
          </a:prstGeom>
          <a:noFill/>
        </p:spPr>
        <p:txBody>
          <a:bodyPr wrap="square" lIns="45720" rIns="45720" tIns="18288" bIns="18288" anchor="t">
            <a:spAutoFit/>
          </a:bodyPr>
          <a:lstStyle/>
          <a:p>
            <a:pPr algn="l">
              <a:lnSpc>
                <a:spcPct val="140000"/>
              </a:lnSpc>
            </a:pPr>
            <a:r>
              <a:rPr sz="1300" b="0" i="0">
                <a:solidFill>
                  <a:srgbClr val="CBD5E1"/>
                </a:solidFill>
                <a:latin typeface="Calibri"/>
              </a:rPr>
              <a:t>github.com/alienram/jarvis · MIT-licensed backend · open development · audit trail in main branch · every receipt verifiable by a stranger with no auth.</a:t>
            </a:r>
          </a:p>
        </p:txBody>
      </p:sp>
      <p:sp>
        <p:nvSpPr>
          <p:cNvPr id="23" name="TextBox 22"/>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4" name="TextBox 23"/>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ROADMAP</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000" b="1" i="0">
                <a:solidFill>
                  <a:srgbClr val="FFFFFF"/>
                </a:solidFill>
                <a:latin typeface="Calibri"/>
              </a:rPr>
              <a:t>v10.1 → v11.0  ·  Always-on substrate.</a:t>
            </a:r>
          </a:p>
        </p:txBody>
      </p:sp>
      <p:sp>
        <p:nvSpPr>
          <p:cNvPr id="7" name="Rectangle 6"/>
          <p:cNvSpPr/>
          <p:nvPr/>
        </p:nvSpPr>
        <p:spPr>
          <a:xfrm>
            <a:off x="1280160" y="3657600"/>
            <a:ext cx="9601200" cy="36576"/>
          </a:xfrm>
          <a:prstGeom prst="rect">
            <a:avLst/>
          </a:prstGeom>
          <a:solidFill>
            <a:srgbClr val="1F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197864" y="3593592"/>
            <a:ext cx="164592" cy="164592"/>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0060" y="1691640"/>
            <a:ext cx="1600200" cy="1874519"/>
          </a:xfrm>
          <a:prstGeom prst="roundRect">
            <a:avLst>
              <a:gd name="adj" fmla="val 10000"/>
            </a:avLst>
          </a:prstGeom>
          <a:solidFill>
            <a:srgbClr val="0D111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 y="1828800"/>
            <a:ext cx="1325880" cy="36576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v10.0</a:t>
            </a:r>
          </a:p>
        </p:txBody>
      </p:sp>
      <p:sp>
        <p:nvSpPr>
          <p:cNvPr id="11" name="TextBox 10"/>
          <p:cNvSpPr txBox="1"/>
          <p:nvPr/>
        </p:nvSpPr>
        <p:spPr>
          <a:xfrm>
            <a:off x="617220" y="2194560"/>
            <a:ext cx="1325880" cy="274320"/>
          </a:xfrm>
          <a:prstGeom prst="rect">
            <a:avLst/>
          </a:prstGeom>
          <a:noFill/>
        </p:spPr>
        <p:txBody>
          <a:bodyPr wrap="square" lIns="45720" rIns="45720" tIns="18288" bIns="18288" anchor="t">
            <a:spAutoFit/>
          </a:bodyPr>
          <a:lstStyle/>
          <a:p>
            <a:pPr algn="l">
              <a:lnSpc>
                <a:spcPct val="115000"/>
              </a:lnSpc>
            </a:pPr>
            <a:r>
              <a:rPr sz="1000" b="1" i="0">
                <a:solidFill>
                  <a:srgbClr val="06B6D4"/>
                </a:solidFill>
                <a:latin typeface="Consolas"/>
              </a:rPr>
              <a:t>Q2-26</a:t>
            </a:r>
          </a:p>
        </p:txBody>
      </p:sp>
      <p:sp>
        <p:nvSpPr>
          <p:cNvPr id="12" name="TextBox 11"/>
          <p:cNvSpPr txBox="1"/>
          <p:nvPr/>
        </p:nvSpPr>
        <p:spPr>
          <a:xfrm>
            <a:off x="617220" y="2468880"/>
            <a:ext cx="1325880" cy="365760"/>
          </a:xfrm>
          <a:prstGeom prst="rect">
            <a:avLst/>
          </a:prstGeom>
          <a:noFill/>
        </p:spPr>
        <p:txBody>
          <a:bodyPr wrap="square" lIns="45720" rIns="45720" tIns="18288" bIns="18288" anchor="t">
            <a:spAutoFit/>
          </a:bodyPr>
          <a:lstStyle/>
          <a:p>
            <a:pPr algn="l">
              <a:lnSpc>
                <a:spcPct val="115000"/>
              </a:lnSpc>
            </a:pPr>
            <a:r>
              <a:rPr sz="1200" b="1" i="1">
                <a:solidFill>
                  <a:srgbClr val="FFFFFF"/>
                </a:solidFill>
                <a:latin typeface="Calibri"/>
              </a:rPr>
              <a:t>GA</a:t>
            </a:r>
          </a:p>
        </p:txBody>
      </p:sp>
      <p:sp>
        <p:nvSpPr>
          <p:cNvPr id="13" name="TextBox 12"/>
          <p:cNvSpPr txBox="1"/>
          <p:nvPr/>
        </p:nvSpPr>
        <p:spPr>
          <a:xfrm>
            <a:off x="617220" y="2834640"/>
            <a:ext cx="1325880" cy="914400"/>
          </a:xfrm>
          <a:prstGeom prst="rect">
            <a:avLst/>
          </a:prstGeom>
          <a:noFill/>
        </p:spPr>
        <p:txBody>
          <a:bodyPr wrap="square" lIns="45720" rIns="45720" tIns="18288" bIns="18288" anchor="t">
            <a:spAutoFit/>
          </a:bodyPr>
          <a:lstStyle/>
          <a:p>
            <a:pPr algn="l">
              <a:lnSpc>
                <a:spcPct val="130000"/>
              </a:lnSpc>
            </a:pPr>
            <a:r>
              <a:rPr sz="900" b="0" i="0">
                <a:solidFill>
                  <a:srgbClr val="CBD5E1"/>
                </a:solidFill>
                <a:latin typeface="Calibri"/>
              </a:rPr>
              <a:t>Voice cockpit · receipts · 7 packs</a:t>
            </a:r>
          </a:p>
        </p:txBody>
      </p:sp>
      <p:sp>
        <p:nvSpPr>
          <p:cNvPr id="14" name="Rounded Rectangle 13"/>
          <p:cNvSpPr/>
          <p:nvPr/>
        </p:nvSpPr>
        <p:spPr>
          <a:xfrm>
            <a:off x="3118104" y="3593592"/>
            <a:ext cx="164592" cy="164592"/>
          </a:xfrm>
          <a:prstGeom prst="roundRect">
            <a:avLst>
              <a:gd name="adj" fmla="val 1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00300" y="3931920"/>
            <a:ext cx="1600200" cy="1874519"/>
          </a:xfrm>
          <a:prstGeom prst="roundRect">
            <a:avLst>
              <a:gd name="adj" fmla="val 10000"/>
            </a:avLst>
          </a:prstGeom>
          <a:solidFill>
            <a:srgbClr val="0D111B"/>
          </a:solidFill>
          <a:ln w="12700">
            <a:solidFill>
              <a:srgbClr val="6366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37460" y="4069080"/>
            <a:ext cx="1325880" cy="36576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v10.1</a:t>
            </a:r>
          </a:p>
        </p:txBody>
      </p:sp>
      <p:sp>
        <p:nvSpPr>
          <p:cNvPr id="17" name="TextBox 16"/>
          <p:cNvSpPr txBox="1"/>
          <p:nvPr/>
        </p:nvSpPr>
        <p:spPr>
          <a:xfrm>
            <a:off x="2537460" y="4434840"/>
            <a:ext cx="1325880" cy="274320"/>
          </a:xfrm>
          <a:prstGeom prst="rect">
            <a:avLst/>
          </a:prstGeom>
          <a:noFill/>
        </p:spPr>
        <p:txBody>
          <a:bodyPr wrap="square" lIns="45720" rIns="45720" tIns="18288" bIns="18288" anchor="t">
            <a:spAutoFit/>
          </a:bodyPr>
          <a:lstStyle/>
          <a:p>
            <a:pPr algn="l">
              <a:lnSpc>
                <a:spcPct val="115000"/>
              </a:lnSpc>
            </a:pPr>
            <a:r>
              <a:rPr sz="1000" b="1" i="0">
                <a:solidFill>
                  <a:srgbClr val="6366F1"/>
                </a:solidFill>
                <a:latin typeface="Consolas"/>
              </a:rPr>
              <a:t>Q3-26</a:t>
            </a:r>
          </a:p>
        </p:txBody>
      </p:sp>
      <p:sp>
        <p:nvSpPr>
          <p:cNvPr id="18" name="TextBox 17"/>
          <p:cNvSpPr txBox="1"/>
          <p:nvPr/>
        </p:nvSpPr>
        <p:spPr>
          <a:xfrm>
            <a:off x="2537460" y="4709160"/>
            <a:ext cx="1325880" cy="365760"/>
          </a:xfrm>
          <a:prstGeom prst="rect">
            <a:avLst/>
          </a:prstGeom>
          <a:noFill/>
        </p:spPr>
        <p:txBody>
          <a:bodyPr wrap="square" lIns="45720" rIns="45720" tIns="18288" bIns="18288" anchor="t">
            <a:spAutoFit/>
          </a:bodyPr>
          <a:lstStyle/>
          <a:p>
            <a:pPr algn="l">
              <a:lnSpc>
                <a:spcPct val="115000"/>
              </a:lnSpc>
            </a:pPr>
            <a:r>
              <a:rPr sz="1200" b="1" i="1">
                <a:solidFill>
                  <a:srgbClr val="FFFFFF"/>
                </a:solidFill>
                <a:latin typeface="Calibri"/>
              </a:rPr>
              <a:t>Polish</a:t>
            </a:r>
          </a:p>
        </p:txBody>
      </p:sp>
      <p:sp>
        <p:nvSpPr>
          <p:cNvPr id="19" name="TextBox 18"/>
          <p:cNvSpPr txBox="1"/>
          <p:nvPr/>
        </p:nvSpPr>
        <p:spPr>
          <a:xfrm>
            <a:off x="2537460" y="5074920"/>
            <a:ext cx="1325880" cy="914400"/>
          </a:xfrm>
          <a:prstGeom prst="rect">
            <a:avLst/>
          </a:prstGeom>
          <a:noFill/>
        </p:spPr>
        <p:txBody>
          <a:bodyPr wrap="square" lIns="45720" rIns="45720" tIns="18288" bIns="18288" anchor="t">
            <a:spAutoFit/>
          </a:bodyPr>
          <a:lstStyle/>
          <a:p>
            <a:pPr algn="l">
              <a:lnSpc>
                <a:spcPct val="130000"/>
              </a:lnSpc>
            </a:pPr>
            <a:r>
              <a:rPr sz="900" b="0" i="0">
                <a:solidFill>
                  <a:srgbClr val="CBD5E1"/>
                </a:solidFill>
                <a:latin typeface="Calibri"/>
              </a:rPr>
              <a:t>Mobile companion · perf · 5 langs</a:t>
            </a:r>
          </a:p>
        </p:txBody>
      </p:sp>
      <p:sp>
        <p:nvSpPr>
          <p:cNvPr id="20" name="Rounded Rectangle 19"/>
          <p:cNvSpPr/>
          <p:nvPr/>
        </p:nvSpPr>
        <p:spPr>
          <a:xfrm>
            <a:off x="5038344" y="3593592"/>
            <a:ext cx="164592" cy="164592"/>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20540" y="1691640"/>
            <a:ext cx="1600200" cy="1874519"/>
          </a:xfrm>
          <a:prstGeom prst="roundRect">
            <a:avLst>
              <a:gd name="adj" fmla="val 10000"/>
            </a:avLst>
          </a:prstGeom>
          <a:solidFill>
            <a:srgbClr val="0D111B"/>
          </a:solidFill>
          <a:ln w="127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57700" y="1828800"/>
            <a:ext cx="1325880" cy="36576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v10.2</a:t>
            </a:r>
          </a:p>
        </p:txBody>
      </p:sp>
      <p:sp>
        <p:nvSpPr>
          <p:cNvPr id="23" name="TextBox 22"/>
          <p:cNvSpPr txBox="1"/>
          <p:nvPr/>
        </p:nvSpPr>
        <p:spPr>
          <a:xfrm>
            <a:off x="4457700" y="2194560"/>
            <a:ext cx="1325880" cy="274320"/>
          </a:xfrm>
          <a:prstGeom prst="rect">
            <a:avLst/>
          </a:prstGeom>
          <a:noFill/>
        </p:spPr>
        <p:txBody>
          <a:bodyPr wrap="square" lIns="45720" rIns="45720" tIns="18288" bIns="18288" anchor="t">
            <a:spAutoFit/>
          </a:bodyPr>
          <a:lstStyle/>
          <a:p>
            <a:pPr algn="l">
              <a:lnSpc>
                <a:spcPct val="115000"/>
              </a:lnSpc>
            </a:pPr>
            <a:r>
              <a:rPr sz="1000" b="1" i="0">
                <a:solidFill>
                  <a:srgbClr val="8B5CF6"/>
                </a:solidFill>
                <a:latin typeface="Consolas"/>
              </a:rPr>
              <a:t>Q3-26</a:t>
            </a:r>
          </a:p>
        </p:txBody>
      </p:sp>
      <p:sp>
        <p:nvSpPr>
          <p:cNvPr id="24" name="TextBox 23"/>
          <p:cNvSpPr txBox="1"/>
          <p:nvPr/>
        </p:nvSpPr>
        <p:spPr>
          <a:xfrm>
            <a:off x="4457700" y="2468880"/>
            <a:ext cx="1325880" cy="365760"/>
          </a:xfrm>
          <a:prstGeom prst="rect">
            <a:avLst/>
          </a:prstGeom>
          <a:noFill/>
        </p:spPr>
        <p:txBody>
          <a:bodyPr wrap="square" lIns="45720" rIns="45720" tIns="18288" bIns="18288" anchor="t">
            <a:spAutoFit/>
          </a:bodyPr>
          <a:lstStyle/>
          <a:p>
            <a:pPr algn="l">
              <a:lnSpc>
                <a:spcPct val="115000"/>
              </a:lnSpc>
            </a:pPr>
            <a:r>
              <a:rPr sz="1200" b="1" i="1">
                <a:solidFill>
                  <a:srgbClr val="FFFFFF"/>
                </a:solidFill>
                <a:latin typeface="Calibri"/>
              </a:rPr>
              <a:t>Plugins</a:t>
            </a:r>
          </a:p>
        </p:txBody>
      </p:sp>
      <p:sp>
        <p:nvSpPr>
          <p:cNvPr id="25" name="TextBox 24"/>
          <p:cNvSpPr txBox="1"/>
          <p:nvPr/>
        </p:nvSpPr>
        <p:spPr>
          <a:xfrm>
            <a:off x="4457700" y="2834640"/>
            <a:ext cx="1325880" cy="914400"/>
          </a:xfrm>
          <a:prstGeom prst="rect">
            <a:avLst/>
          </a:prstGeom>
          <a:noFill/>
        </p:spPr>
        <p:txBody>
          <a:bodyPr wrap="square" lIns="45720" rIns="45720" tIns="18288" bIns="18288" anchor="t">
            <a:spAutoFit/>
          </a:bodyPr>
          <a:lstStyle/>
          <a:p>
            <a:pPr algn="l">
              <a:lnSpc>
                <a:spcPct val="130000"/>
              </a:lnSpc>
            </a:pPr>
            <a:r>
              <a:rPr sz="900" b="0" i="0">
                <a:solidFill>
                  <a:srgbClr val="CBD5E1"/>
                </a:solidFill>
                <a:latin typeface="Calibri"/>
              </a:rPr>
              <a:t>Marketplace v1 · 70/30 payouts</a:t>
            </a:r>
          </a:p>
        </p:txBody>
      </p:sp>
      <p:sp>
        <p:nvSpPr>
          <p:cNvPr id="26" name="Rounded Rectangle 25"/>
          <p:cNvSpPr/>
          <p:nvPr/>
        </p:nvSpPr>
        <p:spPr>
          <a:xfrm>
            <a:off x="6958584" y="3593592"/>
            <a:ext cx="164592" cy="164592"/>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40780" y="3931920"/>
            <a:ext cx="1600200" cy="1874519"/>
          </a:xfrm>
          <a:prstGeom prst="roundRect">
            <a:avLst>
              <a:gd name="adj" fmla="val 10000"/>
            </a:avLst>
          </a:prstGeom>
          <a:solidFill>
            <a:srgbClr val="0D111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4069080"/>
            <a:ext cx="1325880" cy="36576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v10.5</a:t>
            </a:r>
          </a:p>
        </p:txBody>
      </p:sp>
      <p:sp>
        <p:nvSpPr>
          <p:cNvPr id="29" name="TextBox 28"/>
          <p:cNvSpPr txBox="1"/>
          <p:nvPr/>
        </p:nvSpPr>
        <p:spPr>
          <a:xfrm>
            <a:off x="6377940" y="4434840"/>
            <a:ext cx="1325880" cy="274320"/>
          </a:xfrm>
          <a:prstGeom prst="rect">
            <a:avLst/>
          </a:prstGeom>
          <a:noFill/>
        </p:spPr>
        <p:txBody>
          <a:bodyPr wrap="square" lIns="45720" rIns="45720" tIns="18288" bIns="18288" anchor="t">
            <a:spAutoFit/>
          </a:bodyPr>
          <a:lstStyle/>
          <a:p>
            <a:pPr algn="l">
              <a:lnSpc>
                <a:spcPct val="115000"/>
              </a:lnSpc>
            </a:pPr>
            <a:r>
              <a:rPr sz="1000" b="1" i="0">
                <a:solidFill>
                  <a:srgbClr val="F59E0B"/>
                </a:solidFill>
                <a:latin typeface="Consolas"/>
              </a:rPr>
              <a:t>Q4-26</a:t>
            </a:r>
          </a:p>
        </p:txBody>
      </p:sp>
      <p:sp>
        <p:nvSpPr>
          <p:cNvPr id="30" name="TextBox 29"/>
          <p:cNvSpPr txBox="1"/>
          <p:nvPr/>
        </p:nvSpPr>
        <p:spPr>
          <a:xfrm>
            <a:off x="6377940" y="4709160"/>
            <a:ext cx="1325880" cy="365760"/>
          </a:xfrm>
          <a:prstGeom prst="rect">
            <a:avLst/>
          </a:prstGeom>
          <a:noFill/>
        </p:spPr>
        <p:txBody>
          <a:bodyPr wrap="square" lIns="45720" rIns="45720" tIns="18288" bIns="18288" anchor="t">
            <a:spAutoFit/>
          </a:bodyPr>
          <a:lstStyle/>
          <a:p>
            <a:pPr algn="l">
              <a:lnSpc>
                <a:spcPct val="115000"/>
              </a:lnSpc>
            </a:pPr>
            <a:r>
              <a:rPr sz="1200" b="1" i="1">
                <a:solidFill>
                  <a:srgbClr val="FFFFFF"/>
                </a:solidFill>
                <a:latin typeface="Calibri"/>
              </a:rPr>
              <a:t>Workshop</a:t>
            </a:r>
          </a:p>
        </p:txBody>
      </p:sp>
      <p:sp>
        <p:nvSpPr>
          <p:cNvPr id="31" name="TextBox 30"/>
          <p:cNvSpPr txBox="1"/>
          <p:nvPr/>
        </p:nvSpPr>
        <p:spPr>
          <a:xfrm>
            <a:off x="6377940" y="5074920"/>
            <a:ext cx="1325880" cy="914400"/>
          </a:xfrm>
          <a:prstGeom prst="rect">
            <a:avLst/>
          </a:prstGeom>
          <a:noFill/>
        </p:spPr>
        <p:txBody>
          <a:bodyPr wrap="square" lIns="45720" rIns="45720" tIns="18288" bIns="18288" anchor="t">
            <a:spAutoFit/>
          </a:bodyPr>
          <a:lstStyle/>
          <a:p>
            <a:pPr algn="l">
              <a:lnSpc>
                <a:spcPct val="130000"/>
              </a:lnSpc>
            </a:pPr>
            <a:r>
              <a:rPr sz="900" b="0" i="0">
                <a:solidFill>
                  <a:srgbClr val="CBD5E1"/>
                </a:solidFill>
                <a:latin typeface="Calibri"/>
              </a:rPr>
              <a:t>B2B cohort dashboard · on-prem GTM</a:t>
            </a:r>
          </a:p>
        </p:txBody>
      </p:sp>
      <p:sp>
        <p:nvSpPr>
          <p:cNvPr id="32" name="Rounded Rectangle 31"/>
          <p:cNvSpPr/>
          <p:nvPr/>
        </p:nvSpPr>
        <p:spPr>
          <a:xfrm>
            <a:off x="8878824" y="3593592"/>
            <a:ext cx="164592" cy="164592"/>
          </a:xfrm>
          <a:prstGeom prst="roundRect">
            <a:avLst>
              <a:gd name="adj" fmla="val 10000"/>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61020" y="1691640"/>
            <a:ext cx="1600200" cy="1874519"/>
          </a:xfrm>
          <a:prstGeom prst="roundRect">
            <a:avLst>
              <a:gd name="adj" fmla="val 10000"/>
            </a:avLst>
          </a:prstGeom>
          <a:solidFill>
            <a:srgbClr val="0D111B"/>
          </a:solidFill>
          <a:ln w="12700">
            <a:solidFill>
              <a:srgbClr val="84CC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98180" y="1828800"/>
            <a:ext cx="1325880" cy="36576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v10.8</a:t>
            </a:r>
          </a:p>
        </p:txBody>
      </p:sp>
      <p:sp>
        <p:nvSpPr>
          <p:cNvPr id="35" name="TextBox 34"/>
          <p:cNvSpPr txBox="1"/>
          <p:nvPr/>
        </p:nvSpPr>
        <p:spPr>
          <a:xfrm>
            <a:off x="8298180" y="2194560"/>
            <a:ext cx="1325880" cy="274320"/>
          </a:xfrm>
          <a:prstGeom prst="rect">
            <a:avLst/>
          </a:prstGeom>
          <a:noFill/>
        </p:spPr>
        <p:txBody>
          <a:bodyPr wrap="square" lIns="45720" rIns="45720" tIns="18288" bIns="18288" anchor="t">
            <a:spAutoFit/>
          </a:bodyPr>
          <a:lstStyle/>
          <a:p>
            <a:pPr algn="l">
              <a:lnSpc>
                <a:spcPct val="115000"/>
              </a:lnSpc>
            </a:pPr>
            <a:r>
              <a:rPr sz="1000" b="1" i="0">
                <a:solidFill>
                  <a:srgbClr val="84CC16"/>
                </a:solidFill>
                <a:latin typeface="Consolas"/>
              </a:rPr>
              <a:t>Q1-27</a:t>
            </a:r>
          </a:p>
        </p:txBody>
      </p:sp>
      <p:sp>
        <p:nvSpPr>
          <p:cNvPr id="36" name="TextBox 35"/>
          <p:cNvSpPr txBox="1"/>
          <p:nvPr/>
        </p:nvSpPr>
        <p:spPr>
          <a:xfrm>
            <a:off x="8298180" y="2468880"/>
            <a:ext cx="1325880" cy="365760"/>
          </a:xfrm>
          <a:prstGeom prst="rect">
            <a:avLst/>
          </a:prstGeom>
          <a:noFill/>
        </p:spPr>
        <p:txBody>
          <a:bodyPr wrap="square" lIns="45720" rIns="45720" tIns="18288" bIns="18288" anchor="t">
            <a:spAutoFit/>
          </a:bodyPr>
          <a:lstStyle/>
          <a:p>
            <a:pPr algn="l">
              <a:lnSpc>
                <a:spcPct val="115000"/>
              </a:lnSpc>
            </a:pPr>
            <a:r>
              <a:rPr sz="1200" b="1" i="1">
                <a:solidFill>
                  <a:srgbClr val="FFFFFF"/>
                </a:solidFill>
                <a:latin typeface="Calibri"/>
              </a:rPr>
              <a:t>Federation</a:t>
            </a:r>
          </a:p>
        </p:txBody>
      </p:sp>
      <p:sp>
        <p:nvSpPr>
          <p:cNvPr id="37" name="TextBox 36"/>
          <p:cNvSpPr txBox="1"/>
          <p:nvPr/>
        </p:nvSpPr>
        <p:spPr>
          <a:xfrm>
            <a:off x="8298180" y="2834640"/>
            <a:ext cx="1325880" cy="914400"/>
          </a:xfrm>
          <a:prstGeom prst="rect">
            <a:avLst/>
          </a:prstGeom>
          <a:noFill/>
        </p:spPr>
        <p:txBody>
          <a:bodyPr wrap="square" lIns="45720" rIns="45720" tIns="18288" bIns="18288" anchor="t">
            <a:spAutoFit/>
          </a:bodyPr>
          <a:lstStyle/>
          <a:p>
            <a:pPr algn="l">
              <a:lnSpc>
                <a:spcPct val="130000"/>
              </a:lnSpc>
            </a:pPr>
            <a:r>
              <a:rPr sz="900" b="0" i="0">
                <a:solidFill>
                  <a:srgbClr val="CBD5E1"/>
                </a:solidFill>
                <a:latin typeface="Calibri"/>
              </a:rPr>
              <a:t>T2T agent handshake · multi-tenant</a:t>
            </a:r>
          </a:p>
        </p:txBody>
      </p:sp>
      <p:sp>
        <p:nvSpPr>
          <p:cNvPr id="38" name="Rounded Rectangle 37"/>
          <p:cNvSpPr/>
          <p:nvPr/>
        </p:nvSpPr>
        <p:spPr>
          <a:xfrm>
            <a:off x="10799064" y="3593592"/>
            <a:ext cx="164592" cy="164592"/>
          </a:xfrm>
          <a:prstGeom prst="roundRect">
            <a:avLst>
              <a:gd name="adj" fmla="val 10000"/>
            </a:avLst>
          </a:prstGeom>
          <a:solidFill>
            <a:srgbClr val="F4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0081260" y="3931920"/>
            <a:ext cx="1600200" cy="1874519"/>
          </a:xfrm>
          <a:prstGeom prst="roundRect">
            <a:avLst>
              <a:gd name="adj" fmla="val 10000"/>
            </a:avLst>
          </a:prstGeom>
          <a:solidFill>
            <a:srgbClr val="0D111B"/>
          </a:solidFill>
          <a:ln w="12700">
            <a:solidFill>
              <a:srgbClr val="F43F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18420" y="4069080"/>
            <a:ext cx="1325880" cy="36576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v11.0</a:t>
            </a:r>
          </a:p>
        </p:txBody>
      </p:sp>
      <p:sp>
        <p:nvSpPr>
          <p:cNvPr id="41" name="TextBox 40"/>
          <p:cNvSpPr txBox="1"/>
          <p:nvPr/>
        </p:nvSpPr>
        <p:spPr>
          <a:xfrm>
            <a:off x="10218420" y="4434840"/>
            <a:ext cx="1325880" cy="274320"/>
          </a:xfrm>
          <a:prstGeom prst="rect">
            <a:avLst/>
          </a:prstGeom>
          <a:noFill/>
        </p:spPr>
        <p:txBody>
          <a:bodyPr wrap="square" lIns="45720" rIns="45720" tIns="18288" bIns="18288" anchor="t">
            <a:spAutoFit/>
          </a:bodyPr>
          <a:lstStyle/>
          <a:p>
            <a:pPr algn="l">
              <a:lnSpc>
                <a:spcPct val="115000"/>
              </a:lnSpc>
            </a:pPr>
            <a:r>
              <a:rPr sz="1000" b="1" i="0">
                <a:solidFill>
                  <a:srgbClr val="F43F5E"/>
                </a:solidFill>
                <a:latin typeface="Consolas"/>
              </a:rPr>
              <a:t>Q2-27</a:t>
            </a:r>
          </a:p>
        </p:txBody>
      </p:sp>
      <p:sp>
        <p:nvSpPr>
          <p:cNvPr id="42" name="TextBox 41"/>
          <p:cNvSpPr txBox="1"/>
          <p:nvPr/>
        </p:nvSpPr>
        <p:spPr>
          <a:xfrm>
            <a:off x="10218420" y="4709160"/>
            <a:ext cx="1325880" cy="365760"/>
          </a:xfrm>
          <a:prstGeom prst="rect">
            <a:avLst/>
          </a:prstGeom>
          <a:noFill/>
        </p:spPr>
        <p:txBody>
          <a:bodyPr wrap="square" lIns="45720" rIns="45720" tIns="18288" bIns="18288" anchor="t">
            <a:spAutoFit/>
          </a:bodyPr>
          <a:lstStyle/>
          <a:p>
            <a:pPr algn="l">
              <a:lnSpc>
                <a:spcPct val="115000"/>
              </a:lnSpc>
            </a:pPr>
            <a:r>
              <a:rPr sz="1200" b="1" i="1">
                <a:solidFill>
                  <a:srgbClr val="FFFFFF"/>
                </a:solidFill>
                <a:latin typeface="Calibri"/>
              </a:rPr>
              <a:t>Agentic OS</a:t>
            </a:r>
          </a:p>
        </p:txBody>
      </p:sp>
      <p:sp>
        <p:nvSpPr>
          <p:cNvPr id="43" name="TextBox 42"/>
          <p:cNvSpPr txBox="1"/>
          <p:nvPr/>
        </p:nvSpPr>
        <p:spPr>
          <a:xfrm>
            <a:off x="10218420" y="5074920"/>
            <a:ext cx="1325880" cy="914400"/>
          </a:xfrm>
          <a:prstGeom prst="rect">
            <a:avLst/>
          </a:prstGeom>
          <a:noFill/>
        </p:spPr>
        <p:txBody>
          <a:bodyPr wrap="square" lIns="45720" rIns="45720" tIns="18288" bIns="18288" anchor="t">
            <a:spAutoFit/>
          </a:bodyPr>
          <a:lstStyle/>
          <a:p>
            <a:pPr algn="l">
              <a:lnSpc>
                <a:spcPct val="130000"/>
              </a:lnSpc>
            </a:pPr>
            <a:r>
              <a:rPr sz="900" b="0" i="0">
                <a:solidFill>
                  <a:srgbClr val="CBD5E1"/>
                </a:solidFill>
                <a:latin typeface="Calibri"/>
              </a:rPr>
              <a:t>Always-on substrate · daemons · OS hooks</a:t>
            </a:r>
          </a:p>
        </p:txBody>
      </p:sp>
      <p:sp>
        <p:nvSpPr>
          <p:cNvPr id="44" name="TextBox 43"/>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45" name="TextBox 44"/>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BROTHER SYNC</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2800" b="1" i="0">
                <a:solidFill>
                  <a:srgbClr val="FFFFFF"/>
                </a:solidFill>
                <a:latin typeface="Calibri"/>
              </a:rPr>
              <a:t>meeet.world integration — 2 weeks to live billing.</a:t>
            </a:r>
          </a:p>
        </p:txBody>
      </p:sp>
      <p:sp>
        <p:nvSpPr>
          <p:cNvPr id="7" name="TextBox 6"/>
          <p:cNvSpPr txBox="1"/>
          <p:nvPr/>
        </p:nvSpPr>
        <p:spPr>
          <a:xfrm>
            <a:off x="548640" y="1783080"/>
            <a:ext cx="6400800" cy="365760"/>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ENDPOINTS BROTHER IS WIRING</a:t>
            </a:r>
          </a:p>
        </p:txBody>
      </p:sp>
      <p:sp>
        <p:nvSpPr>
          <p:cNvPr id="8" name="Rounded Rectangle 7"/>
          <p:cNvSpPr/>
          <p:nvPr/>
        </p:nvSpPr>
        <p:spPr>
          <a:xfrm>
            <a:off x="548640" y="21945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945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10" name="TextBox 9"/>
          <p:cNvSpPr txBox="1"/>
          <p:nvPr/>
        </p:nvSpPr>
        <p:spPr>
          <a:xfrm>
            <a:off x="1143000" y="21945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POST  /api/auth/meeet/exchange</a:t>
            </a:r>
          </a:p>
        </p:txBody>
      </p:sp>
      <p:sp>
        <p:nvSpPr>
          <p:cNvPr id="11" name="TextBox 10"/>
          <p:cNvSpPr txBox="1"/>
          <p:nvPr/>
        </p:nvSpPr>
        <p:spPr>
          <a:xfrm>
            <a:off x="5486400" y="21945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12" name="Rounded Rectangle 11"/>
          <p:cNvSpPr/>
          <p:nvPr/>
        </p:nvSpPr>
        <p:spPr>
          <a:xfrm>
            <a:off x="548640" y="26517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6517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14" name="TextBox 13"/>
          <p:cNvSpPr txBox="1"/>
          <p:nvPr/>
        </p:nvSpPr>
        <p:spPr>
          <a:xfrm>
            <a:off x="1143000" y="26517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POST  /api/billing/usage_event</a:t>
            </a:r>
          </a:p>
        </p:txBody>
      </p:sp>
      <p:sp>
        <p:nvSpPr>
          <p:cNvPr id="15" name="TextBox 14"/>
          <p:cNvSpPr txBox="1"/>
          <p:nvPr/>
        </p:nvSpPr>
        <p:spPr>
          <a:xfrm>
            <a:off x="5486400" y="26517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16" name="Rounded Rectangle 15"/>
          <p:cNvSpPr/>
          <p:nvPr/>
        </p:nvSpPr>
        <p:spPr>
          <a:xfrm>
            <a:off x="548640" y="31089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089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18" name="TextBox 17"/>
          <p:cNvSpPr txBox="1"/>
          <p:nvPr/>
        </p:nvSpPr>
        <p:spPr>
          <a:xfrm>
            <a:off x="1143000" y="31089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GET   /api/billing/balance</a:t>
            </a:r>
          </a:p>
        </p:txBody>
      </p:sp>
      <p:sp>
        <p:nvSpPr>
          <p:cNvPr id="19" name="TextBox 18"/>
          <p:cNvSpPr txBox="1"/>
          <p:nvPr/>
        </p:nvSpPr>
        <p:spPr>
          <a:xfrm>
            <a:off x="5486400" y="31089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20" name="Rounded Rectangle 19"/>
          <p:cNvSpPr/>
          <p:nvPr/>
        </p:nvSpPr>
        <p:spPr>
          <a:xfrm>
            <a:off x="548640" y="35661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5661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22" name="TextBox 21"/>
          <p:cNvSpPr txBox="1"/>
          <p:nvPr/>
        </p:nvSpPr>
        <p:spPr>
          <a:xfrm>
            <a:off x="1143000" y="35661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POST  /api/billing/charge</a:t>
            </a:r>
          </a:p>
        </p:txBody>
      </p:sp>
      <p:sp>
        <p:nvSpPr>
          <p:cNvPr id="23" name="TextBox 22"/>
          <p:cNvSpPr txBox="1"/>
          <p:nvPr/>
        </p:nvSpPr>
        <p:spPr>
          <a:xfrm>
            <a:off x="5486400" y="35661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24" name="Rounded Rectangle 23"/>
          <p:cNvSpPr/>
          <p:nvPr/>
        </p:nvSpPr>
        <p:spPr>
          <a:xfrm>
            <a:off x="548640" y="40233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40233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26" name="TextBox 25"/>
          <p:cNvSpPr txBox="1"/>
          <p:nvPr/>
        </p:nvSpPr>
        <p:spPr>
          <a:xfrm>
            <a:off x="1143000" y="40233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GET   /api/entitlements/check</a:t>
            </a:r>
          </a:p>
        </p:txBody>
      </p:sp>
      <p:sp>
        <p:nvSpPr>
          <p:cNvPr id="27" name="TextBox 26"/>
          <p:cNvSpPr txBox="1"/>
          <p:nvPr/>
        </p:nvSpPr>
        <p:spPr>
          <a:xfrm>
            <a:off x="5486400" y="40233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28" name="Rounded Rectangle 27"/>
          <p:cNvSpPr/>
          <p:nvPr/>
        </p:nvSpPr>
        <p:spPr>
          <a:xfrm>
            <a:off x="548640" y="44805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4805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30" name="TextBox 29"/>
          <p:cNvSpPr txBox="1"/>
          <p:nvPr/>
        </p:nvSpPr>
        <p:spPr>
          <a:xfrm>
            <a:off x="1143000" y="44805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POST  /api/marketplace/payout</a:t>
            </a:r>
          </a:p>
        </p:txBody>
      </p:sp>
      <p:sp>
        <p:nvSpPr>
          <p:cNvPr id="31" name="TextBox 30"/>
          <p:cNvSpPr txBox="1"/>
          <p:nvPr/>
        </p:nvSpPr>
        <p:spPr>
          <a:xfrm>
            <a:off x="5486400" y="44805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32" name="Rounded Rectangle 31"/>
          <p:cNvSpPr/>
          <p:nvPr/>
        </p:nvSpPr>
        <p:spPr>
          <a:xfrm>
            <a:off x="548640" y="49377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9377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34" name="TextBox 33"/>
          <p:cNvSpPr txBox="1"/>
          <p:nvPr/>
        </p:nvSpPr>
        <p:spPr>
          <a:xfrm>
            <a:off x="1143000" y="49377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POST  /api/identity/oauth/callback</a:t>
            </a:r>
          </a:p>
        </p:txBody>
      </p:sp>
      <p:sp>
        <p:nvSpPr>
          <p:cNvPr id="35" name="TextBox 34"/>
          <p:cNvSpPr txBox="1"/>
          <p:nvPr/>
        </p:nvSpPr>
        <p:spPr>
          <a:xfrm>
            <a:off x="5486400" y="49377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36" name="Rounded Rectangle 35"/>
          <p:cNvSpPr/>
          <p:nvPr/>
        </p:nvSpPr>
        <p:spPr>
          <a:xfrm>
            <a:off x="548640" y="5394960"/>
            <a:ext cx="6400800" cy="384048"/>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394960"/>
            <a:ext cx="411480" cy="384048"/>
          </a:xfrm>
          <a:prstGeom prst="rect">
            <a:avLst/>
          </a:prstGeom>
          <a:noFill/>
        </p:spPr>
        <p:txBody>
          <a:bodyPr wrap="square" lIns="45720" rIns="45720" tIns="18288" bIns="18288" anchor="ctr">
            <a:spAutoFit/>
          </a:bodyPr>
          <a:lstStyle/>
          <a:p>
            <a:pPr algn="l">
              <a:lnSpc>
                <a:spcPct val="115000"/>
              </a:lnSpc>
            </a:pPr>
            <a:r>
              <a:rPr sz="1200" b="1" i="0">
                <a:solidFill>
                  <a:srgbClr val="06B6D4"/>
                </a:solidFill>
                <a:latin typeface="Consolas"/>
              </a:rPr>
              <a:t>&gt;</a:t>
            </a:r>
          </a:p>
        </p:txBody>
      </p:sp>
      <p:sp>
        <p:nvSpPr>
          <p:cNvPr id="38" name="TextBox 37"/>
          <p:cNvSpPr txBox="1"/>
          <p:nvPr/>
        </p:nvSpPr>
        <p:spPr>
          <a:xfrm>
            <a:off x="1143000" y="5394960"/>
            <a:ext cx="5120640" cy="384048"/>
          </a:xfrm>
          <a:prstGeom prst="rect">
            <a:avLst/>
          </a:prstGeom>
          <a:noFill/>
        </p:spPr>
        <p:txBody>
          <a:bodyPr wrap="square" lIns="45720" rIns="45720" tIns="18288" bIns="18288" anchor="ctr">
            <a:spAutoFit/>
          </a:bodyPr>
          <a:lstStyle/>
          <a:p>
            <a:pPr algn="l">
              <a:lnSpc>
                <a:spcPct val="115000"/>
              </a:lnSpc>
            </a:pPr>
            <a:r>
              <a:rPr sz="1100" b="0" i="0">
                <a:solidFill>
                  <a:srgbClr val="CBD5E1"/>
                </a:solidFill>
                <a:latin typeface="Consolas"/>
              </a:rPr>
              <a:t>POST  /api/anchor/merkle_batch</a:t>
            </a:r>
          </a:p>
        </p:txBody>
      </p:sp>
      <p:sp>
        <p:nvSpPr>
          <p:cNvPr id="39" name="TextBox 38"/>
          <p:cNvSpPr txBox="1"/>
          <p:nvPr/>
        </p:nvSpPr>
        <p:spPr>
          <a:xfrm>
            <a:off x="5486400" y="5394960"/>
            <a:ext cx="822960" cy="384048"/>
          </a:xfrm>
          <a:prstGeom prst="rect">
            <a:avLst/>
          </a:prstGeom>
          <a:noFill/>
        </p:spPr>
        <p:txBody>
          <a:bodyPr wrap="square" lIns="45720" rIns="45720" tIns="18288" bIns="18288" anchor="ctr">
            <a:spAutoFit/>
          </a:bodyPr>
          <a:lstStyle/>
          <a:p>
            <a:pPr algn="r">
              <a:lnSpc>
                <a:spcPct val="115000"/>
              </a:lnSpc>
            </a:pPr>
            <a:r>
              <a:rPr sz="900" b="1" i="0">
                <a:solidFill>
                  <a:srgbClr val="84CC16"/>
                </a:solidFill>
                <a:latin typeface="Consolas"/>
              </a:rPr>
              <a:t>wired</a:t>
            </a:r>
          </a:p>
        </p:txBody>
      </p:sp>
      <p:sp>
        <p:nvSpPr>
          <p:cNvPr id="40" name="Rounded Rectangle 39"/>
          <p:cNvSpPr/>
          <p:nvPr/>
        </p:nvSpPr>
        <p:spPr>
          <a:xfrm>
            <a:off x="7406640" y="1783080"/>
            <a:ext cx="4297680" cy="1828800"/>
          </a:xfrm>
          <a:prstGeom prst="roundRect">
            <a:avLst>
              <a:gd name="adj" fmla="val 10000"/>
            </a:avLst>
          </a:prstGeom>
          <a:solidFill>
            <a:srgbClr val="0D111B"/>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406640" y="1920240"/>
            <a:ext cx="4297680" cy="365760"/>
          </a:xfrm>
          <a:prstGeom prst="rect">
            <a:avLst/>
          </a:prstGeom>
          <a:noFill/>
        </p:spPr>
        <p:txBody>
          <a:bodyPr wrap="square" lIns="45720" rIns="45720" tIns="18288" bIns="18288" anchor="t">
            <a:spAutoFit/>
          </a:bodyPr>
          <a:lstStyle/>
          <a:p>
            <a:pPr algn="ctr">
              <a:lnSpc>
                <a:spcPct val="115000"/>
              </a:lnSpc>
            </a:pPr>
            <a:r>
              <a:rPr sz="1100" b="1" i="0">
                <a:solidFill>
                  <a:srgbClr val="F59E0B"/>
                </a:solidFill>
                <a:latin typeface="Consolas"/>
              </a:rPr>
              <a:t>ETA TO LIVE BILLING</a:t>
            </a:r>
          </a:p>
        </p:txBody>
      </p:sp>
      <p:sp>
        <p:nvSpPr>
          <p:cNvPr id="42" name="TextBox 41"/>
          <p:cNvSpPr txBox="1"/>
          <p:nvPr/>
        </p:nvSpPr>
        <p:spPr>
          <a:xfrm>
            <a:off x="7406640" y="2286000"/>
            <a:ext cx="4297680" cy="868680"/>
          </a:xfrm>
          <a:prstGeom prst="rect">
            <a:avLst/>
          </a:prstGeom>
          <a:noFill/>
        </p:spPr>
        <p:txBody>
          <a:bodyPr wrap="square" lIns="45720" rIns="45720" tIns="18288" bIns="18288" anchor="t">
            <a:spAutoFit/>
          </a:bodyPr>
          <a:lstStyle/>
          <a:p>
            <a:pPr algn="ctr">
              <a:lnSpc>
                <a:spcPct val="115000"/>
              </a:lnSpc>
            </a:pPr>
            <a:r>
              <a:rPr sz="5400" b="1" i="0">
                <a:solidFill>
                  <a:srgbClr val="FFFFFF"/>
                </a:solidFill>
                <a:latin typeface="Calibri"/>
              </a:rPr>
              <a:t>2 weeks</a:t>
            </a:r>
          </a:p>
        </p:txBody>
      </p:sp>
      <p:sp>
        <p:nvSpPr>
          <p:cNvPr id="43" name="TextBox 42"/>
          <p:cNvSpPr txBox="1"/>
          <p:nvPr/>
        </p:nvSpPr>
        <p:spPr>
          <a:xfrm>
            <a:off x="7406640" y="3154680"/>
            <a:ext cx="4297680" cy="411480"/>
          </a:xfrm>
          <a:prstGeom prst="rect">
            <a:avLst/>
          </a:prstGeom>
          <a:noFill/>
        </p:spPr>
        <p:txBody>
          <a:bodyPr wrap="square" lIns="45720" rIns="45720" tIns="18288" bIns="18288" anchor="t">
            <a:spAutoFit/>
          </a:bodyPr>
          <a:lstStyle/>
          <a:p>
            <a:pPr algn="ctr">
              <a:lnSpc>
                <a:spcPct val="115000"/>
              </a:lnSpc>
            </a:pPr>
            <a:r>
              <a:rPr sz="1100" b="0" i="1">
                <a:solidFill>
                  <a:srgbClr val="CBD5E1"/>
                </a:solidFill>
                <a:latin typeface="Calibri"/>
              </a:rPr>
              <a:t>TARS-side ready · brother's 4 cloud endpoints in test</a:t>
            </a:r>
          </a:p>
        </p:txBody>
      </p:sp>
      <p:sp>
        <p:nvSpPr>
          <p:cNvPr id="44" name="Rounded Rectangle 43"/>
          <p:cNvSpPr/>
          <p:nvPr/>
        </p:nvSpPr>
        <p:spPr>
          <a:xfrm>
            <a:off x="7406640" y="3794760"/>
            <a:ext cx="4297680" cy="2148840"/>
          </a:xfrm>
          <a:prstGeom prst="roundRect">
            <a:avLst>
              <a:gd name="adj" fmla="val 10000"/>
            </a:avLst>
          </a:prstGeom>
          <a:solidFill>
            <a:srgbClr val="0D111B"/>
          </a:solid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06640" y="3931920"/>
            <a:ext cx="4297680" cy="365760"/>
          </a:xfrm>
          <a:prstGeom prst="rect">
            <a:avLst/>
          </a:prstGeom>
          <a:noFill/>
        </p:spPr>
        <p:txBody>
          <a:bodyPr wrap="square" lIns="45720" rIns="45720" tIns="18288" bIns="18288" anchor="t">
            <a:spAutoFit/>
          </a:bodyPr>
          <a:lstStyle/>
          <a:p>
            <a:pPr algn="ctr">
              <a:lnSpc>
                <a:spcPct val="115000"/>
              </a:lnSpc>
            </a:pPr>
            <a:r>
              <a:rPr sz="1100" b="1" i="0">
                <a:solidFill>
                  <a:srgbClr val="8B5CF6"/>
                </a:solidFill>
                <a:latin typeface="Consolas"/>
              </a:rPr>
              <a:t>WHY THIS MATTERS</a:t>
            </a:r>
          </a:p>
        </p:txBody>
      </p:sp>
      <p:sp>
        <p:nvSpPr>
          <p:cNvPr id="46" name="TextBox 45"/>
          <p:cNvSpPr txBox="1"/>
          <p:nvPr/>
        </p:nvSpPr>
        <p:spPr>
          <a:xfrm>
            <a:off x="7680960" y="4343400"/>
            <a:ext cx="3749040" cy="1554480"/>
          </a:xfrm>
          <a:prstGeom prst="rect">
            <a:avLst/>
          </a:prstGeom>
          <a:noFill/>
        </p:spPr>
        <p:txBody>
          <a:bodyPr wrap="square" lIns="45720" rIns="45720" tIns="18288" bIns="18288" anchor="t">
            <a:spAutoFit/>
          </a:bodyPr>
          <a:lstStyle/>
          <a:p>
            <a:pPr algn="l">
              <a:lnSpc>
                <a:spcPct val="140000"/>
              </a:lnSpc>
            </a:pPr>
            <a:r>
              <a:rPr sz="1100" b="0" i="0">
                <a:solidFill>
                  <a:srgbClr val="CBD5E1"/>
                </a:solidFill>
                <a:latin typeface="Calibri"/>
              </a:rPr>
              <a:t>meeet.world becomes the universal identity, balance, and compliance substrate. One brother-owned domain authenticates every TARS instance — and any third-party app on the same rails. The marketplace, the on-chain economy, and the regulator handshake all flow through one place.</a:t>
            </a:r>
          </a:p>
        </p:txBody>
      </p:sp>
      <p:sp>
        <p:nvSpPr>
          <p:cNvPr id="47" name="TextBox 46"/>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48" name="TextBox 47"/>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TRACTION</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200" b="1" i="0">
                <a:solidFill>
                  <a:srgbClr val="FFFFFF"/>
                </a:solidFill>
                <a:latin typeface="Calibri"/>
              </a:rPr>
              <a:t>v10.0 GA tomorrow.  Pipeline below.</a:t>
            </a:r>
          </a:p>
        </p:txBody>
      </p:sp>
      <p:sp>
        <p:nvSpPr>
          <p:cNvPr id="7" name="Rounded Rectangle 6"/>
          <p:cNvSpPr/>
          <p:nvPr/>
        </p:nvSpPr>
        <p:spPr>
          <a:xfrm>
            <a:off x="548640" y="1828800"/>
            <a:ext cx="3611880" cy="2103120"/>
          </a:xfrm>
          <a:prstGeom prst="roundRect">
            <a:avLst>
              <a:gd name="adj" fmla="val 10000"/>
            </a:avLst>
          </a:prstGeom>
          <a:solidFill>
            <a:srgbClr val="0D111B"/>
          </a:solidFill>
          <a:ln w="254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48840"/>
            <a:ext cx="3611880" cy="365760"/>
          </a:xfrm>
          <a:prstGeom prst="rect">
            <a:avLst/>
          </a:prstGeom>
          <a:noFill/>
        </p:spPr>
        <p:txBody>
          <a:bodyPr wrap="square" lIns="45720" rIns="45720" tIns="18288" bIns="18288" anchor="t">
            <a:spAutoFit/>
          </a:bodyPr>
          <a:lstStyle/>
          <a:p>
            <a:pPr algn="ctr">
              <a:lnSpc>
                <a:spcPct val="115000"/>
              </a:lnSpc>
            </a:pPr>
            <a:r>
              <a:rPr sz="1100" b="1" i="0">
                <a:solidFill>
                  <a:srgbClr val="06B6D4"/>
                </a:solidFill>
                <a:latin typeface="Consolas"/>
              </a:rPr>
              <a:t>v10.0 GA</a:t>
            </a:r>
          </a:p>
        </p:txBody>
      </p:sp>
      <p:sp>
        <p:nvSpPr>
          <p:cNvPr id="9" name="TextBox 8"/>
          <p:cNvSpPr txBox="1"/>
          <p:nvPr/>
        </p:nvSpPr>
        <p:spPr>
          <a:xfrm>
            <a:off x="548640" y="2606040"/>
            <a:ext cx="3611880" cy="914400"/>
          </a:xfrm>
          <a:prstGeom prst="rect">
            <a:avLst/>
          </a:prstGeom>
          <a:noFill/>
        </p:spPr>
        <p:txBody>
          <a:bodyPr wrap="square" lIns="45720" rIns="45720" tIns="18288" bIns="18288" anchor="t">
            <a:spAutoFit/>
          </a:bodyPr>
          <a:lstStyle/>
          <a:p>
            <a:pPr algn="ctr">
              <a:lnSpc>
                <a:spcPct val="115000"/>
              </a:lnSpc>
            </a:pPr>
            <a:r>
              <a:rPr sz="4600" b="1" i="0">
                <a:solidFill>
                  <a:srgbClr val="FFFFFF"/>
                </a:solidFill>
                <a:latin typeface="Calibri"/>
              </a:rPr>
              <a:t>SHIPPED</a:t>
            </a:r>
          </a:p>
        </p:txBody>
      </p:sp>
      <p:sp>
        <p:nvSpPr>
          <p:cNvPr id="10" name="TextBox 9"/>
          <p:cNvSpPr txBox="1"/>
          <p:nvPr/>
        </p:nvSpPr>
        <p:spPr>
          <a:xfrm>
            <a:off x="548640" y="3337560"/>
            <a:ext cx="3611880" cy="457200"/>
          </a:xfrm>
          <a:prstGeom prst="rect">
            <a:avLst/>
          </a:prstGeom>
          <a:noFill/>
        </p:spPr>
        <p:txBody>
          <a:bodyPr wrap="square" lIns="45720" rIns="45720" tIns="18288" bIns="18288" anchor="t">
            <a:spAutoFit/>
          </a:bodyPr>
          <a:lstStyle/>
          <a:p>
            <a:pPr algn="ctr">
              <a:lnSpc>
                <a:spcPct val="115000"/>
              </a:lnSpc>
            </a:pPr>
            <a:r>
              <a:rPr sz="1200" b="0" i="1">
                <a:solidFill>
                  <a:srgbClr val="CBD5E1"/>
                </a:solidFill>
                <a:latin typeface="Calibri"/>
              </a:rPr>
              <a:t>rc.1 cut · GA gate: tomorrow</a:t>
            </a:r>
          </a:p>
        </p:txBody>
      </p:sp>
      <p:sp>
        <p:nvSpPr>
          <p:cNvPr id="11" name="Rounded Rectangle 10"/>
          <p:cNvSpPr/>
          <p:nvPr/>
        </p:nvSpPr>
        <p:spPr>
          <a:xfrm>
            <a:off x="4352544" y="1828800"/>
            <a:ext cx="3611880" cy="2103120"/>
          </a:xfrm>
          <a:prstGeom prst="roundRect">
            <a:avLst>
              <a:gd name="adj" fmla="val 10000"/>
            </a:avLst>
          </a:prstGeom>
          <a:solidFill>
            <a:srgbClr val="0D111B"/>
          </a:solid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52544" y="2148840"/>
            <a:ext cx="3611880" cy="365760"/>
          </a:xfrm>
          <a:prstGeom prst="rect">
            <a:avLst/>
          </a:prstGeom>
          <a:noFill/>
        </p:spPr>
        <p:txBody>
          <a:bodyPr wrap="square" lIns="45720" rIns="45720" tIns="18288" bIns="18288" anchor="t">
            <a:spAutoFit/>
          </a:bodyPr>
          <a:lstStyle/>
          <a:p>
            <a:pPr algn="ctr">
              <a:lnSpc>
                <a:spcPct val="115000"/>
              </a:lnSpc>
            </a:pPr>
            <a:r>
              <a:rPr sz="1100" b="1" i="0">
                <a:solidFill>
                  <a:srgbClr val="8B5CF6"/>
                </a:solidFill>
                <a:latin typeface="Consolas"/>
              </a:rPr>
              <a:t>WAITLIST</a:t>
            </a:r>
          </a:p>
        </p:txBody>
      </p:sp>
      <p:sp>
        <p:nvSpPr>
          <p:cNvPr id="13" name="TextBox 12"/>
          <p:cNvSpPr txBox="1"/>
          <p:nvPr/>
        </p:nvSpPr>
        <p:spPr>
          <a:xfrm>
            <a:off x="4352544" y="2606040"/>
            <a:ext cx="3611880" cy="914400"/>
          </a:xfrm>
          <a:prstGeom prst="rect">
            <a:avLst/>
          </a:prstGeom>
          <a:noFill/>
        </p:spPr>
        <p:txBody>
          <a:bodyPr wrap="square" lIns="45720" rIns="45720" tIns="18288" bIns="18288" anchor="t">
            <a:spAutoFit/>
          </a:bodyPr>
          <a:lstStyle/>
          <a:p>
            <a:pPr algn="ctr">
              <a:lnSpc>
                <a:spcPct val="115000"/>
              </a:lnSpc>
            </a:pPr>
            <a:r>
              <a:rPr sz="6400" b="1" i="0">
                <a:solidFill>
                  <a:srgbClr val="FFFFFF"/>
                </a:solidFill>
                <a:latin typeface="Calibri"/>
              </a:rPr>
              <a:t>200+</a:t>
            </a:r>
          </a:p>
        </p:txBody>
      </p:sp>
      <p:sp>
        <p:nvSpPr>
          <p:cNvPr id="14" name="TextBox 13"/>
          <p:cNvSpPr txBox="1"/>
          <p:nvPr/>
        </p:nvSpPr>
        <p:spPr>
          <a:xfrm>
            <a:off x="4352544" y="3520440"/>
            <a:ext cx="3611880" cy="274320"/>
          </a:xfrm>
          <a:prstGeom prst="rect">
            <a:avLst/>
          </a:prstGeom>
          <a:noFill/>
        </p:spPr>
        <p:txBody>
          <a:bodyPr wrap="square" lIns="45720" rIns="45720" tIns="18288" bIns="18288" anchor="t">
            <a:spAutoFit/>
          </a:bodyPr>
          <a:lstStyle/>
          <a:p>
            <a:pPr algn="ctr">
              <a:lnSpc>
                <a:spcPct val="115000"/>
              </a:lnSpc>
            </a:pPr>
            <a:r>
              <a:rPr sz="1100" b="0" i="1">
                <a:solidFill>
                  <a:srgbClr val="94A3B8"/>
                </a:solidFill>
                <a:latin typeface="Calibri"/>
              </a:rPr>
              <a:t>verified email signups</a:t>
            </a:r>
          </a:p>
        </p:txBody>
      </p:sp>
      <p:sp>
        <p:nvSpPr>
          <p:cNvPr id="15" name="Rounded Rectangle 14"/>
          <p:cNvSpPr/>
          <p:nvPr/>
        </p:nvSpPr>
        <p:spPr>
          <a:xfrm>
            <a:off x="8156448" y="1828800"/>
            <a:ext cx="3611880" cy="2103120"/>
          </a:xfrm>
          <a:prstGeom prst="roundRect">
            <a:avLst>
              <a:gd name="adj" fmla="val 10000"/>
            </a:avLst>
          </a:prstGeom>
          <a:solidFill>
            <a:srgbClr val="0D111B"/>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56448" y="2148840"/>
            <a:ext cx="3611880" cy="365760"/>
          </a:xfrm>
          <a:prstGeom prst="rect">
            <a:avLst/>
          </a:prstGeom>
          <a:noFill/>
        </p:spPr>
        <p:txBody>
          <a:bodyPr wrap="square" lIns="45720" rIns="45720" tIns="18288" bIns="18288" anchor="t">
            <a:spAutoFit/>
          </a:bodyPr>
          <a:lstStyle/>
          <a:p>
            <a:pPr algn="ctr">
              <a:lnSpc>
                <a:spcPct val="115000"/>
              </a:lnSpc>
            </a:pPr>
            <a:r>
              <a:rPr sz="1100" b="1" i="0">
                <a:solidFill>
                  <a:srgbClr val="F59E0B"/>
                </a:solidFill>
                <a:latin typeface="Consolas"/>
              </a:rPr>
              <a:t>ON-PREM LEADS</a:t>
            </a:r>
          </a:p>
        </p:txBody>
      </p:sp>
      <p:sp>
        <p:nvSpPr>
          <p:cNvPr id="17" name="TextBox 16"/>
          <p:cNvSpPr txBox="1"/>
          <p:nvPr/>
        </p:nvSpPr>
        <p:spPr>
          <a:xfrm>
            <a:off x="8156448" y="2606040"/>
            <a:ext cx="3611880" cy="914400"/>
          </a:xfrm>
          <a:prstGeom prst="rect">
            <a:avLst/>
          </a:prstGeom>
          <a:noFill/>
        </p:spPr>
        <p:txBody>
          <a:bodyPr wrap="square" lIns="45720" rIns="45720" tIns="18288" bIns="18288" anchor="t">
            <a:spAutoFit/>
          </a:bodyPr>
          <a:lstStyle/>
          <a:p>
            <a:pPr algn="ctr">
              <a:lnSpc>
                <a:spcPct val="115000"/>
              </a:lnSpc>
            </a:pPr>
            <a:r>
              <a:rPr sz="6400" b="1" i="0">
                <a:solidFill>
                  <a:srgbClr val="FFFFFF"/>
                </a:solidFill>
                <a:latin typeface="Calibri"/>
              </a:rPr>
              <a:t>3</a:t>
            </a:r>
          </a:p>
        </p:txBody>
      </p:sp>
      <p:sp>
        <p:nvSpPr>
          <p:cNvPr id="18" name="TextBox 17"/>
          <p:cNvSpPr txBox="1"/>
          <p:nvPr/>
        </p:nvSpPr>
        <p:spPr>
          <a:xfrm>
            <a:off x="8156448" y="3520440"/>
            <a:ext cx="3611880" cy="274320"/>
          </a:xfrm>
          <a:prstGeom prst="rect">
            <a:avLst/>
          </a:prstGeom>
          <a:noFill/>
        </p:spPr>
        <p:txBody>
          <a:bodyPr wrap="square" lIns="45720" rIns="45720" tIns="18288" bIns="18288" anchor="t">
            <a:spAutoFit/>
          </a:bodyPr>
          <a:lstStyle/>
          <a:p>
            <a:pPr algn="ctr">
              <a:lnSpc>
                <a:spcPct val="115000"/>
              </a:lnSpc>
            </a:pPr>
            <a:r>
              <a:rPr sz="1100" b="0" i="1">
                <a:solidFill>
                  <a:srgbClr val="94A3B8"/>
                </a:solidFill>
                <a:latin typeface="Calibri"/>
              </a:rPr>
              <a:t>warm · fund · healthcare · gov</a:t>
            </a:r>
          </a:p>
        </p:txBody>
      </p:sp>
      <p:sp>
        <p:nvSpPr>
          <p:cNvPr id="19" name="Rounded Rectangle 18"/>
          <p:cNvSpPr/>
          <p:nvPr/>
        </p:nvSpPr>
        <p:spPr>
          <a:xfrm>
            <a:off x="548640" y="4572000"/>
            <a:ext cx="11155680" cy="13716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709160"/>
            <a:ext cx="10515600" cy="365760"/>
          </a:xfrm>
          <a:prstGeom prst="rect">
            <a:avLst/>
          </a:prstGeom>
          <a:noFill/>
        </p:spPr>
        <p:txBody>
          <a:bodyPr wrap="square" lIns="45720" rIns="45720" tIns="18288" bIns="18288" anchor="t">
            <a:spAutoFit/>
          </a:bodyPr>
          <a:lstStyle/>
          <a:p>
            <a:pPr algn="l">
              <a:lnSpc>
                <a:spcPct val="115000"/>
              </a:lnSpc>
            </a:pPr>
            <a:r>
              <a:rPr sz="1100" b="1" i="0">
                <a:solidFill>
                  <a:srgbClr val="84CC16"/>
                </a:solidFill>
                <a:latin typeface="Consolas"/>
              </a:rPr>
              <a:t>MOMENTUM</a:t>
            </a:r>
          </a:p>
        </p:txBody>
      </p:sp>
      <p:sp>
        <p:nvSpPr>
          <p:cNvPr id="21" name="TextBox 20"/>
          <p:cNvSpPr txBox="1"/>
          <p:nvPr/>
        </p:nvSpPr>
        <p:spPr>
          <a:xfrm>
            <a:off x="777240" y="5074920"/>
            <a:ext cx="10515600" cy="411480"/>
          </a:xfrm>
          <a:prstGeom prst="rect">
            <a:avLst/>
          </a:prstGeom>
          <a:noFill/>
        </p:spPr>
        <p:txBody>
          <a:bodyPr wrap="square" lIns="45720" rIns="45720" tIns="18288" bIns="18288" anchor="t">
            <a:spAutoFit/>
          </a:bodyPr>
          <a:lstStyle/>
          <a:p>
            <a:pPr algn="l">
              <a:lnSpc>
                <a:spcPct val="115000"/>
              </a:lnSpc>
            </a:pPr>
            <a:r>
              <a:rPr sz="1800" b="1" i="0">
                <a:solidFill>
                  <a:srgbClr val="FFFFFF"/>
                </a:solidFill>
                <a:latin typeface="Calibri"/>
              </a:rPr>
              <a:t>267 commits  ·  10 months  ·  one founder + AI orchestra  ·  v10.0 GA on schedule</a:t>
            </a:r>
          </a:p>
        </p:txBody>
      </p:sp>
      <p:sp>
        <p:nvSpPr>
          <p:cNvPr id="22" name="TextBox 21"/>
          <p:cNvSpPr txBox="1"/>
          <p:nvPr/>
        </p:nvSpPr>
        <p:spPr>
          <a:xfrm>
            <a:off x="777240" y="5532120"/>
            <a:ext cx="10515600" cy="365760"/>
          </a:xfrm>
          <a:prstGeom prst="rect">
            <a:avLst/>
          </a:prstGeom>
          <a:noFill/>
        </p:spPr>
        <p:txBody>
          <a:bodyPr wrap="square" lIns="45720" rIns="45720" tIns="18288" bIns="18288" anchor="t">
            <a:spAutoFit/>
          </a:bodyPr>
          <a:lstStyle/>
          <a:p>
            <a:pPr algn="l">
              <a:lnSpc>
                <a:spcPct val="115000"/>
              </a:lnSpc>
            </a:pPr>
            <a:r>
              <a:rPr sz="1200" b="0" i="1">
                <a:solidFill>
                  <a:srgbClr val="94A3B8"/>
                </a:solidFill>
                <a:latin typeface="Calibri"/>
              </a:rPr>
              <a:t>Velocity is the moat investors can underwrite without a market call.</a:t>
            </a:r>
          </a:p>
        </p:txBody>
      </p:sp>
      <p:sp>
        <p:nvSpPr>
          <p:cNvPr id="23" name="TextBox 22"/>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4" name="TextBox 23"/>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TEAM</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3000" b="1" i="0">
                <a:solidFill>
                  <a:srgbClr val="FFFFFF"/>
                </a:solidFill>
                <a:latin typeface="Calibri"/>
              </a:rPr>
              <a:t>One founder.  One brother.  One AI orchestra.</a:t>
            </a:r>
          </a:p>
        </p:txBody>
      </p:sp>
      <p:sp>
        <p:nvSpPr>
          <p:cNvPr id="7" name="Rounded Rectangle 6"/>
          <p:cNvSpPr/>
          <p:nvPr/>
        </p:nvSpPr>
        <p:spPr>
          <a:xfrm>
            <a:off x="548640" y="1828800"/>
            <a:ext cx="3694176" cy="3200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2103120"/>
            <a:ext cx="822960" cy="82296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03120"/>
            <a:ext cx="822960" cy="822960"/>
          </a:xfrm>
          <a:prstGeom prst="rect">
            <a:avLst/>
          </a:prstGeom>
          <a:noFill/>
        </p:spPr>
        <p:txBody>
          <a:bodyPr wrap="square" lIns="45720" rIns="45720" tIns="18288" bIns="18288" anchor="ctr">
            <a:spAutoFit/>
          </a:bodyPr>
          <a:lstStyle/>
          <a:p>
            <a:pPr algn="ctr">
              <a:lnSpc>
                <a:spcPct val="115000"/>
              </a:lnSpc>
            </a:pPr>
            <a:r>
              <a:rPr sz="4000" b="1" i="0">
                <a:solidFill>
                  <a:srgbClr val="07080D"/>
                </a:solidFill>
                <a:latin typeface="Calibri"/>
              </a:rPr>
              <a:t>A</a:t>
            </a:r>
          </a:p>
        </p:txBody>
      </p:sp>
      <p:sp>
        <p:nvSpPr>
          <p:cNvPr id="10" name="TextBox 9"/>
          <p:cNvSpPr txBox="1"/>
          <p:nvPr/>
        </p:nvSpPr>
        <p:spPr>
          <a:xfrm>
            <a:off x="1828800" y="2148840"/>
            <a:ext cx="2231136"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ALIEN</a:t>
            </a:r>
          </a:p>
        </p:txBody>
      </p:sp>
      <p:sp>
        <p:nvSpPr>
          <p:cNvPr id="11" name="TextBox 10"/>
          <p:cNvSpPr txBox="1"/>
          <p:nvPr/>
        </p:nvSpPr>
        <p:spPr>
          <a:xfrm>
            <a:off x="1828800" y="2606040"/>
            <a:ext cx="2231136" cy="320040"/>
          </a:xfrm>
          <a:prstGeom prst="rect">
            <a:avLst/>
          </a:prstGeom>
          <a:noFill/>
        </p:spPr>
        <p:txBody>
          <a:bodyPr wrap="square" lIns="45720" rIns="45720" tIns="18288" bIns="18288" anchor="t">
            <a:spAutoFit/>
          </a:bodyPr>
          <a:lstStyle/>
          <a:p>
            <a:pPr algn="l">
              <a:lnSpc>
                <a:spcPct val="115000"/>
              </a:lnSpc>
            </a:pPr>
            <a:r>
              <a:rPr sz="1100" b="1" i="1">
                <a:solidFill>
                  <a:srgbClr val="06B6D4"/>
                </a:solidFill>
                <a:latin typeface="Consolas"/>
              </a:rPr>
              <a:t>Founder · CEO</a:t>
            </a:r>
          </a:p>
        </p:txBody>
      </p:sp>
      <p:sp>
        <p:nvSpPr>
          <p:cNvPr id="12" name="TextBox 11"/>
          <p:cNvSpPr txBox="1"/>
          <p:nvPr/>
        </p:nvSpPr>
        <p:spPr>
          <a:xfrm>
            <a:off x="822960" y="3200400"/>
            <a:ext cx="3145536" cy="1645920"/>
          </a:xfrm>
          <a:prstGeom prst="rect">
            <a:avLst/>
          </a:prstGeom>
          <a:noFill/>
        </p:spPr>
        <p:txBody>
          <a:bodyPr wrap="square" lIns="45720" rIns="45720" tIns="18288" bIns="18288" anchor="t">
            <a:spAutoFit/>
          </a:bodyPr>
          <a:lstStyle/>
          <a:p>
            <a:pPr algn="l">
              <a:lnSpc>
                <a:spcPct val="140000"/>
              </a:lnSpc>
            </a:pPr>
            <a:r>
              <a:rPr sz="1200" b="0" i="0">
                <a:solidFill>
                  <a:srgbClr val="CBD5E1"/>
                </a:solidFill>
                <a:latin typeface="Calibri"/>
              </a:rPr>
              <a:t>Voice of the product. Vision, design, lane orchestration. Shipped 267 commits in 10 months with the AI orchestra. Operator first, builder always.</a:t>
            </a:r>
          </a:p>
        </p:txBody>
      </p:sp>
      <p:sp>
        <p:nvSpPr>
          <p:cNvPr id="13" name="Rounded Rectangle 12"/>
          <p:cNvSpPr/>
          <p:nvPr/>
        </p:nvSpPr>
        <p:spPr>
          <a:xfrm>
            <a:off x="4407408" y="1828800"/>
            <a:ext cx="3694176" cy="3200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81728" y="2103120"/>
            <a:ext cx="822960" cy="822960"/>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81728" y="2103120"/>
            <a:ext cx="822960" cy="822960"/>
          </a:xfrm>
          <a:prstGeom prst="rect">
            <a:avLst/>
          </a:prstGeom>
          <a:noFill/>
        </p:spPr>
        <p:txBody>
          <a:bodyPr wrap="square" lIns="45720" rIns="45720" tIns="18288" bIns="18288" anchor="ctr">
            <a:spAutoFit/>
          </a:bodyPr>
          <a:lstStyle/>
          <a:p>
            <a:pPr algn="ctr">
              <a:lnSpc>
                <a:spcPct val="115000"/>
              </a:lnSpc>
            </a:pPr>
            <a:r>
              <a:rPr sz="4000" b="1" i="0">
                <a:solidFill>
                  <a:srgbClr val="07080D"/>
                </a:solidFill>
                <a:latin typeface="Calibri"/>
              </a:rPr>
              <a:t>B</a:t>
            </a:r>
          </a:p>
        </p:txBody>
      </p:sp>
      <p:sp>
        <p:nvSpPr>
          <p:cNvPr id="16" name="TextBox 15"/>
          <p:cNvSpPr txBox="1"/>
          <p:nvPr/>
        </p:nvSpPr>
        <p:spPr>
          <a:xfrm>
            <a:off x="5687568" y="2148840"/>
            <a:ext cx="2231136"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BROTHER</a:t>
            </a:r>
          </a:p>
        </p:txBody>
      </p:sp>
      <p:sp>
        <p:nvSpPr>
          <p:cNvPr id="17" name="TextBox 16"/>
          <p:cNvSpPr txBox="1"/>
          <p:nvPr/>
        </p:nvSpPr>
        <p:spPr>
          <a:xfrm>
            <a:off x="5687568" y="2606040"/>
            <a:ext cx="2231136" cy="320040"/>
          </a:xfrm>
          <a:prstGeom prst="rect">
            <a:avLst/>
          </a:prstGeom>
          <a:noFill/>
        </p:spPr>
        <p:txBody>
          <a:bodyPr wrap="square" lIns="45720" rIns="45720" tIns="18288" bIns="18288" anchor="t">
            <a:spAutoFit/>
          </a:bodyPr>
          <a:lstStyle/>
          <a:p>
            <a:pPr algn="l">
              <a:lnSpc>
                <a:spcPct val="115000"/>
              </a:lnSpc>
            </a:pPr>
            <a:r>
              <a:rPr sz="1100" b="1" i="1">
                <a:solidFill>
                  <a:srgbClr val="8B5CF6"/>
                </a:solidFill>
                <a:latin typeface="Consolas"/>
              </a:rPr>
              <a:t>meeet.world · Substrate</a:t>
            </a:r>
          </a:p>
        </p:txBody>
      </p:sp>
      <p:sp>
        <p:nvSpPr>
          <p:cNvPr id="18" name="TextBox 17"/>
          <p:cNvSpPr txBox="1"/>
          <p:nvPr/>
        </p:nvSpPr>
        <p:spPr>
          <a:xfrm>
            <a:off x="4681728" y="3200400"/>
            <a:ext cx="3145536" cy="1645920"/>
          </a:xfrm>
          <a:prstGeom prst="rect">
            <a:avLst/>
          </a:prstGeom>
          <a:noFill/>
        </p:spPr>
        <p:txBody>
          <a:bodyPr wrap="square" lIns="45720" rIns="45720" tIns="18288" bIns="18288" anchor="t">
            <a:spAutoFit/>
          </a:bodyPr>
          <a:lstStyle/>
          <a:p>
            <a:pPr algn="l">
              <a:lnSpc>
                <a:spcPct val="140000"/>
              </a:lnSpc>
            </a:pPr>
            <a:r>
              <a:rPr sz="1200" b="0" i="0">
                <a:solidFill>
                  <a:srgbClr val="CBD5E1"/>
                </a:solidFill>
                <a:latin typeface="Calibri"/>
              </a:rPr>
              <a:t>Owns identity, billing, marketplace ledger, $MEEET economy. Eight endpoints away from live billing. Independent runway, shared protocol surface.</a:t>
            </a:r>
          </a:p>
        </p:txBody>
      </p:sp>
      <p:sp>
        <p:nvSpPr>
          <p:cNvPr id="19" name="Rounded Rectangle 18"/>
          <p:cNvSpPr/>
          <p:nvPr/>
        </p:nvSpPr>
        <p:spPr>
          <a:xfrm>
            <a:off x="8266176" y="1828800"/>
            <a:ext cx="3694176" cy="320040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40496" y="2103120"/>
            <a:ext cx="822960" cy="822960"/>
          </a:xfrm>
          <a:prstGeom prst="roundRect">
            <a:avLst>
              <a:gd name="adj" fmla="val 10000"/>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0496" y="2103120"/>
            <a:ext cx="822960" cy="822960"/>
          </a:xfrm>
          <a:prstGeom prst="rect">
            <a:avLst/>
          </a:prstGeom>
          <a:noFill/>
        </p:spPr>
        <p:txBody>
          <a:bodyPr wrap="square" lIns="45720" rIns="45720" tIns="18288" bIns="18288" anchor="ctr">
            <a:spAutoFit/>
          </a:bodyPr>
          <a:lstStyle/>
          <a:p>
            <a:pPr algn="ctr">
              <a:lnSpc>
                <a:spcPct val="115000"/>
              </a:lnSpc>
            </a:pPr>
            <a:r>
              <a:rPr sz="4000" b="1" i="0">
                <a:solidFill>
                  <a:srgbClr val="07080D"/>
                </a:solidFill>
                <a:latin typeface="Calibri"/>
              </a:rPr>
              <a:t>A</a:t>
            </a:r>
          </a:p>
        </p:txBody>
      </p:sp>
      <p:sp>
        <p:nvSpPr>
          <p:cNvPr id="22" name="TextBox 21"/>
          <p:cNvSpPr txBox="1"/>
          <p:nvPr/>
        </p:nvSpPr>
        <p:spPr>
          <a:xfrm>
            <a:off x="9546336" y="2148840"/>
            <a:ext cx="2231136" cy="457200"/>
          </a:xfrm>
          <a:prstGeom prst="rect">
            <a:avLst/>
          </a:prstGeom>
          <a:noFill/>
        </p:spPr>
        <p:txBody>
          <a:bodyPr wrap="square" lIns="45720" rIns="45720" tIns="18288" bIns="18288" anchor="t">
            <a:spAutoFit/>
          </a:bodyPr>
          <a:lstStyle/>
          <a:p>
            <a:pPr algn="l">
              <a:lnSpc>
                <a:spcPct val="115000"/>
              </a:lnSpc>
            </a:pPr>
            <a:r>
              <a:rPr sz="2000" b="1" i="0">
                <a:solidFill>
                  <a:srgbClr val="FFFFFF"/>
                </a:solidFill>
                <a:latin typeface="Calibri"/>
              </a:rPr>
              <a:t>AI ORCHESTRA</a:t>
            </a:r>
          </a:p>
        </p:txBody>
      </p:sp>
      <p:sp>
        <p:nvSpPr>
          <p:cNvPr id="23" name="TextBox 22"/>
          <p:cNvSpPr txBox="1"/>
          <p:nvPr/>
        </p:nvSpPr>
        <p:spPr>
          <a:xfrm>
            <a:off x="9546336" y="2606040"/>
            <a:ext cx="2231136" cy="320040"/>
          </a:xfrm>
          <a:prstGeom prst="rect">
            <a:avLst/>
          </a:prstGeom>
          <a:noFill/>
        </p:spPr>
        <p:txBody>
          <a:bodyPr wrap="square" lIns="45720" rIns="45720" tIns="18288" bIns="18288" anchor="t">
            <a:spAutoFit/>
          </a:bodyPr>
          <a:lstStyle/>
          <a:p>
            <a:pPr algn="l">
              <a:lnSpc>
                <a:spcPct val="115000"/>
              </a:lnSpc>
            </a:pPr>
            <a:r>
              <a:rPr sz="1100" b="1" i="1">
                <a:solidFill>
                  <a:srgbClr val="6366F1"/>
                </a:solidFill>
                <a:latin typeface="Consolas"/>
              </a:rPr>
              <a:t>Claude · Cursor lanes</a:t>
            </a:r>
          </a:p>
        </p:txBody>
      </p:sp>
      <p:sp>
        <p:nvSpPr>
          <p:cNvPr id="24" name="TextBox 23"/>
          <p:cNvSpPr txBox="1"/>
          <p:nvPr/>
        </p:nvSpPr>
        <p:spPr>
          <a:xfrm>
            <a:off x="8540496" y="3200400"/>
            <a:ext cx="3145536" cy="1645920"/>
          </a:xfrm>
          <a:prstGeom prst="rect">
            <a:avLst/>
          </a:prstGeom>
          <a:noFill/>
        </p:spPr>
        <p:txBody>
          <a:bodyPr wrap="square" lIns="45720" rIns="45720" tIns="18288" bIns="18288" anchor="t">
            <a:spAutoFit/>
          </a:bodyPr>
          <a:lstStyle/>
          <a:p>
            <a:pPr algn="l">
              <a:lnSpc>
                <a:spcPct val="140000"/>
              </a:lnSpc>
            </a:pPr>
            <a:r>
              <a:rPr sz="1200" b="0" i="0">
                <a:solidFill>
                  <a:srgbClr val="CBD5E1"/>
                </a:solidFill>
                <a:latin typeface="Calibri"/>
              </a:rPr>
              <a:t>Treated as engineering capacity, not a tool. Claude lane leads design and core ops. Cursor lane handles implementation. Managed like an offshore team.</a:t>
            </a:r>
          </a:p>
        </p:txBody>
      </p:sp>
      <p:sp>
        <p:nvSpPr>
          <p:cNvPr id="25" name="Rounded Rectangle 24"/>
          <p:cNvSpPr/>
          <p:nvPr/>
        </p:nvSpPr>
        <p:spPr>
          <a:xfrm>
            <a:off x="548640" y="5212080"/>
            <a:ext cx="11155680" cy="822960"/>
          </a:xfrm>
          <a:prstGeom prst="roundRect">
            <a:avLst>
              <a:gd name="adj" fmla="val 10000"/>
            </a:avLst>
          </a:prstGeom>
          <a:solidFill>
            <a:srgbClr val="0D111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257800"/>
            <a:ext cx="10515600" cy="365760"/>
          </a:xfrm>
          <a:prstGeom prst="rect">
            <a:avLst/>
          </a:prstGeom>
          <a:noFill/>
        </p:spPr>
        <p:txBody>
          <a:bodyPr wrap="square" lIns="45720" rIns="45720" tIns="18288" bIns="18288" anchor="t">
            <a:spAutoFit/>
          </a:bodyPr>
          <a:lstStyle/>
          <a:p>
            <a:pPr algn="l">
              <a:lnSpc>
                <a:spcPct val="115000"/>
              </a:lnSpc>
            </a:pPr>
            <a:r>
              <a:rPr sz="1100" b="1" i="0">
                <a:solidFill>
                  <a:srgbClr val="F59E0B"/>
                </a:solidFill>
                <a:latin typeface="Consolas"/>
              </a:rPr>
              <a:t>CAPITAL EFFICIENCY</a:t>
            </a:r>
          </a:p>
        </p:txBody>
      </p:sp>
      <p:sp>
        <p:nvSpPr>
          <p:cNvPr id="27" name="TextBox 26"/>
          <p:cNvSpPr txBox="1"/>
          <p:nvPr/>
        </p:nvSpPr>
        <p:spPr>
          <a:xfrm>
            <a:off x="777240" y="5577840"/>
            <a:ext cx="10515600" cy="457200"/>
          </a:xfrm>
          <a:prstGeom prst="rect">
            <a:avLst/>
          </a:prstGeom>
          <a:noFill/>
        </p:spPr>
        <p:txBody>
          <a:bodyPr wrap="square" lIns="45720" rIns="45720" tIns="18288" bIns="18288" anchor="t">
            <a:spAutoFit/>
          </a:bodyPr>
          <a:lstStyle/>
          <a:p>
            <a:pPr algn="l">
              <a:lnSpc>
                <a:spcPct val="115000"/>
              </a:lnSpc>
            </a:pPr>
            <a:r>
              <a:rPr sz="1500" b="1" i="1">
                <a:solidFill>
                  <a:srgbClr val="FFFFFF"/>
                </a:solidFill>
                <a:latin typeface="Calibri"/>
              </a:rPr>
              <a:t>53 commits in one session · v10 GA on a tiny burn · the structure is the story</a:t>
            </a:r>
          </a:p>
        </p:txBody>
      </p:sp>
      <p:sp>
        <p:nvSpPr>
          <p:cNvPr id="28" name="TextBox 27"/>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9" name="TextBox 28"/>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THE ASK</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4200" b="1" i="0">
                <a:solidFill>
                  <a:srgbClr val="FFFFFF"/>
                </a:solidFill>
                <a:latin typeface="Calibri"/>
              </a:rPr>
              <a:t>Three concrete things.</a:t>
            </a:r>
          </a:p>
        </p:txBody>
      </p:sp>
      <p:sp>
        <p:nvSpPr>
          <p:cNvPr id="7" name="Rounded Rectangle 6"/>
          <p:cNvSpPr/>
          <p:nvPr/>
        </p:nvSpPr>
        <p:spPr>
          <a:xfrm>
            <a:off x="548640" y="1828800"/>
            <a:ext cx="11155680" cy="1234440"/>
          </a:xfrm>
          <a:prstGeom prst="roundRect">
            <a:avLst>
              <a:gd name="adj" fmla="val 10000"/>
            </a:avLst>
          </a:prstGeom>
          <a:solidFill>
            <a:srgbClr val="0D111B"/>
          </a:solidFill>
          <a:ln w="1905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777240" cy="77724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03120"/>
            <a:ext cx="777240" cy="777240"/>
          </a:xfrm>
          <a:prstGeom prst="rect">
            <a:avLst/>
          </a:prstGeom>
          <a:noFill/>
        </p:spPr>
        <p:txBody>
          <a:bodyPr wrap="square" lIns="45720" rIns="45720" tIns="18288" bIns="18288" anchor="ctr">
            <a:spAutoFit/>
          </a:bodyPr>
          <a:lstStyle/>
          <a:p>
            <a:pPr algn="ctr">
              <a:lnSpc>
                <a:spcPct val="115000"/>
              </a:lnSpc>
            </a:pPr>
            <a:r>
              <a:rPr sz="2800" b="1" i="0">
                <a:solidFill>
                  <a:srgbClr val="07080D"/>
                </a:solidFill>
                <a:latin typeface="Consolas"/>
              </a:rPr>
              <a:t>01</a:t>
            </a:r>
          </a:p>
        </p:txBody>
      </p:sp>
      <p:sp>
        <p:nvSpPr>
          <p:cNvPr id="10" name="TextBox 9"/>
          <p:cNvSpPr txBox="1"/>
          <p:nvPr/>
        </p:nvSpPr>
        <p:spPr>
          <a:xfrm>
            <a:off x="1737360" y="1993392"/>
            <a:ext cx="5943600" cy="411480"/>
          </a:xfrm>
          <a:prstGeom prst="rect">
            <a:avLst/>
          </a:prstGeom>
          <a:noFill/>
        </p:spPr>
        <p:txBody>
          <a:bodyPr wrap="square" lIns="45720" rIns="45720" tIns="18288" bIns="18288" anchor="t">
            <a:spAutoFit/>
          </a:bodyPr>
          <a:lstStyle/>
          <a:p>
            <a:pPr algn="l">
              <a:lnSpc>
                <a:spcPct val="115000"/>
              </a:lnSpc>
            </a:pPr>
            <a:r>
              <a:rPr sz="2200" b="1" i="0">
                <a:solidFill>
                  <a:srgbClr val="FFFFFF"/>
                </a:solidFill>
                <a:latin typeface="Calibri"/>
              </a:rPr>
              <a:t>Design partners</a:t>
            </a:r>
          </a:p>
        </p:txBody>
      </p:sp>
      <p:sp>
        <p:nvSpPr>
          <p:cNvPr id="11" name="TextBox 10"/>
          <p:cNvSpPr txBox="1"/>
          <p:nvPr/>
        </p:nvSpPr>
        <p:spPr>
          <a:xfrm>
            <a:off x="1737360" y="2423160"/>
            <a:ext cx="5943600" cy="594360"/>
          </a:xfrm>
          <a:prstGeom prst="rect">
            <a:avLst/>
          </a:prstGeom>
          <a:noFill/>
        </p:spPr>
        <p:txBody>
          <a:bodyPr wrap="square" lIns="45720" rIns="45720" tIns="18288" bIns="18288" anchor="t">
            <a:spAutoFit/>
          </a:bodyPr>
          <a:lstStyle/>
          <a:p>
            <a:pPr algn="l">
              <a:lnSpc>
                <a:spcPct val="135000"/>
              </a:lnSpc>
            </a:pPr>
            <a:r>
              <a:rPr sz="1100" b="0" i="0">
                <a:solidFill>
                  <a:srgbClr val="CBD5E1"/>
                </a:solidFill>
                <a:latin typeface="Calibri"/>
              </a:rPr>
              <a:t>Three companies for the v10.1 cohort. Funds, healthcare ops, or civic-tech preferred — anywhere the receipt primitive moves a compliance conversation.</a:t>
            </a:r>
          </a:p>
        </p:txBody>
      </p:sp>
      <p:sp>
        <p:nvSpPr>
          <p:cNvPr id="12" name="TextBox 11"/>
          <p:cNvSpPr txBox="1"/>
          <p:nvPr/>
        </p:nvSpPr>
        <p:spPr>
          <a:xfrm>
            <a:off x="7863840" y="2148840"/>
            <a:ext cx="3657600" cy="594360"/>
          </a:xfrm>
          <a:prstGeom prst="rect">
            <a:avLst/>
          </a:prstGeom>
          <a:noFill/>
        </p:spPr>
        <p:txBody>
          <a:bodyPr wrap="square" lIns="45720" rIns="45720" tIns="18288" bIns="18288" anchor="ctr">
            <a:spAutoFit/>
          </a:bodyPr>
          <a:lstStyle/>
          <a:p>
            <a:pPr algn="l">
              <a:lnSpc>
                <a:spcPct val="135000"/>
              </a:lnSpc>
            </a:pPr>
            <a:r>
              <a:rPr sz="1100" b="1" i="1">
                <a:solidFill>
                  <a:srgbClr val="06B6D4"/>
                </a:solidFill>
                <a:latin typeface="Calibri"/>
              </a:rPr>
              <a:t>Outcome: shaped roadmap + case studies + references.</a:t>
            </a:r>
          </a:p>
        </p:txBody>
      </p:sp>
      <p:sp>
        <p:nvSpPr>
          <p:cNvPr id="13" name="Rounded Rectangle 12"/>
          <p:cNvSpPr/>
          <p:nvPr/>
        </p:nvSpPr>
        <p:spPr>
          <a:xfrm>
            <a:off x="548640" y="3200400"/>
            <a:ext cx="11155680" cy="1234440"/>
          </a:xfrm>
          <a:prstGeom prst="roundRect">
            <a:avLst>
              <a:gd name="adj" fmla="val 10000"/>
            </a:avLst>
          </a:prstGeom>
          <a:solidFill>
            <a:srgbClr val="0D111B"/>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3474720"/>
            <a:ext cx="777240" cy="777240"/>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474720"/>
            <a:ext cx="777240" cy="777240"/>
          </a:xfrm>
          <a:prstGeom prst="rect">
            <a:avLst/>
          </a:prstGeom>
          <a:noFill/>
        </p:spPr>
        <p:txBody>
          <a:bodyPr wrap="square" lIns="45720" rIns="45720" tIns="18288" bIns="18288" anchor="ctr">
            <a:spAutoFit/>
          </a:bodyPr>
          <a:lstStyle/>
          <a:p>
            <a:pPr algn="ctr">
              <a:lnSpc>
                <a:spcPct val="115000"/>
              </a:lnSpc>
            </a:pPr>
            <a:r>
              <a:rPr sz="2800" b="1" i="0">
                <a:solidFill>
                  <a:srgbClr val="07080D"/>
                </a:solidFill>
                <a:latin typeface="Consolas"/>
              </a:rPr>
              <a:t>02</a:t>
            </a:r>
          </a:p>
        </p:txBody>
      </p:sp>
      <p:sp>
        <p:nvSpPr>
          <p:cNvPr id="16" name="TextBox 15"/>
          <p:cNvSpPr txBox="1"/>
          <p:nvPr/>
        </p:nvSpPr>
        <p:spPr>
          <a:xfrm>
            <a:off x="1737360" y="3364992"/>
            <a:ext cx="5943600" cy="411480"/>
          </a:xfrm>
          <a:prstGeom prst="rect">
            <a:avLst/>
          </a:prstGeom>
          <a:noFill/>
        </p:spPr>
        <p:txBody>
          <a:bodyPr wrap="square" lIns="45720" rIns="45720" tIns="18288" bIns="18288" anchor="t">
            <a:spAutoFit/>
          </a:bodyPr>
          <a:lstStyle/>
          <a:p>
            <a:pPr algn="l">
              <a:lnSpc>
                <a:spcPct val="115000"/>
              </a:lnSpc>
            </a:pPr>
            <a:r>
              <a:rPr sz="2200" b="1" i="0">
                <a:solidFill>
                  <a:srgbClr val="FFFFFF"/>
                </a:solidFill>
                <a:latin typeface="Calibri"/>
              </a:rPr>
              <a:t>On-prem pilots</a:t>
            </a:r>
          </a:p>
        </p:txBody>
      </p:sp>
      <p:sp>
        <p:nvSpPr>
          <p:cNvPr id="17" name="TextBox 16"/>
          <p:cNvSpPr txBox="1"/>
          <p:nvPr/>
        </p:nvSpPr>
        <p:spPr>
          <a:xfrm>
            <a:off x="1737360" y="3794760"/>
            <a:ext cx="5943600" cy="594360"/>
          </a:xfrm>
          <a:prstGeom prst="rect">
            <a:avLst/>
          </a:prstGeom>
          <a:noFill/>
        </p:spPr>
        <p:txBody>
          <a:bodyPr wrap="square" lIns="45720" rIns="45720" tIns="18288" bIns="18288" anchor="t">
            <a:spAutoFit/>
          </a:bodyPr>
          <a:lstStyle/>
          <a:p>
            <a:pPr algn="l">
              <a:lnSpc>
                <a:spcPct val="135000"/>
              </a:lnSpc>
            </a:pPr>
            <a:r>
              <a:rPr sz="1100" b="0" i="0">
                <a:solidFill>
                  <a:srgbClr val="CBD5E1"/>
                </a:solidFill>
                <a:latin typeface="Calibri"/>
              </a:rPr>
              <a:t>Two pilots at $1k+/seat/month, six-month minimum. We bring the compliance bundle, the workshop pack, and white-glove deployment.</a:t>
            </a:r>
          </a:p>
        </p:txBody>
      </p:sp>
      <p:sp>
        <p:nvSpPr>
          <p:cNvPr id="18" name="TextBox 17"/>
          <p:cNvSpPr txBox="1"/>
          <p:nvPr/>
        </p:nvSpPr>
        <p:spPr>
          <a:xfrm>
            <a:off x="7863840" y="3520440"/>
            <a:ext cx="3657600" cy="594360"/>
          </a:xfrm>
          <a:prstGeom prst="rect">
            <a:avLst/>
          </a:prstGeom>
          <a:noFill/>
        </p:spPr>
        <p:txBody>
          <a:bodyPr wrap="square" lIns="45720" rIns="45720" tIns="18288" bIns="18288" anchor="ctr">
            <a:spAutoFit/>
          </a:bodyPr>
          <a:lstStyle/>
          <a:p>
            <a:pPr algn="l">
              <a:lnSpc>
                <a:spcPct val="135000"/>
              </a:lnSpc>
            </a:pPr>
            <a:r>
              <a:rPr sz="1100" b="1" i="1">
                <a:solidFill>
                  <a:srgbClr val="8B5CF6"/>
                </a:solidFill>
                <a:latin typeface="Calibri"/>
              </a:rPr>
              <a:t>Outcome: $12-25k MRR per pilot · highest-LTV stream.</a:t>
            </a:r>
          </a:p>
        </p:txBody>
      </p:sp>
      <p:sp>
        <p:nvSpPr>
          <p:cNvPr id="19" name="Rounded Rectangle 18"/>
          <p:cNvSpPr/>
          <p:nvPr/>
        </p:nvSpPr>
        <p:spPr>
          <a:xfrm>
            <a:off x="548640" y="4572000"/>
            <a:ext cx="11155680" cy="1234440"/>
          </a:xfrm>
          <a:prstGeom prst="roundRect">
            <a:avLst>
              <a:gd name="adj" fmla="val 10000"/>
            </a:avLst>
          </a:prstGeom>
          <a:solidFill>
            <a:srgbClr val="0D111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4846320"/>
            <a:ext cx="777240" cy="77724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846320"/>
            <a:ext cx="777240" cy="777240"/>
          </a:xfrm>
          <a:prstGeom prst="rect">
            <a:avLst/>
          </a:prstGeom>
          <a:noFill/>
        </p:spPr>
        <p:txBody>
          <a:bodyPr wrap="square" lIns="45720" rIns="45720" tIns="18288" bIns="18288" anchor="ctr">
            <a:spAutoFit/>
          </a:bodyPr>
          <a:lstStyle/>
          <a:p>
            <a:pPr algn="ctr">
              <a:lnSpc>
                <a:spcPct val="115000"/>
              </a:lnSpc>
            </a:pPr>
            <a:r>
              <a:rPr sz="2800" b="1" i="0">
                <a:solidFill>
                  <a:srgbClr val="07080D"/>
                </a:solidFill>
                <a:latin typeface="Consolas"/>
              </a:rPr>
              <a:t>03</a:t>
            </a:r>
          </a:p>
        </p:txBody>
      </p:sp>
      <p:sp>
        <p:nvSpPr>
          <p:cNvPr id="22" name="TextBox 21"/>
          <p:cNvSpPr txBox="1"/>
          <p:nvPr/>
        </p:nvSpPr>
        <p:spPr>
          <a:xfrm>
            <a:off x="1737360" y="4736592"/>
            <a:ext cx="5943600" cy="411480"/>
          </a:xfrm>
          <a:prstGeom prst="rect">
            <a:avLst/>
          </a:prstGeom>
          <a:noFill/>
        </p:spPr>
        <p:txBody>
          <a:bodyPr wrap="square" lIns="45720" rIns="45720" tIns="18288" bIns="18288" anchor="t">
            <a:spAutoFit/>
          </a:bodyPr>
          <a:lstStyle/>
          <a:p>
            <a:pPr algn="l">
              <a:lnSpc>
                <a:spcPct val="115000"/>
              </a:lnSpc>
            </a:pPr>
            <a:r>
              <a:rPr sz="2200" b="1" i="0">
                <a:solidFill>
                  <a:srgbClr val="FFFFFF"/>
                </a:solidFill>
                <a:latin typeface="Calibri"/>
              </a:rPr>
              <a:t>$MEEET pre-orders</a:t>
            </a:r>
          </a:p>
        </p:txBody>
      </p:sp>
      <p:sp>
        <p:nvSpPr>
          <p:cNvPr id="23" name="TextBox 22"/>
          <p:cNvSpPr txBox="1"/>
          <p:nvPr/>
        </p:nvSpPr>
        <p:spPr>
          <a:xfrm>
            <a:off x="1737360" y="5166360"/>
            <a:ext cx="5943600" cy="594360"/>
          </a:xfrm>
          <a:prstGeom prst="rect">
            <a:avLst/>
          </a:prstGeom>
          <a:noFill/>
        </p:spPr>
        <p:txBody>
          <a:bodyPr wrap="square" lIns="45720" rIns="45720" tIns="18288" bIns="18288" anchor="t">
            <a:spAutoFit/>
          </a:bodyPr>
          <a:lstStyle/>
          <a:p>
            <a:pPr algn="l">
              <a:lnSpc>
                <a:spcPct val="135000"/>
              </a:lnSpc>
            </a:pPr>
            <a:r>
              <a:rPr sz="1100" b="0" i="0">
                <a:solidFill>
                  <a:srgbClr val="CBD5E1"/>
                </a:solidFill>
                <a:latin typeface="Calibri"/>
              </a:rPr>
              <a:t>Pre-order $MEEET at the launch peg. Drives ecosystem activity and gives early users a discounted runway. Opt-in, not mandatory.</a:t>
            </a:r>
          </a:p>
        </p:txBody>
      </p:sp>
      <p:sp>
        <p:nvSpPr>
          <p:cNvPr id="24" name="TextBox 23"/>
          <p:cNvSpPr txBox="1"/>
          <p:nvPr/>
        </p:nvSpPr>
        <p:spPr>
          <a:xfrm>
            <a:off x="7863840" y="4892040"/>
            <a:ext cx="3657600" cy="594360"/>
          </a:xfrm>
          <a:prstGeom prst="rect">
            <a:avLst/>
          </a:prstGeom>
          <a:noFill/>
        </p:spPr>
        <p:txBody>
          <a:bodyPr wrap="square" lIns="45720" rIns="45720" tIns="18288" bIns="18288" anchor="ctr">
            <a:spAutoFit/>
          </a:bodyPr>
          <a:lstStyle/>
          <a:p>
            <a:pPr algn="l">
              <a:lnSpc>
                <a:spcPct val="135000"/>
              </a:lnSpc>
            </a:pPr>
            <a:r>
              <a:rPr sz="1100" b="1" i="1">
                <a:solidFill>
                  <a:srgbClr val="F59E0B"/>
                </a:solidFill>
                <a:latin typeface="Calibri"/>
              </a:rPr>
              <a:t>Outcome: ecosystem velocity · CAC reduction · brother's runway.</a:t>
            </a:r>
          </a:p>
        </p:txBody>
      </p:sp>
      <p:sp>
        <p:nvSpPr>
          <p:cNvPr id="25" name="TextBox 24"/>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6" name="TextBox 25"/>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502920"/>
            <a:ext cx="9144000" cy="292608"/>
          </a:xfrm>
          <a:prstGeom prst="rect">
            <a:avLst/>
          </a:prstGeom>
          <a:noFill/>
        </p:spPr>
        <p:txBody>
          <a:bodyPr wrap="square" lIns="45720" rIns="45720" tIns="18288" bIns="18288" anchor="t">
            <a:spAutoFit/>
          </a:bodyPr>
          <a:lstStyle/>
          <a:p>
            <a:pPr algn="l">
              <a:lnSpc>
                <a:spcPct val="115000"/>
              </a:lnSpc>
            </a:pPr>
            <a:r>
              <a:rPr sz="1100" b="1" i="0">
                <a:solidFill>
                  <a:srgbClr val="06B6D4"/>
                </a:solidFill>
                <a:latin typeface="Consolas"/>
              </a:rPr>
              <a:t>Q&amp;A PREP · PRESENTER NOTES</a:t>
            </a:r>
          </a:p>
        </p:txBody>
      </p:sp>
      <p:sp>
        <p:nvSpPr>
          <p:cNvPr id="6" name="TextBox 5"/>
          <p:cNvSpPr txBox="1"/>
          <p:nvPr/>
        </p:nvSpPr>
        <p:spPr>
          <a:xfrm>
            <a:off x="548640" y="777240"/>
            <a:ext cx="11155680" cy="822960"/>
          </a:xfrm>
          <a:prstGeom prst="rect">
            <a:avLst/>
          </a:prstGeom>
          <a:noFill/>
        </p:spPr>
        <p:txBody>
          <a:bodyPr wrap="square" lIns="45720" rIns="45720" tIns="18288" bIns="18288" anchor="t">
            <a:spAutoFit/>
          </a:bodyPr>
          <a:lstStyle/>
          <a:p>
            <a:pPr algn="l">
              <a:lnSpc>
                <a:spcPct val="115000"/>
              </a:lnSpc>
            </a:pPr>
            <a:r>
              <a:rPr sz="2800" b="1" i="0">
                <a:solidFill>
                  <a:srgbClr val="FFFFFF"/>
                </a:solidFill>
                <a:latin typeface="Calibri"/>
              </a:rPr>
              <a:t>Five anticipated.  One line each.</a:t>
            </a:r>
          </a:p>
        </p:txBody>
      </p:sp>
      <p:sp>
        <p:nvSpPr>
          <p:cNvPr id="7" name="Rounded Rectangle 6"/>
          <p:cNvSpPr/>
          <p:nvPr/>
        </p:nvSpPr>
        <p:spPr>
          <a:xfrm>
            <a:off x="548640" y="1691640"/>
            <a:ext cx="11155680" cy="86868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13232" y="1856232"/>
            <a:ext cx="109728" cy="539496"/>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783080"/>
            <a:ext cx="10424160" cy="36576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Q.  What if Cursor enters this market?</a:t>
            </a:r>
          </a:p>
        </p:txBody>
      </p:sp>
      <p:sp>
        <p:nvSpPr>
          <p:cNvPr id="10" name="TextBox 9"/>
          <p:cNvSpPr txBox="1"/>
          <p:nvPr/>
        </p:nvSpPr>
        <p:spPr>
          <a:xfrm>
            <a:off x="960120" y="2103120"/>
            <a:ext cx="10424160" cy="457200"/>
          </a:xfrm>
          <a:prstGeom prst="rect">
            <a:avLst/>
          </a:prstGeom>
          <a:noFill/>
        </p:spPr>
        <p:txBody>
          <a:bodyPr wrap="square" lIns="45720" rIns="45720" tIns="18288" bIns="18288" anchor="t">
            <a:spAutoFit/>
          </a:bodyPr>
          <a:lstStyle/>
          <a:p>
            <a:pPr algn="l">
              <a:lnSpc>
                <a:spcPct val="135000"/>
              </a:lnSpc>
            </a:pPr>
            <a:r>
              <a:rPr sz="1000" b="0" i="1">
                <a:solidFill>
                  <a:srgbClr val="CBD5E1"/>
                </a:solidFill>
                <a:latin typeface="Calibri"/>
              </a:rPr>
              <a:t>A.  Cursor is a VS Code fork. To enter, they redirect product or extend IDE to non-devs — neither is a 12-month bet.</a:t>
            </a:r>
          </a:p>
        </p:txBody>
      </p:sp>
      <p:sp>
        <p:nvSpPr>
          <p:cNvPr id="11" name="Rounded Rectangle 10"/>
          <p:cNvSpPr/>
          <p:nvPr/>
        </p:nvSpPr>
        <p:spPr>
          <a:xfrm>
            <a:off x="548640" y="2606040"/>
            <a:ext cx="11155680" cy="86868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13232" y="2770632"/>
            <a:ext cx="109728" cy="53949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697480"/>
            <a:ext cx="10424160" cy="36576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Q.  Why local-first if inference is cloud anyway?</a:t>
            </a:r>
          </a:p>
        </p:txBody>
      </p:sp>
      <p:sp>
        <p:nvSpPr>
          <p:cNvPr id="14" name="TextBox 13"/>
          <p:cNvSpPr txBox="1"/>
          <p:nvPr/>
        </p:nvSpPr>
        <p:spPr>
          <a:xfrm>
            <a:off x="960120" y="3017520"/>
            <a:ext cx="10424160" cy="457200"/>
          </a:xfrm>
          <a:prstGeom prst="rect">
            <a:avLst/>
          </a:prstGeom>
          <a:noFill/>
        </p:spPr>
        <p:txBody>
          <a:bodyPr wrap="square" lIns="45720" rIns="45720" tIns="18288" bIns="18288" anchor="t">
            <a:spAutoFit/>
          </a:bodyPr>
          <a:lstStyle/>
          <a:p>
            <a:pPr algn="l">
              <a:lnSpc>
                <a:spcPct val="135000"/>
              </a:lnSpc>
            </a:pPr>
            <a:r>
              <a:rPr sz="1000" b="0" i="1">
                <a:solidFill>
                  <a:srgbClr val="CBD5E1"/>
                </a:solidFill>
                <a:latin typeface="Calibri"/>
              </a:rPr>
              <a:t>A.  Data plane separation. Receipts, memory, index never leave the box. Inference call is the only network egress, with BYO key.</a:t>
            </a:r>
          </a:p>
        </p:txBody>
      </p:sp>
      <p:sp>
        <p:nvSpPr>
          <p:cNvPr id="15" name="Rounded Rectangle 14"/>
          <p:cNvSpPr/>
          <p:nvPr/>
        </p:nvSpPr>
        <p:spPr>
          <a:xfrm>
            <a:off x="548640" y="3520440"/>
            <a:ext cx="11155680" cy="86868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3685032"/>
            <a:ext cx="109728" cy="5394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611880"/>
            <a:ext cx="10424160" cy="36576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Q.  Is $MEEET a security?</a:t>
            </a:r>
          </a:p>
        </p:txBody>
      </p:sp>
      <p:sp>
        <p:nvSpPr>
          <p:cNvPr id="18" name="TextBox 17"/>
          <p:cNvSpPr txBox="1"/>
          <p:nvPr/>
        </p:nvSpPr>
        <p:spPr>
          <a:xfrm>
            <a:off x="960120" y="3931920"/>
            <a:ext cx="10424160" cy="457200"/>
          </a:xfrm>
          <a:prstGeom prst="rect">
            <a:avLst/>
          </a:prstGeom>
          <a:noFill/>
        </p:spPr>
        <p:txBody>
          <a:bodyPr wrap="square" lIns="45720" rIns="45720" tIns="18288" bIns="18288" anchor="t">
            <a:spAutoFit/>
          </a:bodyPr>
          <a:lstStyle/>
          <a:p>
            <a:pPr algn="l">
              <a:lnSpc>
                <a:spcPct val="135000"/>
              </a:lnSpc>
            </a:pPr>
            <a:r>
              <a:rPr sz="1000" b="0" i="1">
                <a:solidFill>
                  <a:srgbClr val="CBD5E1"/>
                </a:solidFill>
                <a:latin typeface="Calibri"/>
              </a:rPr>
              <a:t>A.  Utility token for compute on the meeet.world relayer. Day-one users can ignore the token. On-prem buyers don't touch it.</a:t>
            </a:r>
          </a:p>
        </p:txBody>
      </p:sp>
      <p:sp>
        <p:nvSpPr>
          <p:cNvPr id="19" name="Rounded Rectangle 18"/>
          <p:cNvSpPr/>
          <p:nvPr/>
        </p:nvSpPr>
        <p:spPr>
          <a:xfrm>
            <a:off x="548640" y="4434840"/>
            <a:ext cx="11155680" cy="86868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599432"/>
            <a:ext cx="109728" cy="539496"/>
          </a:xfrm>
          <a:prstGeom prst="rect">
            <a:avLst/>
          </a:prstGeom>
          <a:solidFill>
            <a:srgbClr val="84CC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526280"/>
            <a:ext cx="10424160" cy="36576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Q.  How big is the moat without inference cost advantage?</a:t>
            </a:r>
          </a:p>
        </p:txBody>
      </p:sp>
      <p:sp>
        <p:nvSpPr>
          <p:cNvPr id="22" name="TextBox 21"/>
          <p:cNvSpPr txBox="1"/>
          <p:nvPr/>
        </p:nvSpPr>
        <p:spPr>
          <a:xfrm>
            <a:off x="960120" y="4846320"/>
            <a:ext cx="10424160" cy="457200"/>
          </a:xfrm>
          <a:prstGeom prst="rect">
            <a:avLst/>
          </a:prstGeom>
          <a:noFill/>
        </p:spPr>
        <p:txBody>
          <a:bodyPr wrap="square" lIns="45720" rIns="45720" tIns="18288" bIns="18288" anchor="t">
            <a:spAutoFit/>
          </a:bodyPr>
          <a:lstStyle/>
          <a:p>
            <a:pPr algn="l">
              <a:lnSpc>
                <a:spcPct val="135000"/>
              </a:lnSpc>
            </a:pPr>
            <a:r>
              <a:rPr sz="1000" b="0" i="1">
                <a:solidFill>
                  <a:srgbClr val="CBD5E1"/>
                </a:solidFill>
                <a:latin typeface="Calibri"/>
              </a:rPr>
              <a:t>A.  Moat is the cockpit, the receipt primitive, the marketplace, the per-user style — not inference price. Cheap inference helps us asymmetrically.</a:t>
            </a:r>
          </a:p>
        </p:txBody>
      </p:sp>
      <p:sp>
        <p:nvSpPr>
          <p:cNvPr id="23" name="Rounded Rectangle 22"/>
          <p:cNvSpPr/>
          <p:nvPr/>
        </p:nvSpPr>
        <p:spPr>
          <a:xfrm>
            <a:off x="548640" y="5349240"/>
            <a:ext cx="11155680" cy="868680"/>
          </a:xfrm>
          <a:prstGeom prst="roundRect">
            <a:avLst>
              <a:gd name="adj" fmla="val 10000"/>
            </a:avLst>
          </a:prstGeom>
          <a:solidFill>
            <a:srgbClr val="0D111B"/>
          </a:solidFill>
          <a:ln w="12700">
            <a:solidFill>
              <a:srgbClr val="1F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13232" y="5513832"/>
            <a:ext cx="109728" cy="539496"/>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440680"/>
            <a:ext cx="10424160" cy="365760"/>
          </a:xfrm>
          <a:prstGeom prst="rect">
            <a:avLst/>
          </a:prstGeom>
          <a:noFill/>
        </p:spPr>
        <p:txBody>
          <a:bodyPr wrap="square" lIns="45720" rIns="45720" tIns="18288" bIns="18288" anchor="t">
            <a:spAutoFit/>
          </a:bodyPr>
          <a:lstStyle/>
          <a:p>
            <a:pPr algn="l">
              <a:lnSpc>
                <a:spcPct val="115000"/>
              </a:lnSpc>
            </a:pPr>
            <a:r>
              <a:rPr sz="1300" b="1" i="0">
                <a:solidFill>
                  <a:srgbClr val="FFFFFF"/>
                </a:solidFill>
                <a:latin typeface="Calibri"/>
              </a:rPr>
              <a:t>Q.  Why hasn't an incumbent built this?</a:t>
            </a:r>
          </a:p>
        </p:txBody>
      </p:sp>
      <p:sp>
        <p:nvSpPr>
          <p:cNvPr id="26" name="TextBox 25"/>
          <p:cNvSpPr txBox="1"/>
          <p:nvPr/>
        </p:nvSpPr>
        <p:spPr>
          <a:xfrm>
            <a:off x="960120" y="5760720"/>
            <a:ext cx="10424160" cy="457200"/>
          </a:xfrm>
          <a:prstGeom prst="rect">
            <a:avLst/>
          </a:prstGeom>
          <a:noFill/>
        </p:spPr>
        <p:txBody>
          <a:bodyPr wrap="square" lIns="45720" rIns="45720" tIns="18288" bIns="18288" anchor="t">
            <a:spAutoFit/>
          </a:bodyPr>
          <a:lstStyle/>
          <a:p>
            <a:pPr algn="l">
              <a:lnSpc>
                <a:spcPct val="135000"/>
              </a:lnSpc>
            </a:pPr>
            <a:r>
              <a:rPr sz="1000" b="0" i="1">
                <a:solidFill>
                  <a:srgbClr val="CBD5E1"/>
                </a:solidFill>
                <a:latin typeface="Calibri"/>
              </a:rPr>
              <a:t>A.  Anthropic/OpenAI ship chat surfaces. Microsoft Copilot is wired into Office. None ship voice-first + local + receipts + 7 packs together.</a:t>
            </a:r>
          </a:p>
        </p:txBody>
      </p:sp>
      <p:sp>
        <p:nvSpPr>
          <p:cNvPr id="27" name="TextBox 26"/>
          <p:cNvSpPr txBox="1"/>
          <p:nvPr/>
        </p:nvSpPr>
        <p:spPr>
          <a:xfrm>
            <a:off x="548640" y="6080760"/>
            <a:ext cx="11155680" cy="320040"/>
          </a:xfrm>
          <a:prstGeom prst="rect">
            <a:avLst/>
          </a:prstGeom>
          <a:noFill/>
        </p:spPr>
        <p:txBody>
          <a:bodyPr wrap="square" lIns="45720" rIns="45720" tIns="18288" bIns="18288" anchor="t">
            <a:spAutoFit/>
          </a:bodyPr>
          <a:lstStyle/>
          <a:p>
            <a:pPr algn="ctr">
              <a:lnSpc>
                <a:spcPct val="115000"/>
              </a:lnSpc>
            </a:pPr>
            <a:r>
              <a:rPr sz="1000" b="1" i="1">
                <a:solidFill>
                  <a:srgbClr val="F59E0B"/>
                </a:solidFill>
                <a:latin typeface="Consolas"/>
              </a:rPr>
              <a:t>Hide this slide before live delivery — presenter notes only.</a:t>
            </a:r>
          </a:p>
        </p:txBody>
      </p:sp>
      <p:sp>
        <p:nvSpPr>
          <p:cNvPr id="28" name="TextBox 27"/>
          <p:cNvSpPr txBox="1"/>
          <p:nvPr/>
        </p:nvSpPr>
        <p:spPr>
          <a:xfrm>
            <a:off x="548640" y="6446520"/>
            <a:ext cx="5486400" cy="274320"/>
          </a:xfrm>
          <a:prstGeom prst="rect">
            <a:avLst/>
          </a:prstGeom>
          <a:noFill/>
        </p:spPr>
        <p:txBody>
          <a:bodyPr wrap="square" lIns="45720" rIns="45720" tIns="18288" bIns="18288" anchor="t">
            <a:spAutoFit/>
          </a:bodyPr>
          <a:lstStyle/>
          <a:p>
            <a:pPr algn="l">
              <a:lnSpc>
                <a:spcPct val="115000"/>
              </a:lnSpc>
            </a:pPr>
            <a:r>
              <a:rPr sz="900" b="0" i="0">
                <a:solidFill>
                  <a:srgbClr val="64748B"/>
                </a:solidFill>
                <a:latin typeface="Consolas"/>
              </a:rPr>
              <a:t>TARS  ·  v10.0.0-rc.1  ·  meeet.world</a:t>
            </a:r>
          </a:p>
        </p:txBody>
      </p:sp>
      <p:sp>
        <p:nvSpPr>
          <p:cNvPr id="29" name="TextBox 28"/>
          <p:cNvSpPr txBox="1"/>
          <p:nvPr/>
        </p:nvSpPr>
        <p:spPr>
          <a:xfrm>
            <a:off x="10362895" y="6446520"/>
            <a:ext cx="1280160" cy="274320"/>
          </a:xfrm>
          <a:prstGeom prst="rect">
            <a:avLst/>
          </a:prstGeom>
          <a:noFill/>
        </p:spPr>
        <p:txBody>
          <a:bodyPr wrap="square" lIns="45720" rIns="45720" tIns="18288" bIns="18288" anchor="t">
            <a:spAutoFit/>
          </a:bodyPr>
          <a:lstStyle/>
          <a:p>
            <a:pPr algn="r">
              <a:lnSpc>
                <a:spcPct val="115000"/>
              </a:lnSpc>
            </a:pPr>
            <a:r>
              <a:rPr sz="900" b="0" i="0">
                <a:solidFill>
                  <a:srgbClr val="64748B"/>
                </a:solidFill>
                <a:latin typeface="Consolas"/>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8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11480" y="411480"/>
            <a:ext cx="54864" cy="5486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1725351" y="411480"/>
            <a:ext cx="54864" cy="54864"/>
          </a:xfrm>
          <a:prstGeom prst="roundRect">
            <a:avLst>
              <a:gd name="adj" fmla="val 10000"/>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15787" y="1143000"/>
            <a:ext cx="960120" cy="3200400"/>
          </a:xfrm>
          <a:prstGeom prst="rect">
            <a:avLst/>
          </a:prstGeom>
          <a:solidFill>
            <a:srgbClr val="050509"/>
          </a:solidFill>
          <a:ln w="12700">
            <a:solidFill>
              <a:srgbClr val="1A1F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8239" y="1399032"/>
            <a:ext cx="115214" cy="13441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38239" y="2807208"/>
            <a:ext cx="115214" cy="128016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0067" y="2706624"/>
            <a:ext cx="1051560" cy="73152"/>
          </a:xfrm>
          <a:prstGeom prst="rect">
            <a:avLst/>
          </a:prstGeom>
          <a:solidFill>
            <a:srgbClr val="636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449927" y="1097280"/>
            <a:ext cx="3291840" cy="3291840"/>
          </a:xfrm>
          <a:prstGeom prst="ellipse">
            <a:avLst/>
          </a:prstGeom>
          <a:noFill/>
          <a:ln w="6350">
            <a:solidFill>
              <a:srgbClr val="2224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901287" y="548640"/>
            <a:ext cx="4389120" cy="4389120"/>
          </a:xfrm>
          <a:prstGeom prst="ellipse">
            <a:avLst/>
          </a:prstGeom>
          <a:noFill/>
          <a:ln w="6350">
            <a:solidFill>
              <a:srgbClr val="161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434840"/>
            <a:ext cx="11155680" cy="731520"/>
          </a:xfrm>
          <a:prstGeom prst="rect">
            <a:avLst/>
          </a:prstGeom>
          <a:noFill/>
        </p:spPr>
        <p:txBody>
          <a:bodyPr wrap="square" lIns="45720" rIns="45720" tIns="18288" bIns="18288" anchor="t">
            <a:spAutoFit/>
          </a:bodyPr>
          <a:lstStyle/>
          <a:p>
            <a:pPr algn="ctr">
              <a:lnSpc>
                <a:spcPct val="115000"/>
              </a:lnSpc>
            </a:pPr>
            <a:r>
              <a:rPr sz="5400" b="1" i="1">
                <a:solidFill>
                  <a:srgbClr val="FFFFFF"/>
                </a:solidFill>
                <a:latin typeface="Calibri"/>
              </a:rPr>
              <a:t>Thank you.</a:t>
            </a:r>
          </a:p>
        </p:txBody>
      </p:sp>
      <p:sp>
        <p:nvSpPr>
          <p:cNvPr id="12" name="TextBox 11"/>
          <p:cNvSpPr txBox="1"/>
          <p:nvPr/>
        </p:nvSpPr>
        <p:spPr>
          <a:xfrm>
            <a:off x="548640" y="5166360"/>
            <a:ext cx="11155680" cy="457200"/>
          </a:xfrm>
          <a:prstGeom prst="rect">
            <a:avLst/>
          </a:prstGeom>
          <a:noFill/>
        </p:spPr>
        <p:txBody>
          <a:bodyPr wrap="square" lIns="45720" rIns="45720" tIns="18288" bIns="18288" anchor="t">
            <a:spAutoFit/>
          </a:bodyPr>
          <a:lstStyle/>
          <a:p>
            <a:pPr algn="ctr">
              <a:lnSpc>
                <a:spcPct val="120000"/>
              </a:lnSpc>
            </a:pPr>
            <a:r>
              <a:rPr sz="1600" b="0" i="0">
                <a:solidFill>
                  <a:srgbClr val="CBD5E1"/>
                </a:solidFill>
                <a:latin typeface="Calibri"/>
              </a:rPr>
              <a:t>Build the cockpit </a:t>
            </a:r>
            <a:r>
              <a:rPr sz="1600" b="1" i="1">
                <a:solidFill>
                  <a:srgbClr val="8B5CF6"/>
                </a:solidFill>
                <a:latin typeface="Calibri"/>
              </a:rPr>
              <a:t>for everything not code.</a:t>
            </a:r>
          </a:p>
        </p:txBody>
      </p:sp>
      <p:sp>
        <p:nvSpPr>
          <p:cNvPr id="13" name="TextBox 12"/>
          <p:cNvSpPr txBox="1"/>
          <p:nvPr/>
        </p:nvSpPr>
        <p:spPr>
          <a:xfrm>
            <a:off x="548640" y="5852160"/>
            <a:ext cx="11155680" cy="365760"/>
          </a:xfrm>
          <a:prstGeom prst="rect">
            <a:avLst/>
          </a:prstGeom>
          <a:noFill/>
        </p:spPr>
        <p:txBody>
          <a:bodyPr wrap="square" lIns="45720" rIns="45720" tIns="18288" bIns="18288" anchor="t">
            <a:spAutoFit/>
          </a:bodyPr>
          <a:lstStyle/>
          <a:p>
            <a:pPr algn="ctr">
              <a:lnSpc>
                <a:spcPct val="115000"/>
              </a:lnSpc>
            </a:pPr>
            <a:r>
              <a:rPr sz="1300" b="1" i="0">
                <a:solidFill>
                  <a:srgbClr val="06B6D4"/>
                </a:solidFill>
                <a:latin typeface="Consolas"/>
              </a:rPr>
              <a:t>alienram@icloud.com   ·   meeet.world   ·   github.com/alienram/jarvis</a:t>
            </a:r>
          </a:p>
        </p:txBody>
      </p:sp>
      <p:sp>
        <p:nvSpPr>
          <p:cNvPr id="14" name="TextBox 13"/>
          <p:cNvSpPr txBox="1"/>
          <p:nvPr/>
        </p:nvSpPr>
        <p:spPr>
          <a:xfrm>
            <a:off x="548640" y="6172200"/>
            <a:ext cx="11155680" cy="274320"/>
          </a:xfrm>
          <a:prstGeom prst="rect">
            <a:avLst/>
          </a:prstGeom>
          <a:noFill/>
        </p:spPr>
        <p:txBody>
          <a:bodyPr wrap="square" lIns="45720" rIns="45720" tIns="18288" bIns="18288" anchor="t">
            <a:spAutoFit/>
          </a:bodyPr>
          <a:lstStyle/>
          <a:p>
            <a:pPr algn="ctr">
              <a:lnSpc>
                <a:spcPct val="115000"/>
              </a:lnSpc>
            </a:pPr>
            <a:r>
              <a:rPr sz="1000" b="0" i="0">
                <a:solidFill>
                  <a:srgbClr val="64748B"/>
                </a:solidFill>
                <a:latin typeface="Consolas"/>
              </a:rPr>
              <a:t>TARS  ·  v10.0.0-rc.1  ·  ships tomorrow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